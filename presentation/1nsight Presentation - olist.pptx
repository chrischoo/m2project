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32"/>
  </p:notesMasterIdLst>
  <p:handoutMasterIdLst>
    <p:handoutMasterId r:id="rId33"/>
  </p:handoutMasterIdLst>
  <p:sldIdLst>
    <p:sldId id="256" r:id="rId5"/>
    <p:sldId id="297" r:id="rId6"/>
    <p:sldId id="261" r:id="rId7"/>
    <p:sldId id="298" r:id="rId8"/>
    <p:sldId id="295" r:id="rId9"/>
    <p:sldId id="289" r:id="rId10"/>
    <p:sldId id="296" r:id="rId11"/>
    <p:sldId id="299" r:id="rId12"/>
    <p:sldId id="300" r:id="rId13"/>
    <p:sldId id="275" r:id="rId14"/>
    <p:sldId id="302" r:id="rId15"/>
    <p:sldId id="277" r:id="rId16"/>
    <p:sldId id="262" r:id="rId17"/>
    <p:sldId id="264" r:id="rId18"/>
    <p:sldId id="258" r:id="rId19"/>
    <p:sldId id="278" r:id="rId20"/>
    <p:sldId id="266" r:id="rId21"/>
    <p:sldId id="292" r:id="rId22"/>
    <p:sldId id="268" r:id="rId23"/>
    <p:sldId id="280" r:id="rId24"/>
    <p:sldId id="270" r:id="rId25"/>
    <p:sldId id="293" r:id="rId26"/>
    <p:sldId id="294" r:id="rId27"/>
    <p:sldId id="260" r:id="rId28"/>
    <p:sldId id="282" r:id="rId29"/>
    <p:sldId id="283" r:id="rId30"/>
    <p:sldId id="29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87015" autoAdjust="0"/>
  </p:normalViewPr>
  <p:slideViewPr>
    <p:cSldViewPr snapToGrid="0">
      <p:cViewPr varScale="1">
        <p:scale>
          <a:sx n="138" d="100"/>
          <a:sy n="138" d="100"/>
        </p:scale>
        <p:origin x="1104" y="126"/>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lumMod val="75000"/>
              </a:schemeClr>
            </a:solidFill>
            <a:ln>
              <a:noFill/>
            </a:ln>
            <a:effectLst/>
          </c:spPr>
          <c:invertIfNegative val="0"/>
          <c:cat>
            <c:strRef>
              <c:f>Sheet1!$A$2:$A$5</c:f>
              <c:strCache>
                <c:ptCount val="4"/>
                <c:pt idx="0">
                  <c:v>20XX</c:v>
                </c:pt>
                <c:pt idx="1">
                  <c:v>20XX</c:v>
                </c:pt>
                <c:pt idx="2">
                  <c:v>20XX</c:v>
                </c:pt>
                <c:pt idx="3">
                  <c:v>20XX</c:v>
                </c:pt>
              </c:strCache>
            </c:strRef>
          </c:cat>
          <c:val>
            <c:numRef>
              <c:f>Sheet1!$B$2:$B$5</c:f>
              <c:numCache>
                <c:formatCode>[$$-409]#,##0</c:formatCode>
                <c:ptCount val="4"/>
                <c:pt idx="0">
                  <c:v>10000</c:v>
                </c:pt>
                <c:pt idx="1">
                  <c:v>20000</c:v>
                </c:pt>
                <c:pt idx="2">
                  <c:v>30000</c:v>
                </c:pt>
                <c:pt idx="3">
                  <c:v>40000</c:v>
                </c:pt>
              </c:numCache>
            </c:numRef>
          </c:val>
          <c:extLst>
            <c:ext xmlns:c16="http://schemas.microsoft.com/office/drawing/2014/chart" uri="{C3380CC4-5D6E-409C-BE32-E72D297353CC}">
              <c16:uniqueId val="{00000000-0B80-4025-ABCB-85931C353E85}"/>
            </c:ext>
          </c:extLst>
        </c:ser>
        <c:dLbls>
          <c:showLegendKey val="0"/>
          <c:showVal val="0"/>
          <c:showCatName val="0"/>
          <c:showSerName val="0"/>
          <c:showPercent val="0"/>
          <c:showBubbleSize val="0"/>
        </c:dLbls>
        <c:gapWidth val="118"/>
        <c:overlap val="-3"/>
        <c:axId val="694597680"/>
        <c:axId val="694598992"/>
      </c:barChart>
      <c:catAx>
        <c:axId val="694597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4598992"/>
        <c:crosses val="autoZero"/>
        <c:auto val="1"/>
        <c:lblAlgn val="ctr"/>
        <c:lblOffset val="100"/>
        <c:noMultiLvlLbl val="0"/>
      </c:catAx>
      <c:valAx>
        <c:axId val="694598992"/>
        <c:scaling>
          <c:orientation val="minMax"/>
          <c:max val="40000"/>
        </c:scaling>
        <c:delete val="0"/>
        <c:axPos val="l"/>
        <c:majorGridlines>
          <c:spPr>
            <a:ln w="9525" cap="flat" cmpd="sng" algn="ctr">
              <a:solidFill>
                <a:schemeClr val="accent1">
                  <a:lumMod val="75000"/>
                </a:schemeClr>
              </a:solidFill>
              <a:round/>
            </a:ln>
            <a:effectLst/>
          </c:spPr>
        </c:majorGridlines>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4597680"/>
        <c:crosses val="autoZero"/>
        <c:crossBetween val="between"/>
        <c:majorUnit val="100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D053-449F-8EEE-DAFE02C9D55A}"/>
              </c:ext>
            </c:extLst>
          </c:dPt>
          <c:dPt>
            <c:idx val="1"/>
            <c:bubble3D val="0"/>
            <c:spPr>
              <a:solidFill>
                <a:schemeClr val="accent1"/>
              </a:solidFill>
              <a:ln w="19050">
                <a:noFill/>
              </a:ln>
              <a:effectLst/>
            </c:spPr>
            <c:extLst>
              <c:ext xmlns:c16="http://schemas.microsoft.com/office/drawing/2014/chart" uri="{C3380CC4-5D6E-409C-BE32-E72D297353CC}">
                <c16:uniqueId val="{00000003-D053-449F-8EEE-DAFE02C9D55A}"/>
              </c:ext>
            </c:extLst>
          </c:dPt>
          <c:dPt>
            <c:idx val="2"/>
            <c:bubble3D val="0"/>
            <c:spPr>
              <a:solidFill>
                <a:schemeClr val="accent1">
                  <a:lumMod val="75000"/>
                </a:schemeClr>
              </a:solidFill>
              <a:ln w="19050">
                <a:noFill/>
              </a:ln>
              <a:effectLst/>
            </c:spPr>
            <c:extLst>
              <c:ext xmlns:c16="http://schemas.microsoft.com/office/drawing/2014/chart" uri="{C3380CC4-5D6E-409C-BE32-E72D297353CC}">
                <c16:uniqueId val="{00000005-D053-449F-8EEE-DAFE02C9D55A}"/>
              </c:ext>
            </c:extLst>
          </c:dPt>
          <c:dPt>
            <c:idx val="3"/>
            <c:bubble3D val="0"/>
            <c:spPr>
              <a:solidFill>
                <a:schemeClr val="accent1"/>
              </a:solidFill>
              <a:ln w="19050">
                <a:noFill/>
              </a:ln>
              <a:effectLst/>
            </c:spPr>
            <c:extLst>
              <c:ext xmlns:c16="http://schemas.microsoft.com/office/drawing/2014/chart" uri="{C3380CC4-5D6E-409C-BE32-E72D297353CC}">
                <c16:uniqueId val="{00000007-D053-449F-8EEE-DAFE02C9D55A}"/>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D053-449F-8EEE-DAFE02C9D55A}"/>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solidFill>
              <a:schemeClr val="bg1">
                <a:lumMod val="75000"/>
              </a:schemeClr>
            </a:solidFill>
            <a:ln>
              <a:noFill/>
            </a:ln>
          </c:spPr>
          <c:dPt>
            <c:idx val="0"/>
            <c:bubble3D val="0"/>
            <c:spPr>
              <a:solidFill>
                <a:schemeClr val="accent1"/>
              </a:solidFill>
              <a:ln w="19050">
                <a:noFill/>
              </a:ln>
              <a:effectLst/>
            </c:spPr>
            <c:extLst>
              <c:ext xmlns:c16="http://schemas.microsoft.com/office/drawing/2014/chart" uri="{C3380CC4-5D6E-409C-BE32-E72D297353CC}">
                <c16:uniqueId val="{00000001-68FD-4EB0-96B7-77E7434B1C75}"/>
              </c:ext>
            </c:extLst>
          </c:dPt>
          <c:dPt>
            <c:idx val="1"/>
            <c:bubble3D val="0"/>
            <c:spPr>
              <a:solidFill>
                <a:schemeClr val="accent1"/>
              </a:solidFill>
              <a:ln w="19050">
                <a:noFill/>
              </a:ln>
              <a:effectLst/>
            </c:spPr>
            <c:extLst>
              <c:ext xmlns:c16="http://schemas.microsoft.com/office/drawing/2014/chart" uri="{C3380CC4-5D6E-409C-BE32-E72D297353CC}">
                <c16:uniqueId val="{00000003-68FD-4EB0-96B7-77E7434B1C75}"/>
              </c:ext>
            </c:extLst>
          </c:dPt>
          <c:dPt>
            <c:idx val="2"/>
            <c:bubble3D val="0"/>
            <c:spPr>
              <a:solidFill>
                <a:schemeClr val="accent1"/>
              </a:solidFill>
              <a:ln w="19050">
                <a:noFill/>
              </a:ln>
              <a:effectLst/>
            </c:spPr>
            <c:extLst>
              <c:ext xmlns:c16="http://schemas.microsoft.com/office/drawing/2014/chart" uri="{C3380CC4-5D6E-409C-BE32-E72D297353CC}">
                <c16:uniqueId val="{00000005-68FD-4EB0-96B7-77E7434B1C75}"/>
              </c:ext>
            </c:extLst>
          </c:dPt>
          <c:dPt>
            <c:idx val="3"/>
            <c:bubble3D val="0"/>
            <c:spPr>
              <a:solidFill>
                <a:schemeClr val="accent1">
                  <a:lumMod val="75000"/>
                </a:schemeClr>
              </a:solidFill>
              <a:ln w="19050">
                <a:noFill/>
              </a:ln>
              <a:effectLst/>
            </c:spPr>
            <c:extLst>
              <c:ext xmlns:c16="http://schemas.microsoft.com/office/drawing/2014/chart" uri="{C3380CC4-5D6E-409C-BE32-E72D297353CC}">
                <c16:uniqueId val="{00000007-68FD-4EB0-96B7-77E7434B1C75}"/>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68FD-4EB0-96B7-77E7434B1C75}"/>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lumMod val="75000"/>
                </a:schemeClr>
              </a:solidFill>
              <a:ln w="19050">
                <a:noFill/>
              </a:ln>
              <a:effectLst/>
            </c:spPr>
            <c:extLst>
              <c:ext xmlns:c16="http://schemas.microsoft.com/office/drawing/2014/chart" uri="{C3380CC4-5D6E-409C-BE32-E72D297353CC}">
                <c16:uniqueId val="{00000001-F8DE-4407-9084-86239413ECEC}"/>
              </c:ext>
            </c:extLst>
          </c:dPt>
          <c:dPt>
            <c:idx val="1"/>
            <c:bubble3D val="0"/>
            <c:spPr>
              <a:solidFill>
                <a:schemeClr val="accent1"/>
              </a:solidFill>
              <a:ln w="19050">
                <a:noFill/>
              </a:ln>
              <a:effectLst/>
            </c:spPr>
            <c:extLst>
              <c:ext xmlns:c16="http://schemas.microsoft.com/office/drawing/2014/chart" uri="{C3380CC4-5D6E-409C-BE32-E72D297353CC}">
                <c16:uniqueId val="{00000003-F8DE-4407-9084-86239413ECEC}"/>
              </c:ext>
            </c:extLst>
          </c:dPt>
          <c:dPt>
            <c:idx val="2"/>
            <c:bubble3D val="0"/>
            <c:spPr>
              <a:solidFill>
                <a:schemeClr val="accent1"/>
              </a:solidFill>
              <a:ln w="19050">
                <a:noFill/>
              </a:ln>
              <a:effectLst/>
            </c:spPr>
            <c:extLst>
              <c:ext xmlns:c16="http://schemas.microsoft.com/office/drawing/2014/chart" uri="{C3380CC4-5D6E-409C-BE32-E72D297353CC}">
                <c16:uniqueId val="{00000005-F8DE-4407-9084-86239413ECEC}"/>
              </c:ext>
            </c:extLst>
          </c:dPt>
          <c:dPt>
            <c:idx val="3"/>
            <c:bubble3D val="0"/>
            <c:spPr>
              <a:solidFill>
                <a:schemeClr val="accent1"/>
              </a:solidFill>
              <a:ln w="19050">
                <a:noFill/>
              </a:ln>
              <a:effectLst/>
            </c:spPr>
            <c:extLst>
              <c:ext xmlns:c16="http://schemas.microsoft.com/office/drawing/2014/chart" uri="{C3380CC4-5D6E-409C-BE32-E72D297353CC}">
                <c16:uniqueId val="{00000007-F8DE-4407-9084-86239413ECEC}"/>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F8DE-4407-9084-86239413ECEC}"/>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D2F-44F6-B0B4-AE7D2AD35A4D}"/>
              </c:ext>
            </c:extLst>
          </c:dPt>
          <c:dPt>
            <c:idx val="1"/>
            <c:bubble3D val="0"/>
            <c:spPr>
              <a:solidFill>
                <a:schemeClr val="accent1">
                  <a:lumMod val="75000"/>
                </a:schemeClr>
              </a:solidFill>
              <a:ln w="19050">
                <a:noFill/>
              </a:ln>
              <a:effectLst/>
            </c:spPr>
            <c:extLst>
              <c:ext xmlns:c16="http://schemas.microsoft.com/office/drawing/2014/chart" uri="{C3380CC4-5D6E-409C-BE32-E72D297353CC}">
                <c16:uniqueId val="{00000003-7D2F-44F6-B0B4-AE7D2AD35A4D}"/>
              </c:ext>
            </c:extLst>
          </c:dPt>
          <c:dPt>
            <c:idx val="2"/>
            <c:bubble3D val="0"/>
            <c:spPr>
              <a:solidFill>
                <a:schemeClr val="accent1"/>
              </a:solidFill>
              <a:ln w="19050">
                <a:noFill/>
              </a:ln>
              <a:effectLst/>
            </c:spPr>
            <c:extLst>
              <c:ext xmlns:c16="http://schemas.microsoft.com/office/drawing/2014/chart" uri="{C3380CC4-5D6E-409C-BE32-E72D297353CC}">
                <c16:uniqueId val="{00000005-7D2F-44F6-B0B4-AE7D2AD35A4D}"/>
              </c:ext>
            </c:extLst>
          </c:dPt>
          <c:dPt>
            <c:idx val="3"/>
            <c:bubble3D val="0"/>
            <c:spPr>
              <a:solidFill>
                <a:schemeClr val="accent1"/>
              </a:solidFill>
              <a:ln w="19050">
                <a:noFill/>
              </a:ln>
              <a:effectLst/>
            </c:spPr>
            <c:extLst>
              <c:ext xmlns:c16="http://schemas.microsoft.com/office/drawing/2014/chart" uri="{C3380CC4-5D6E-409C-BE32-E72D297353CC}">
                <c16:uniqueId val="{00000007-7D2F-44F6-B0B4-AE7D2AD35A4D}"/>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7D2F-44F6-B0B4-AE7D2AD35A4D}"/>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6/10/2026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6/10/2026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We are tackling the problem (whatever it is) from 3 angles. The first is the actual performance of the platform, which we distil into Delivery Performance. And we need to improve the quality of the participants in this dual-sided platform, which comprises Customers and Sellers. Hence on the Customer side, we want to perform Customer Segmentation, and on the Seller Side, we want to develop a score card that allows us to prioritise them by Total Order Value and Average Review Scores.</a:t>
            </a:r>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467892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D4B9A9E5-4F7F-4A7D-9DE1-899232329269}" type="slidenum">
              <a:rPr lang="en-US" smtClean="0"/>
              <a:t>7</a:t>
            </a:fld>
            <a:endParaRPr lang="en-US" dirty="0"/>
          </a:p>
        </p:txBody>
      </p:sp>
    </p:spTree>
    <p:extLst>
      <p:ext uri="{BB962C8B-B14F-4D97-AF65-F5344CB8AC3E}">
        <p14:creationId xmlns:p14="http://schemas.microsoft.com/office/powerpoint/2010/main" val="2425984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4D5DF-D879-C205-C531-C740C20205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02ECBF-4C16-3C4C-3AA9-EF5F1C0F22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057DFB-B9D9-F013-3186-BF9CCA1B8810}"/>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52C8C85E-70CD-5E1C-6464-72B63F807750}"/>
              </a:ext>
            </a:extLst>
          </p:cNvPr>
          <p:cNvSpPr>
            <a:spLocks noGrp="1"/>
          </p:cNvSpPr>
          <p:nvPr>
            <p:ph type="sldNum" sz="quarter" idx="5"/>
          </p:nvPr>
        </p:nvSpPr>
        <p:spPr/>
        <p:txBody>
          <a:bodyPr/>
          <a:lstStyle/>
          <a:p>
            <a:fld id="{D4B9A9E5-4F7F-4A7D-9DE1-899232329269}" type="slidenum">
              <a:rPr lang="en-US" smtClean="0"/>
              <a:t>8</a:t>
            </a:fld>
            <a:endParaRPr lang="en-US" dirty="0"/>
          </a:p>
        </p:txBody>
      </p:sp>
    </p:spTree>
    <p:extLst>
      <p:ext uri="{BB962C8B-B14F-4D97-AF65-F5344CB8AC3E}">
        <p14:creationId xmlns:p14="http://schemas.microsoft.com/office/powerpoint/2010/main" val="959750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F30C1-5AB0-C740-4C1B-030BEB5C89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CCA9A8-C6A5-3185-DD38-1865C8100C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CB919E-8A7D-B121-841A-8B31D23C7394}"/>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485ABDF5-848F-6308-68F5-75359593BFF2}"/>
              </a:ext>
            </a:extLst>
          </p:cNvPr>
          <p:cNvSpPr>
            <a:spLocks noGrp="1"/>
          </p:cNvSpPr>
          <p:nvPr>
            <p:ph type="sldNum" sz="quarter" idx="5"/>
          </p:nvPr>
        </p:nvSpPr>
        <p:spPr/>
        <p:txBody>
          <a:bodyPr/>
          <a:lstStyle/>
          <a:p>
            <a:fld id="{D4B9A9E5-4F7F-4A7D-9DE1-899232329269}" type="slidenum">
              <a:rPr lang="en-US" smtClean="0"/>
              <a:t>9</a:t>
            </a:fld>
            <a:endParaRPr lang="en-US" dirty="0"/>
          </a:p>
        </p:txBody>
      </p:sp>
    </p:spTree>
    <p:extLst>
      <p:ext uri="{BB962C8B-B14F-4D97-AF65-F5344CB8AC3E}">
        <p14:creationId xmlns:p14="http://schemas.microsoft.com/office/powerpoint/2010/main" val="19081632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1B93454-475B-C7EB-02C2-732E3AC6073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302111" y="5206069"/>
            <a:ext cx="11055700" cy="1122202"/>
          </a:xfrm>
        </p:spPr>
        <p:txBody>
          <a:bodyPr anchor="b">
            <a:noAutofit/>
          </a:bodyPr>
          <a:lstStyle>
            <a:lvl1pPr algn="l">
              <a:defRPr sz="3600" cap="all" spc="150" baseline="0">
                <a:solidFill>
                  <a:schemeClr val="tx1">
                    <a:lumMod val="75000"/>
                    <a:lumOff val="25000"/>
                  </a:schemeClr>
                </a:solidFill>
              </a:defRPr>
            </a:lvl1pPr>
          </a:lstStyle>
          <a:p>
            <a:r>
              <a:rPr lang="en-US" dirty="0"/>
              <a:t>xx</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302111" y="6327972"/>
            <a:ext cx="1105570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adran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B495A4C6-232E-4A1A-B575-7EF7F414FDF6}"/>
              </a:ext>
            </a:extLst>
          </p:cNvPr>
          <p:cNvSpPr>
            <a:spLocks noGrp="1"/>
          </p:cNvSpPr>
          <p:nvPr>
            <p:ph type="title" hasCustomPrompt="1"/>
          </p:nvPr>
        </p:nvSpPr>
        <p:spPr>
          <a:xfrm>
            <a:off x="838200" y="365125"/>
            <a:ext cx="10515600" cy="1325563"/>
          </a:xfrm>
        </p:spPr>
        <p:txBody>
          <a:bodyPr>
            <a:normAutofit/>
          </a:bodyPr>
          <a:lstStyle>
            <a:lvl1pPr algn="l">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2B4C6F7E-40F0-42B1-AFE0-D3C95660E0DC}"/>
              </a:ext>
            </a:extLst>
          </p:cNvPr>
          <p:cNvSpPr>
            <a:spLocks noGrp="1"/>
          </p:cNvSpPr>
          <p:nvPr>
            <p:ph type="body" sz="quarter" idx="15" hasCustomPrompt="1"/>
          </p:nvPr>
        </p:nvSpPr>
        <p:spPr>
          <a:xfrm>
            <a:off x="5242517" y="1599947"/>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18" name="Text Placeholder 14">
            <a:extLst>
              <a:ext uri="{FF2B5EF4-FFF2-40B4-BE49-F238E27FC236}">
                <a16:creationId xmlns:a16="http://schemas.microsoft.com/office/drawing/2014/main" id="{42EE46E3-709F-4AE9-AECE-FD647B6DCFDE}"/>
              </a:ext>
            </a:extLst>
          </p:cNvPr>
          <p:cNvSpPr>
            <a:spLocks noGrp="1"/>
          </p:cNvSpPr>
          <p:nvPr>
            <p:ph type="body" sz="quarter" idx="20" hasCustomPrompt="1"/>
          </p:nvPr>
        </p:nvSpPr>
        <p:spPr>
          <a:xfrm>
            <a:off x="3738732" y="2378452"/>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sp>
        <p:nvSpPr>
          <p:cNvPr id="26" name="Text Placeholder 14">
            <a:extLst>
              <a:ext uri="{FF2B5EF4-FFF2-40B4-BE49-F238E27FC236}">
                <a16:creationId xmlns:a16="http://schemas.microsoft.com/office/drawing/2014/main" id="{3194FB4F-01AC-4A0E-BBE2-CF2B69F6FAC0}"/>
              </a:ext>
            </a:extLst>
          </p:cNvPr>
          <p:cNvSpPr>
            <a:spLocks noGrp="1"/>
          </p:cNvSpPr>
          <p:nvPr>
            <p:ph type="body" sz="quarter" idx="26" hasCustomPrompt="1"/>
          </p:nvPr>
        </p:nvSpPr>
        <p:spPr>
          <a:xfrm>
            <a:off x="7522269" y="2169263"/>
            <a:ext cx="1706965" cy="1048575"/>
          </a:xfrm>
          <a:prstGeom prst="rect">
            <a:avLst/>
          </a:prstGeom>
        </p:spPr>
        <p:txBody>
          <a:bodyPr anchor="ctr">
            <a:noAutofit/>
          </a:bodyPr>
          <a:lstStyle>
            <a:lvl1pPr marL="0" indent="0" algn="ctr">
              <a:lnSpc>
                <a:spcPct val="100000"/>
              </a:lnSpc>
              <a:buNone/>
              <a:defRPr sz="1400" b="1" cap="all" spc="0" baseline="0">
                <a:solidFill>
                  <a:schemeClr val="tx1">
                    <a:lumMod val="75000"/>
                    <a:lumOff val="25000"/>
                  </a:schemeClr>
                </a:solidFill>
                <a:latin typeface="+mn-lt"/>
              </a:defRPr>
            </a:lvl1pPr>
          </a:lstStyle>
          <a:p>
            <a:pPr lvl="0"/>
            <a:r>
              <a:rPr lang="en-US"/>
              <a:t>Click to add name</a:t>
            </a:r>
          </a:p>
        </p:txBody>
      </p:sp>
      <p:sp>
        <p:nvSpPr>
          <p:cNvPr id="23" name="Text Placeholder 14">
            <a:extLst>
              <a:ext uri="{FF2B5EF4-FFF2-40B4-BE49-F238E27FC236}">
                <a16:creationId xmlns:a16="http://schemas.microsoft.com/office/drawing/2014/main" id="{8E76F955-6B23-4972-8E86-603F19ECF6C5}"/>
              </a:ext>
            </a:extLst>
          </p:cNvPr>
          <p:cNvSpPr>
            <a:spLocks noGrp="1"/>
          </p:cNvSpPr>
          <p:nvPr>
            <p:ph type="body" sz="quarter" idx="25" hasCustomPrompt="1"/>
          </p:nvPr>
        </p:nvSpPr>
        <p:spPr>
          <a:xfrm>
            <a:off x="921894" y="3528829"/>
            <a:ext cx="1393863"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dirty="0"/>
              <a:t>Click to add name</a:t>
            </a:r>
          </a:p>
        </p:txBody>
      </p:sp>
      <p:sp>
        <p:nvSpPr>
          <p:cNvPr id="17" name="Text Placeholder 14">
            <a:extLst>
              <a:ext uri="{FF2B5EF4-FFF2-40B4-BE49-F238E27FC236}">
                <a16:creationId xmlns:a16="http://schemas.microsoft.com/office/drawing/2014/main" id="{DDA77547-4FF4-4B15-96F1-DC9B00175B43}"/>
              </a:ext>
            </a:extLst>
          </p:cNvPr>
          <p:cNvSpPr>
            <a:spLocks noGrp="1"/>
          </p:cNvSpPr>
          <p:nvPr>
            <p:ph type="body" sz="quarter" idx="19" hasCustomPrompt="1"/>
          </p:nvPr>
        </p:nvSpPr>
        <p:spPr>
          <a:xfrm>
            <a:off x="9940449" y="3528829"/>
            <a:ext cx="1380681"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6E6B6915-DFCC-44EB-9C61-6B7725D1B794}"/>
              </a:ext>
            </a:extLst>
          </p:cNvPr>
          <p:cNvSpPr>
            <a:spLocks noGrp="1"/>
          </p:cNvSpPr>
          <p:nvPr>
            <p:ph type="body" sz="quarter" idx="22" hasCustomPrompt="1"/>
          </p:nvPr>
        </p:nvSpPr>
        <p:spPr>
          <a:xfrm>
            <a:off x="2637747" y="4634331"/>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19" name="Text Placeholder 14">
            <a:extLst>
              <a:ext uri="{FF2B5EF4-FFF2-40B4-BE49-F238E27FC236}">
                <a16:creationId xmlns:a16="http://schemas.microsoft.com/office/drawing/2014/main" id="{6718CC56-7B04-41D0-A320-CCCDC20D7615}"/>
              </a:ext>
            </a:extLst>
          </p:cNvPr>
          <p:cNvSpPr>
            <a:spLocks noGrp="1"/>
          </p:cNvSpPr>
          <p:nvPr>
            <p:ph type="body" sz="quarter" idx="21" hasCustomPrompt="1"/>
          </p:nvPr>
        </p:nvSpPr>
        <p:spPr>
          <a:xfrm>
            <a:off x="4175224" y="4459860"/>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21" name="Text Placeholder 14">
            <a:extLst>
              <a:ext uri="{FF2B5EF4-FFF2-40B4-BE49-F238E27FC236}">
                <a16:creationId xmlns:a16="http://schemas.microsoft.com/office/drawing/2014/main" id="{778E1C09-B7DB-4CE7-A5B9-90BCF54448B8}"/>
              </a:ext>
            </a:extLst>
          </p:cNvPr>
          <p:cNvSpPr>
            <a:spLocks noGrp="1"/>
          </p:cNvSpPr>
          <p:nvPr>
            <p:ph type="body" sz="quarter" idx="23" hasCustomPrompt="1"/>
          </p:nvPr>
        </p:nvSpPr>
        <p:spPr>
          <a:xfrm>
            <a:off x="6552714" y="4321788"/>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16" name="Text Placeholder 14">
            <a:extLst>
              <a:ext uri="{FF2B5EF4-FFF2-40B4-BE49-F238E27FC236}">
                <a16:creationId xmlns:a16="http://schemas.microsoft.com/office/drawing/2014/main" id="{7CFA026C-42CE-4C20-9DDE-417FDF6CB43D}"/>
              </a:ext>
            </a:extLst>
          </p:cNvPr>
          <p:cNvSpPr>
            <a:spLocks noGrp="1"/>
          </p:cNvSpPr>
          <p:nvPr>
            <p:ph type="body" sz="quarter" idx="17" hasCustomPrompt="1"/>
          </p:nvPr>
        </p:nvSpPr>
        <p:spPr>
          <a:xfrm>
            <a:off x="5242517" y="5468790"/>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2" name="Text Placeholder 14">
            <a:extLst>
              <a:ext uri="{FF2B5EF4-FFF2-40B4-BE49-F238E27FC236}">
                <a16:creationId xmlns:a16="http://schemas.microsoft.com/office/drawing/2014/main" id="{0AFAA95F-1461-496C-BAB4-D5D0594554FF}"/>
              </a:ext>
            </a:extLst>
          </p:cNvPr>
          <p:cNvSpPr>
            <a:spLocks noGrp="1"/>
          </p:cNvSpPr>
          <p:nvPr>
            <p:ph type="body" sz="quarter" idx="24" hasCustomPrompt="1"/>
          </p:nvPr>
        </p:nvSpPr>
        <p:spPr>
          <a:xfrm>
            <a:off x="7801857" y="5195673"/>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cxnSp>
        <p:nvCxnSpPr>
          <p:cNvPr id="24" name="Straight Connector 23">
            <a:extLst>
              <a:ext uri="{FF2B5EF4-FFF2-40B4-BE49-F238E27FC236}">
                <a16:creationId xmlns:a16="http://schemas.microsoft.com/office/drawing/2014/main" id="{DD194B4E-75F4-47BE-B171-9C64697AB920}"/>
              </a:ext>
              <a:ext uri="{C183D7F6-B498-43B3-948B-1728B52AA6E4}">
                <adec:decorative xmlns:adec="http://schemas.microsoft.com/office/drawing/2017/decorative" val="1"/>
              </a:ext>
            </a:extLst>
          </p:cNvPr>
          <p:cNvCxnSpPr>
            <a:cxnSpLocks/>
            <a:endCxn id="17" idx="1"/>
          </p:cNvCxnSpPr>
          <p:nvPr userDrawn="1"/>
        </p:nvCxnSpPr>
        <p:spPr>
          <a:xfrm>
            <a:off x="2315757" y="3774842"/>
            <a:ext cx="7624692" cy="0"/>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EFDA35F-76DF-4FDC-90C9-F9FEDF32270C}"/>
              </a:ext>
              <a:ext uri="{C183D7F6-B498-43B3-948B-1728B52AA6E4}">
                <adec:decorative xmlns:adec="http://schemas.microsoft.com/office/drawing/2017/decorative" val="1"/>
              </a:ext>
            </a:extLst>
          </p:cNvPr>
          <p:cNvCxnSpPr>
            <a:cxnSpLocks/>
          </p:cNvCxnSpPr>
          <p:nvPr userDrawn="1"/>
        </p:nvCxnSpPr>
        <p:spPr>
          <a:xfrm flipV="1">
            <a:off x="6096000" y="2091972"/>
            <a:ext cx="4678" cy="3376818"/>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Date Placeholder 2">
            <a:extLst>
              <a:ext uri="{FF2B5EF4-FFF2-40B4-BE49-F238E27FC236}">
                <a16:creationId xmlns:a16="http://schemas.microsoft.com/office/drawing/2014/main" id="{B8C04945-62C9-4964-8891-6D30EA90D21A}"/>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32" name="Footer Placeholder 3">
            <a:extLst>
              <a:ext uri="{FF2B5EF4-FFF2-40B4-BE49-F238E27FC236}">
                <a16:creationId xmlns:a16="http://schemas.microsoft.com/office/drawing/2014/main" id="{51029B8B-F669-4889-98DD-901661178D55}"/>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33" name="Slide Number Placeholder 4">
            <a:extLst>
              <a:ext uri="{FF2B5EF4-FFF2-40B4-BE49-F238E27FC236}">
                <a16:creationId xmlns:a16="http://schemas.microsoft.com/office/drawing/2014/main" id="{7A0B84D6-438D-4B3B-B52C-6F5EC159BC73}"/>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026250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rt and tab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a:noAutofit/>
          </a:bodyPr>
          <a:lstStyle>
            <a:lvl1pPr marL="0" indent="0">
              <a:buNone/>
              <a:defRPr sz="1800">
                <a:solidFill>
                  <a:schemeClr val="tx1">
                    <a:lumMod val="75000"/>
                    <a:lumOff val="25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a:lstStyle/>
          <a:p>
            <a:r>
              <a:rPr lang="en-US"/>
              <a:t>Click icon to add chart</a:t>
            </a:r>
            <a:endParaRPr lang="en-US" dirty="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a:noAutofit/>
          </a:bodyPr>
          <a:lstStyle>
            <a:lvl1pPr marL="0" indent="0">
              <a:buNone/>
              <a:defRPr sz="1400" cap="all" spc="150" baseline="0">
                <a:solidFill>
                  <a:schemeClr val="tx1">
                    <a:lumMod val="75000"/>
                    <a:lumOff val="25000"/>
                  </a:schemeClr>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290034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685" r:id="rId12"/>
    <p:sldLayoutId id="2147483700" r:id="rId13"/>
    <p:sldLayoutId id="2147483701" r:id="rId14"/>
    <p:sldLayoutId id="2147483692" r:id="rId15"/>
    <p:sldLayoutId id="2147483681" r:id="rId16"/>
    <p:sldLayoutId id="2147483674" r:id="rId17"/>
    <p:sldLayoutId id="2147483675" r:id="rId18"/>
    <p:sldLayoutId id="2147483696" r:id="rId19"/>
    <p:sldLayoutId id="2147483677" r:id="rId20"/>
    <p:sldLayoutId id="2147483678" r:id="rId21"/>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7.xml"/><Relationship Id="rId5" Type="http://schemas.openxmlformats.org/officeDocument/2006/relationships/image" Target="../media/image20.jpeg"/><Relationship Id="rId4" Type="http://schemas.openxmlformats.org/officeDocument/2006/relationships/image" Target="../media/image19.jpeg"/></Relationships>
</file>

<file path=ppt/slides/_rels/slide26.xml.rels><?xml version="1.0" encoding="UTF-8" standalone="yes"?>
<Relationships xmlns="http://schemas.openxmlformats.org/package/2006/relationships"><Relationship Id="rId8" Type="http://schemas.openxmlformats.org/officeDocument/2006/relationships/image" Target="../media/image27.jpg"/><Relationship Id="rId3" Type="http://schemas.openxmlformats.org/officeDocument/2006/relationships/image" Target="../media/image22.jpg"/><Relationship Id="rId7" Type="http://schemas.openxmlformats.org/officeDocument/2006/relationships/image" Target="../media/image26.jpg"/><Relationship Id="rId2" Type="http://schemas.openxmlformats.org/officeDocument/2006/relationships/image" Target="../media/image21.jpg"/><Relationship Id="rId1" Type="http://schemas.openxmlformats.org/officeDocument/2006/relationships/slideLayout" Target="../slideLayouts/slideLayout18.xml"/><Relationship Id="rId6" Type="http://schemas.openxmlformats.org/officeDocument/2006/relationships/image" Target="../media/image25.jpg"/><Relationship Id="rId5" Type="http://schemas.openxmlformats.org/officeDocument/2006/relationships/image" Target="../media/image24.jpg"/><Relationship Id="rId4" Type="http://schemas.openxmlformats.org/officeDocument/2006/relationships/image" Target="../media/image23.jpg"/><Relationship Id="rId9" Type="http://schemas.openxmlformats.org/officeDocument/2006/relationships/image" Target="../media/image28.jpg"/></Relationships>
</file>

<file path=ppt/slides/_rels/slide2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9.xml"/><Relationship Id="rId5" Type="http://schemas.openxmlformats.org/officeDocument/2006/relationships/chart" Target="../charts/chart5.xml"/><Relationship Id="rId4" Type="http://schemas.openxmlformats.org/officeDocument/2006/relationships/chart" Target="../charts/char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1202589" y="5533810"/>
            <a:ext cx="9786821" cy="648070"/>
          </a:xfrm>
        </p:spPr>
        <p:txBody>
          <a:bodyPr/>
          <a:lstStyle/>
          <a:p>
            <a:r>
              <a:rPr lang="en-US" dirty="0"/>
              <a:t>Brazilian E-Commerce Dataset - </a:t>
            </a:r>
            <a:r>
              <a:rPr lang="en-US" dirty="0" err="1"/>
              <a:t>Olist</a:t>
            </a:r>
            <a:endParaRPr lang="en-US" dirty="0"/>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0" y="6461340"/>
            <a:ext cx="12192000" cy="396660"/>
          </a:xfrm>
        </p:spPr>
        <p:txBody>
          <a:bodyPr/>
          <a:lstStyle/>
          <a:p>
            <a:pPr algn="ctr"/>
            <a:r>
              <a:rPr lang="en-US" b="1" dirty="0"/>
              <a:t>Team 1</a:t>
            </a:r>
            <a:r>
              <a:rPr lang="en-US" dirty="0"/>
              <a:t>     |     Manish Oswal    |     Jesse </a:t>
            </a:r>
            <a:r>
              <a:rPr lang="en-US" dirty="0" err="1"/>
              <a:t>Cajita</a:t>
            </a:r>
            <a:r>
              <a:rPr lang="en-US" dirty="0"/>
              <a:t>     |     R. Sreenivasan     |     Christopher Tan     |     Christopher Choo</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6C939-2EF0-6265-043F-90BA12158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CA6F6-65DF-F98F-032F-7F1BCF1A4969}"/>
              </a:ext>
              <a:ext uri="{C183D7F6-B498-43B3-948B-1728B52AA6E4}">
                <adec:decorative xmlns:adec="http://schemas.microsoft.com/office/drawing/2017/decorative" val="0"/>
              </a:ext>
            </a:extLst>
          </p:cNvPr>
          <p:cNvSpPr>
            <a:spLocks noGrp="1"/>
          </p:cNvSpPr>
          <p:nvPr>
            <p:ph type="title"/>
          </p:nvPr>
        </p:nvSpPr>
        <p:spPr>
          <a:xfrm>
            <a:off x="1333499" y="1020445"/>
            <a:ext cx="3171825" cy="1325563"/>
          </a:xfrm>
        </p:spPr>
        <p:txBody>
          <a:bodyPr/>
          <a:lstStyle/>
          <a:p>
            <a:r>
              <a:rPr lang="en-US" dirty="0"/>
              <a:t>PROBLEM STATEMENT</a:t>
            </a:r>
          </a:p>
        </p:txBody>
      </p:sp>
      <p:sp>
        <p:nvSpPr>
          <p:cNvPr id="3" name="Subtitle 2">
            <a:extLst>
              <a:ext uri="{FF2B5EF4-FFF2-40B4-BE49-F238E27FC236}">
                <a16:creationId xmlns:a16="http://schemas.microsoft.com/office/drawing/2014/main" id="{615CF503-654C-B35A-83BD-331E9E7137E4}"/>
              </a:ext>
              <a:ext uri="{C183D7F6-B498-43B3-948B-1728B52AA6E4}">
                <adec:decorative xmlns:adec="http://schemas.microsoft.com/office/drawing/2017/decorative" val="0"/>
              </a:ext>
            </a:extLst>
          </p:cNvPr>
          <p:cNvSpPr>
            <a:spLocks noGrp="1"/>
          </p:cNvSpPr>
          <p:nvPr>
            <p:ph idx="1"/>
          </p:nvPr>
        </p:nvSpPr>
        <p:spPr>
          <a:xfrm>
            <a:off x="1333499" y="2924175"/>
            <a:ext cx="3171825" cy="2519363"/>
          </a:xfrm>
        </p:spPr>
        <p:txBody>
          <a:bodyPr>
            <a:normAutofit/>
          </a:bodyPr>
          <a:lstStyle/>
          <a:p>
            <a:r>
              <a:rPr lang="en-US" dirty="0"/>
              <a:t>Problem statement(s) here…</a:t>
            </a:r>
          </a:p>
        </p:txBody>
      </p:sp>
      <p:sp>
        <p:nvSpPr>
          <p:cNvPr id="6" name="Date Placeholder 5">
            <a:extLst>
              <a:ext uri="{FF2B5EF4-FFF2-40B4-BE49-F238E27FC236}">
                <a16:creationId xmlns:a16="http://schemas.microsoft.com/office/drawing/2014/main" id="{B18E9D2C-8EEF-26C3-9D47-69FE3EF10F26}"/>
              </a:ext>
            </a:extLst>
          </p:cNvPr>
          <p:cNvSpPr>
            <a:spLocks noGrp="1"/>
          </p:cNvSpPr>
          <p:nvPr>
            <p:ph type="dt" sz="half" idx="10"/>
          </p:nvPr>
        </p:nvSpPr>
        <p:spPr>
          <a:xfrm>
            <a:off x="1333500" y="6356350"/>
            <a:ext cx="985157" cy="365125"/>
          </a:xfrm>
        </p:spPr>
        <p:txBody>
          <a:bodyPr/>
          <a:lstStyle/>
          <a:p>
            <a:r>
              <a:rPr lang="en-US" dirty="0"/>
              <a:t>20XX</a:t>
            </a:r>
          </a:p>
        </p:txBody>
      </p:sp>
      <p:sp>
        <p:nvSpPr>
          <p:cNvPr id="5" name="Footer Placeholder 4">
            <a:extLst>
              <a:ext uri="{FF2B5EF4-FFF2-40B4-BE49-F238E27FC236}">
                <a16:creationId xmlns:a16="http://schemas.microsoft.com/office/drawing/2014/main" id="{AA8D12B3-FDA9-2DD9-C874-A0CB48A3ADD4}"/>
              </a:ext>
            </a:extLst>
          </p:cNvPr>
          <p:cNvSpPr>
            <a:spLocks noGrp="1"/>
          </p:cNvSpPr>
          <p:nvPr>
            <p:ph type="ftr" sz="quarter" idx="11"/>
          </p:nvPr>
        </p:nvSpPr>
        <p:spPr>
          <a:xfrm>
            <a:off x="2669886" y="6356349"/>
            <a:ext cx="2482842"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918DD5B3-4AEA-9731-554D-9CBEF5BB9EC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94256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838200" y="5509419"/>
            <a:ext cx="4082142" cy="585788"/>
          </a:xfrm>
        </p:spPr>
        <p:txBody>
          <a:bodyPr>
            <a:normAutofit fontScale="90000"/>
          </a:bodyPr>
          <a:lstStyle/>
          <a:p>
            <a:r>
              <a:rPr lang="en-US" dirty="0"/>
              <a:t>KEY RECOMMENDATIONS</a:t>
            </a:r>
          </a:p>
        </p:txBody>
      </p:sp>
      <p:sp>
        <p:nvSpPr>
          <p:cNvPr id="3" name="Content Placeholder 2">
            <a:extLst>
              <a:ext uri="{FF2B5EF4-FFF2-40B4-BE49-F238E27FC236}">
                <a16:creationId xmlns:a16="http://schemas.microsoft.com/office/drawing/2014/main" id="{7D779DE4-CAEA-4617-897E-FEC9A2AC2D6A}"/>
              </a:ext>
            </a:extLst>
          </p:cNvPr>
          <p:cNvSpPr>
            <a:spLocks noGrp="1"/>
          </p:cNvSpPr>
          <p:nvPr>
            <p:ph type="body" sz="quarter" idx="13"/>
          </p:nvPr>
        </p:nvSpPr>
        <p:spPr>
          <a:xfrm>
            <a:off x="148318" y="1481138"/>
            <a:ext cx="2141764" cy="514350"/>
          </a:xfrm>
        </p:spPr>
        <p:txBody>
          <a:bodyPr vert="horz" lIns="91440" tIns="45720" rIns="91440" bIns="45720" rtlCol="0" anchor="ctr">
            <a:normAutofit lnSpcReduction="10000"/>
          </a:bodyPr>
          <a:lstStyle/>
          <a:p>
            <a:r>
              <a:rPr lang="en-US" dirty="0"/>
              <a:t>DELIVERY PERFORMANCE</a:t>
            </a:r>
          </a:p>
        </p:txBody>
      </p:sp>
      <p:sp>
        <p:nvSpPr>
          <p:cNvPr id="4" name="Text Placeholder 3">
            <a:extLst>
              <a:ext uri="{FF2B5EF4-FFF2-40B4-BE49-F238E27FC236}">
                <a16:creationId xmlns:a16="http://schemas.microsoft.com/office/drawing/2014/main" id="{F5FF1291-56EB-4A7B-A198-1D91F9ECC5D3}"/>
              </a:ext>
            </a:extLst>
          </p:cNvPr>
          <p:cNvSpPr>
            <a:spLocks noGrp="1"/>
          </p:cNvSpPr>
          <p:nvPr>
            <p:ph type="body" sz="quarter" idx="14"/>
          </p:nvPr>
        </p:nvSpPr>
        <p:spPr>
          <a:xfrm>
            <a:off x="714375" y="2557463"/>
            <a:ext cx="2141764" cy="514350"/>
          </a:xfrm>
        </p:spPr>
        <p:txBody>
          <a:bodyPr/>
          <a:lstStyle/>
          <a:p>
            <a:r>
              <a:rPr lang="en-US" dirty="0"/>
              <a:t>CUSTOMER SEGMENTATION</a:t>
            </a:r>
          </a:p>
        </p:txBody>
      </p:sp>
      <p:sp>
        <p:nvSpPr>
          <p:cNvPr id="5" name="Text Placeholder 4">
            <a:extLst>
              <a:ext uri="{FF2B5EF4-FFF2-40B4-BE49-F238E27FC236}">
                <a16:creationId xmlns:a16="http://schemas.microsoft.com/office/drawing/2014/main" id="{6184E21C-7534-4FB5-9709-F7D1A11034F3}"/>
              </a:ext>
            </a:extLst>
          </p:cNvPr>
          <p:cNvSpPr>
            <a:spLocks noGrp="1"/>
          </p:cNvSpPr>
          <p:nvPr>
            <p:ph type="body" sz="quarter" idx="15"/>
          </p:nvPr>
        </p:nvSpPr>
        <p:spPr>
          <a:xfrm>
            <a:off x="1320800" y="3633788"/>
            <a:ext cx="2141764" cy="514350"/>
          </a:xfrm>
        </p:spPr>
        <p:txBody>
          <a:bodyPr/>
          <a:lstStyle/>
          <a:p>
            <a:r>
              <a:rPr lang="en-US" dirty="0"/>
              <a:t>SELLER SCORE CARD</a:t>
            </a:r>
          </a:p>
        </p:txBody>
      </p:sp>
      <p:sp>
        <p:nvSpPr>
          <p:cNvPr id="7" name="Text Placeholder 6">
            <a:extLst>
              <a:ext uri="{FF2B5EF4-FFF2-40B4-BE49-F238E27FC236}">
                <a16:creationId xmlns:a16="http://schemas.microsoft.com/office/drawing/2014/main" id="{D7EB25CA-DA83-483D-AF83-0001BDF2DE2B}"/>
              </a:ext>
            </a:extLst>
          </p:cNvPr>
          <p:cNvSpPr>
            <a:spLocks noGrp="1"/>
          </p:cNvSpPr>
          <p:nvPr>
            <p:ph type="body" sz="quarter" idx="17"/>
          </p:nvPr>
        </p:nvSpPr>
        <p:spPr>
          <a:xfrm>
            <a:off x="4401535" y="1594478"/>
            <a:ext cx="5539095" cy="1010842"/>
          </a:xfrm>
        </p:spPr>
        <p:txBody>
          <a:bodyPr/>
          <a:lstStyle/>
          <a:p>
            <a:r>
              <a:rPr lang="en-US" dirty="0"/>
              <a:t>Improvements in Actual Delivery Time will result in improved Customer Review Scores that drive more repeat orders.</a:t>
            </a:r>
          </a:p>
          <a:p>
            <a:endParaRPr lang="en-US" dirty="0"/>
          </a:p>
        </p:txBody>
      </p:sp>
      <p:sp>
        <p:nvSpPr>
          <p:cNvPr id="8" name="Text Placeholder 7">
            <a:extLst>
              <a:ext uri="{FF2B5EF4-FFF2-40B4-BE49-F238E27FC236}">
                <a16:creationId xmlns:a16="http://schemas.microsoft.com/office/drawing/2014/main" id="{B46CE8C6-E12D-4A0D-8553-7FFA31941D56}"/>
              </a:ext>
            </a:extLst>
          </p:cNvPr>
          <p:cNvSpPr>
            <a:spLocks noGrp="1"/>
          </p:cNvSpPr>
          <p:nvPr>
            <p:ph type="body" sz="quarter" idx="18"/>
          </p:nvPr>
        </p:nvSpPr>
        <p:spPr>
          <a:xfrm>
            <a:off x="4986028" y="2682564"/>
            <a:ext cx="5539095" cy="1010842"/>
          </a:xfrm>
        </p:spPr>
        <p:txBody>
          <a:bodyPr/>
          <a:lstStyle/>
          <a:p>
            <a:r>
              <a:rPr lang="en-US" dirty="0"/>
              <a:t>Customers should be segmented by band (Gold / Silver / Bronze) for </a:t>
            </a:r>
            <a:r>
              <a:rPr lang="en-US" dirty="0" err="1"/>
              <a:t>Olist</a:t>
            </a:r>
            <a:r>
              <a:rPr lang="en-US" dirty="0"/>
              <a:t> to focus on customers in cities with higher total spend.</a:t>
            </a:r>
          </a:p>
          <a:p>
            <a:endParaRPr lang="en-US" dirty="0"/>
          </a:p>
        </p:txBody>
      </p:sp>
      <p:sp>
        <p:nvSpPr>
          <p:cNvPr id="9" name="Text Placeholder 8">
            <a:extLst>
              <a:ext uri="{FF2B5EF4-FFF2-40B4-BE49-F238E27FC236}">
                <a16:creationId xmlns:a16="http://schemas.microsoft.com/office/drawing/2014/main" id="{1C7D5285-85DF-4331-A6FA-1AE847CA47AE}"/>
              </a:ext>
            </a:extLst>
          </p:cNvPr>
          <p:cNvSpPr>
            <a:spLocks noGrp="1"/>
          </p:cNvSpPr>
          <p:nvPr>
            <p:ph type="body" sz="quarter" idx="19"/>
          </p:nvPr>
        </p:nvSpPr>
        <p:spPr>
          <a:xfrm>
            <a:off x="5576937" y="3755394"/>
            <a:ext cx="5539095" cy="1010842"/>
          </a:xfrm>
        </p:spPr>
        <p:txBody>
          <a:bodyPr/>
          <a:lstStyle/>
          <a:p>
            <a:r>
              <a:rPr lang="en-US" dirty="0"/>
              <a:t>Sellers may be prioritized by Total Order Value and Average Review Score to increase the quality of Sellers on the </a:t>
            </a:r>
            <a:r>
              <a:rPr lang="en-US" dirty="0" err="1"/>
              <a:t>Olist</a:t>
            </a:r>
            <a:r>
              <a:rPr lang="en-US" dirty="0"/>
              <a:t> platform.</a:t>
            </a:r>
          </a:p>
          <a:p>
            <a:endParaRPr lang="en-US" dirty="0"/>
          </a:p>
        </p:txBody>
      </p:sp>
      <p:sp>
        <p:nvSpPr>
          <p:cNvPr id="11" name="Date Placeholder 10">
            <a:extLst>
              <a:ext uri="{FF2B5EF4-FFF2-40B4-BE49-F238E27FC236}">
                <a16:creationId xmlns:a16="http://schemas.microsoft.com/office/drawing/2014/main" id="{40BF6865-7FAE-4B56-A995-ADF1582DCC64}"/>
              </a:ext>
            </a:extLst>
          </p:cNvPr>
          <p:cNvSpPr>
            <a:spLocks noGrp="1"/>
          </p:cNvSpPr>
          <p:nvPr>
            <p:ph type="dt" sz="half" idx="10"/>
          </p:nvPr>
        </p:nvSpPr>
        <p:spPr>
          <a:xfrm>
            <a:off x="838200" y="6356350"/>
            <a:ext cx="2743200" cy="365125"/>
          </a:xfrm>
        </p:spPr>
        <p:txBody>
          <a:bodyPr/>
          <a:lstStyle/>
          <a:p>
            <a:r>
              <a:rPr lang="en-US" dirty="0"/>
              <a:t>20XX</a:t>
            </a:r>
          </a:p>
        </p:txBody>
      </p:sp>
      <p:sp>
        <p:nvSpPr>
          <p:cNvPr id="12" name="Footer Placeholder 11">
            <a:extLst>
              <a:ext uri="{FF2B5EF4-FFF2-40B4-BE49-F238E27FC236}">
                <a16:creationId xmlns:a16="http://schemas.microsoft.com/office/drawing/2014/main" id="{7312B71A-5E84-41DE-9754-5F6291F6DFB7}"/>
              </a:ext>
            </a:extLst>
          </p:cNvPr>
          <p:cNvSpPr>
            <a:spLocks noGrp="1"/>
          </p:cNvSpPr>
          <p:nvPr>
            <p:ph type="ftr" sz="quarter" idx="11"/>
          </p:nvPr>
        </p:nvSpPr>
        <p:spPr>
          <a:xfrm>
            <a:off x="6155823" y="6356350"/>
            <a:ext cx="1808712" cy="365125"/>
          </a:xfrm>
        </p:spPr>
        <p:txBody>
          <a:bodyPr/>
          <a:lstStyle/>
          <a:p>
            <a:r>
              <a:rPr lang="en-US" dirty="0"/>
              <a:t>Pitch Deck</a:t>
            </a:r>
          </a:p>
        </p:txBody>
      </p:sp>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3</a:t>
            </a:fld>
            <a:endParaRPr lang="en-US" dirty="0"/>
          </a:p>
        </p:txBody>
      </p:sp>
    </p:spTree>
    <p:extLst>
      <p:ext uri="{BB962C8B-B14F-4D97-AF65-F5344CB8AC3E}">
        <p14:creationId xmlns:p14="http://schemas.microsoft.com/office/powerpoint/2010/main" val="173856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CE486-DB28-396C-AE2D-BA6CB931E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F3347-3EB1-4456-9BE9-287B96B456E2}"/>
              </a:ext>
              <a:ext uri="{C183D7F6-B498-43B3-948B-1728B52AA6E4}">
                <adec:decorative xmlns:adec="http://schemas.microsoft.com/office/drawing/2017/decorative" val="0"/>
              </a:ext>
            </a:extLst>
          </p:cNvPr>
          <p:cNvSpPr>
            <a:spLocks noGrp="1"/>
          </p:cNvSpPr>
          <p:nvPr>
            <p:ph type="title"/>
          </p:nvPr>
        </p:nvSpPr>
        <p:spPr>
          <a:xfrm>
            <a:off x="1333499" y="1020445"/>
            <a:ext cx="3171825" cy="1325563"/>
          </a:xfrm>
        </p:spPr>
        <p:txBody>
          <a:bodyPr/>
          <a:lstStyle/>
          <a:p>
            <a:r>
              <a:rPr lang="en-US" dirty="0"/>
              <a:t>Technical Overview</a:t>
            </a:r>
          </a:p>
        </p:txBody>
      </p:sp>
      <p:sp>
        <p:nvSpPr>
          <p:cNvPr id="3" name="Subtitle 2">
            <a:extLst>
              <a:ext uri="{FF2B5EF4-FFF2-40B4-BE49-F238E27FC236}">
                <a16:creationId xmlns:a16="http://schemas.microsoft.com/office/drawing/2014/main" id="{E6ED3EF8-DCF4-2DC5-2E0B-E374E066EAE3}"/>
              </a:ext>
              <a:ext uri="{C183D7F6-B498-43B3-948B-1728B52AA6E4}">
                <adec:decorative xmlns:adec="http://schemas.microsoft.com/office/drawing/2017/decorative" val="0"/>
              </a:ext>
            </a:extLst>
          </p:cNvPr>
          <p:cNvSpPr>
            <a:spLocks noGrp="1"/>
          </p:cNvSpPr>
          <p:nvPr>
            <p:ph idx="1"/>
          </p:nvPr>
        </p:nvSpPr>
        <p:spPr>
          <a:xfrm>
            <a:off x="1333499" y="2924175"/>
            <a:ext cx="3171825" cy="2519363"/>
          </a:xfrm>
        </p:spPr>
        <p:txBody>
          <a:bodyPr>
            <a:normAutofit/>
          </a:bodyPr>
          <a:lstStyle/>
          <a:p>
            <a:r>
              <a:rPr lang="en-US" dirty="0"/>
              <a:t>The next 2-3 slides should include some info on:</a:t>
            </a:r>
            <a:br>
              <a:rPr lang="en-US" dirty="0"/>
            </a:br>
            <a:r>
              <a:rPr lang="en-US" dirty="0"/>
              <a:t>1) Architecture</a:t>
            </a:r>
          </a:p>
          <a:p>
            <a:r>
              <a:rPr lang="en-US" dirty="0"/>
              <a:t>2) Database Warehouse Design (Star Schema and Dimension Tables)</a:t>
            </a:r>
          </a:p>
          <a:p>
            <a:r>
              <a:rPr lang="en-US" dirty="0"/>
              <a:t>3) ELT Pipeline</a:t>
            </a:r>
          </a:p>
          <a:p>
            <a:r>
              <a:rPr lang="en-US" dirty="0"/>
              <a:t>4) Data Quality Testing</a:t>
            </a:r>
          </a:p>
        </p:txBody>
      </p:sp>
      <p:sp>
        <p:nvSpPr>
          <p:cNvPr id="6" name="Date Placeholder 5">
            <a:extLst>
              <a:ext uri="{FF2B5EF4-FFF2-40B4-BE49-F238E27FC236}">
                <a16:creationId xmlns:a16="http://schemas.microsoft.com/office/drawing/2014/main" id="{A95C0EDA-1A6C-6146-314A-0F919A3EAA49}"/>
              </a:ext>
            </a:extLst>
          </p:cNvPr>
          <p:cNvSpPr>
            <a:spLocks noGrp="1"/>
          </p:cNvSpPr>
          <p:nvPr>
            <p:ph type="dt" sz="half" idx="10"/>
          </p:nvPr>
        </p:nvSpPr>
        <p:spPr>
          <a:xfrm>
            <a:off x="1333500" y="6356350"/>
            <a:ext cx="985157" cy="365125"/>
          </a:xfrm>
        </p:spPr>
        <p:txBody>
          <a:bodyPr/>
          <a:lstStyle/>
          <a:p>
            <a:r>
              <a:rPr lang="en-US" dirty="0"/>
              <a:t>20XX</a:t>
            </a:r>
          </a:p>
        </p:txBody>
      </p:sp>
      <p:sp>
        <p:nvSpPr>
          <p:cNvPr id="5" name="Footer Placeholder 4">
            <a:extLst>
              <a:ext uri="{FF2B5EF4-FFF2-40B4-BE49-F238E27FC236}">
                <a16:creationId xmlns:a16="http://schemas.microsoft.com/office/drawing/2014/main" id="{B373CE98-8CD9-EE16-FF40-55B5F312E26E}"/>
              </a:ext>
            </a:extLst>
          </p:cNvPr>
          <p:cNvSpPr>
            <a:spLocks noGrp="1"/>
          </p:cNvSpPr>
          <p:nvPr>
            <p:ph type="ftr" sz="quarter" idx="11"/>
          </p:nvPr>
        </p:nvSpPr>
        <p:spPr>
          <a:xfrm>
            <a:off x="2669886" y="6356349"/>
            <a:ext cx="2482842"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2EB7B7E8-8D59-A066-8A15-B0F2C4B11BF2}"/>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4</a:t>
            </a:fld>
            <a:endParaRPr lang="en-US" dirty="0"/>
          </a:p>
        </p:txBody>
      </p:sp>
    </p:spTree>
    <p:extLst>
      <p:ext uri="{BB962C8B-B14F-4D97-AF65-F5344CB8AC3E}">
        <p14:creationId xmlns:p14="http://schemas.microsoft.com/office/powerpoint/2010/main" val="583794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63BA7-2EE6-DF51-0B29-1AE9373E03E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A102ED6-AE59-92F0-6968-4FBE8E51913C}"/>
              </a:ext>
            </a:extLst>
          </p:cNvPr>
          <p:cNvPicPr>
            <a:picLocks noChangeAspect="1"/>
          </p:cNvPicPr>
          <p:nvPr/>
        </p:nvPicPr>
        <p:blipFill>
          <a:blip r:embed="rId2"/>
          <a:stretch>
            <a:fillRect/>
          </a:stretch>
        </p:blipFill>
        <p:spPr>
          <a:xfrm>
            <a:off x="488698" y="564909"/>
            <a:ext cx="10861964" cy="5311806"/>
          </a:xfrm>
          <a:prstGeom prst="rect">
            <a:avLst/>
          </a:prstGeom>
        </p:spPr>
      </p:pic>
      <p:sp>
        <p:nvSpPr>
          <p:cNvPr id="2" name="Title 1">
            <a:extLst>
              <a:ext uri="{FF2B5EF4-FFF2-40B4-BE49-F238E27FC236}">
                <a16:creationId xmlns:a16="http://schemas.microsoft.com/office/drawing/2014/main" id="{100036D3-56D5-33D2-80A1-D6143031B9A0}"/>
              </a:ext>
            </a:extLst>
          </p:cNvPr>
          <p:cNvSpPr>
            <a:spLocks noGrp="1"/>
          </p:cNvSpPr>
          <p:nvPr>
            <p:ph type="title"/>
          </p:nvPr>
        </p:nvSpPr>
        <p:spPr>
          <a:xfrm>
            <a:off x="401473" y="201086"/>
            <a:ext cx="10952326" cy="929779"/>
          </a:xfrm>
        </p:spPr>
        <p:txBody>
          <a:bodyPr>
            <a:normAutofit/>
          </a:bodyPr>
          <a:lstStyle/>
          <a:p>
            <a:r>
              <a:rPr lang="en-US" dirty="0"/>
              <a:t>A majority of items sold are fulfilled by External Sellers Instead of local sellers…</a:t>
            </a:r>
          </a:p>
        </p:txBody>
      </p:sp>
      <p:sp>
        <p:nvSpPr>
          <p:cNvPr id="20" name="Date Placeholder 19">
            <a:extLst>
              <a:ext uri="{FF2B5EF4-FFF2-40B4-BE49-F238E27FC236}">
                <a16:creationId xmlns:a16="http://schemas.microsoft.com/office/drawing/2014/main" id="{0377D9B0-B294-AEBC-FD3E-1FBCD51F7C62}"/>
              </a:ext>
            </a:extLst>
          </p:cNvPr>
          <p:cNvSpPr>
            <a:spLocks noGrp="1"/>
          </p:cNvSpPr>
          <p:nvPr>
            <p:ph type="dt" sz="half" idx="20"/>
          </p:nvPr>
        </p:nvSpPr>
        <p:spPr>
          <a:xfrm>
            <a:off x="5919680" y="6356350"/>
            <a:ext cx="947516" cy="365125"/>
          </a:xfrm>
        </p:spPr>
        <p:txBody>
          <a:bodyPr/>
          <a:lstStyle/>
          <a:p>
            <a:r>
              <a:rPr lang="en-US" dirty="0"/>
              <a:t>20XX</a:t>
            </a:r>
          </a:p>
        </p:txBody>
      </p:sp>
      <p:sp>
        <p:nvSpPr>
          <p:cNvPr id="21" name="Footer Placeholder 20">
            <a:extLst>
              <a:ext uri="{FF2B5EF4-FFF2-40B4-BE49-F238E27FC236}">
                <a16:creationId xmlns:a16="http://schemas.microsoft.com/office/drawing/2014/main" id="{6772CE63-5862-2B96-C3DA-F4A2D20AC80C}"/>
              </a:ext>
            </a:extLst>
          </p:cNvPr>
          <p:cNvSpPr>
            <a:spLocks noGrp="1"/>
          </p:cNvSpPr>
          <p:nvPr>
            <p:ph type="ftr" sz="quarter" idx="21"/>
          </p:nvPr>
        </p:nvSpPr>
        <p:spPr>
          <a:xfrm>
            <a:off x="7161955" y="6356350"/>
            <a:ext cx="3243942" cy="365125"/>
          </a:xfrm>
        </p:spPr>
        <p:txBody>
          <a:bodyPr/>
          <a:lstStyle/>
          <a:p>
            <a:r>
              <a:rPr lang="en-US" b="1" dirty="0"/>
              <a:t>DELIVERY PERFORMANCE</a:t>
            </a:r>
          </a:p>
        </p:txBody>
      </p:sp>
      <p:sp>
        <p:nvSpPr>
          <p:cNvPr id="22" name="Slide Number Placeholder 21">
            <a:extLst>
              <a:ext uri="{FF2B5EF4-FFF2-40B4-BE49-F238E27FC236}">
                <a16:creationId xmlns:a16="http://schemas.microsoft.com/office/drawing/2014/main" id="{7AA1067A-BC9F-0867-2D02-38761DD502C0}"/>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5</a:t>
            </a:fld>
            <a:endParaRPr lang="en-US" dirty="0"/>
          </a:p>
        </p:txBody>
      </p:sp>
      <p:sp>
        <p:nvSpPr>
          <p:cNvPr id="29" name="Text Placeholder 28">
            <a:extLst>
              <a:ext uri="{FF2B5EF4-FFF2-40B4-BE49-F238E27FC236}">
                <a16:creationId xmlns:a16="http://schemas.microsoft.com/office/drawing/2014/main" id="{A8963ECA-990C-7640-80EC-8A8C30E94DAE}"/>
              </a:ext>
            </a:extLst>
          </p:cNvPr>
          <p:cNvSpPr>
            <a:spLocks noGrp="1"/>
          </p:cNvSpPr>
          <p:nvPr>
            <p:ph type="body" sz="quarter" idx="28"/>
          </p:nvPr>
        </p:nvSpPr>
        <p:spPr>
          <a:xfrm>
            <a:off x="838201" y="5602406"/>
            <a:ext cx="10550420" cy="753944"/>
          </a:xfrm>
        </p:spPr>
        <p:txBody>
          <a:bodyPr/>
          <a:lstStyle/>
          <a:p>
            <a:r>
              <a:rPr lang="en-SG" dirty="0"/>
              <a:t>The Average Delivery Time for orders is significantly longer when they are fulfilled by External Sellers. There is opportunity to reduce Delivery Times by bringing orders closer to the respective markets.</a:t>
            </a:r>
          </a:p>
        </p:txBody>
      </p:sp>
    </p:spTree>
    <p:extLst>
      <p:ext uri="{BB962C8B-B14F-4D97-AF65-F5344CB8AC3E}">
        <p14:creationId xmlns:p14="http://schemas.microsoft.com/office/powerpoint/2010/main" val="3566629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0CCE44BD-5945-188D-9A28-9DA7BCA38187}"/>
              </a:ext>
            </a:extLst>
          </p:cNvPr>
          <p:cNvPicPr>
            <a:picLocks noChangeAspect="1"/>
          </p:cNvPicPr>
          <p:nvPr/>
        </p:nvPicPr>
        <p:blipFill>
          <a:blip r:embed="rId2"/>
          <a:stretch>
            <a:fillRect/>
          </a:stretch>
        </p:blipFill>
        <p:spPr>
          <a:xfrm>
            <a:off x="838201" y="566211"/>
            <a:ext cx="10298372" cy="5036195"/>
          </a:xfrm>
          <a:prstGeom prst="rect">
            <a:avLst/>
          </a:prstGeom>
        </p:spPr>
      </p:pic>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401473" y="201086"/>
            <a:ext cx="10952326" cy="929779"/>
          </a:xfrm>
        </p:spPr>
        <p:txBody>
          <a:bodyPr/>
          <a:lstStyle/>
          <a:p>
            <a:r>
              <a:rPr lang="en-US" dirty="0"/>
              <a:t>Customer Review Scores can be significantly improved by reducing Actual Delivery Times…</a:t>
            </a:r>
          </a:p>
        </p:txBody>
      </p:sp>
      <p:sp>
        <p:nvSpPr>
          <p:cNvPr id="20" name="Date Placeholder 19">
            <a:extLst>
              <a:ext uri="{FF2B5EF4-FFF2-40B4-BE49-F238E27FC236}">
                <a16:creationId xmlns:a16="http://schemas.microsoft.com/office/drawing/2014/main" id="{A74D661B-510C-4CF2-BF77-3EAFB649883D}"/>
              </a:ext>
            </a:extLst>
          </p:cNvPr>
          <p:cNvSpPr>
            <a:spLocks noGrp="1"/>
          </p:cNvSpPr>
          <p:nvPr>
            <p:ph type="dt" sz="half" idx="20"/>
          </p:nvPr>
        </p:nvSpPr>
        <p:spPr>
          <a:xfrm>
            <a:off x="5919680" y="6356350"/>
            <a:ext cx="947516" cy="365125"/>
          </a:xfrm>
        </p:spPr>
        <p:txBody>
          <a:bodyPr/>
          <a:lstStyle/>
          <a:p>
            <a:r>
              <a:rPr lang="en-US" dirty="0"/>
              <a:t>20XX</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21"/>
          </p:nvPr>
        </p:nvSpPr>
        <p:spPr>
          <a:xfrm>
            <a:off x="7161955" y="6356350"/>
            <a:ext cx="3243942" cy="365125"/>
          </a:xfrm>
        </p:spPr>
        <p:txBody>
          <a:bodyPr/>
          <a:lstStyle/>
          <a:p>
            <a:r>
              <a:rPr lang="en-US" b="1" dirty="0"/>
              <a:t>DELIVERY PERFORMANCE</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6</a:t>
            </a:fld>
            <a:endParaRPr lang="en-US" dirty="0"/>
          </a:p>
        </p:txBody>
      </p:sp>
      <p:sp>
        <p:nvSpPr>
          <p:cNvPr id="29" name="Text Placeholder 28">
            <a:extLst>
              <a:ext uri="{FF2B5EF4-FFF2-40B4-BE49-F238E27FC236}">
                <a16:creationId xmlns:a16="http://schemas.microsoft.com/office/drawing/2014/main" id="{751FB17E-9A26-76C5-FB3D-2ED2297C28C4}"/>
              </a:ext>
            </a:extLst>
          </p:cNvPr>
          <p:cNvSpPr>
            <a:spLocks noGrp="1"/>
          </p:cNvSpPr>
          <p:nvPr>
            <p:ph type="body" sz="quarter" idx="28"/>
          </p:nvPr>
        </p:nvSpPr>
        <p:spPr>
          <a:xfrm>
            <a:off x="838201" y="5602406"/>
            <a:ext cx="10550420" cy="753944"/>
          </a:xfrm>
        </p:spPr>
        <p:txBody>
          <a:bodyPr/>
          <a:lstStyle/>
          <a:p>
            <a:r>
              <a:rPr lang="en-SG" dirty="0"/>
              <a:t>Customer Review Scores are negatively-correlated with the Actual Delivery Time, which varies from city to city. Rio De Janeiro is the most sensitive to reductions in Delivery Time, followed by </a:t>
            </a:r>
            <a:r>
              <a:rPr lang="en-SG" dirty="0" err="1"/>
              <a:t>Brasillia</a:t>
            </a:r>
            <a:r>
              <a:rPr lang="en-SG" dirty="0"/>
              <a:t>, Belo Horizonte, </a:t>
            </a:r>
            <a:r>
              <a:rPr lang="en-SG" dirty="0" err="1"/>
              <a:t>Curibata</a:t>
            </a:r>
            <a:r>
              <a:rPr lang="en-SG" dirty="0"/>
              <a:t>, and Sao Paulo.</a:t>
            </a:r>
          </a:p>
        </p:txBody>
      </p:sp>
    </p:spTree>
    <p:extLst>
      <p:ext uri="{BB962C8B-B14F-4D97-AF65-F5344CB8AC3E}">
        <p14:creationId xmlns:p14="http://schemas.microsoft.com/office/powerpoint/2010/main" val="1844941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7480F-E86E-80FD-6BF2-C57429CFCBD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95EB976-4B76-EE79-92CC-4334A0956045}"/>
              </a:ext>
            </a:extLst>
          </p:cNvPr>
          <p:cNvPicPr>
            <a:picLocks noChangeAspect="1"/>
          </p:cNvPicPr>
          <p:nvPr/>
        </p:nvPicPr>
        <p:blipFill>
          <a:blip r:embed="rId3"/>
          <a:stretch>
            <a:fillRect/>
          </a:stretch>
        </p:blipFill>
        <p:spPr>
          <a:xfrm>
            <a:off x="1303989" y="1028759"/>
            <a:ext cx="9147293" cy="4573647"/>
          </a:xfrm>
          <a:prstGeom prst="rect">
            <a:avLst/>
          </a:prstGeom>
        </p:spPr>
      </p:pic>
      <p:sp>
        <p:nvSpPr>
          <p:cNvPr id="2" name="Title 1">
            <a:extLst>
              <a:ext uri="{FF2B5EF4-FFF2-40B4-BE49-F238E27FC236}">
                <a16:creationId xmlns:a16="http://schemas.microsoft.com/office/drawing/2014/main" id="{3C09E37F-F394-15D9-D9F9-F97FFD05A591}"/>
              </a:ext>
            </a:extLst>
          </p:cNvPr>
          <p:cNvSpPr>
            <a:spLocks noGrp="1"/>
          </p:cNvSpPr>
          <p:nvPr>
            <p:ph type="title"/>
          </p:nvPr>
        </p:nvSpPr>
        <p:spPr>
          <a:xfrm>
            <a:off x="401473" y="201086"/>
            <a:ext cx="10952326" cy="929779"/>
          </a:xfrm>
        </p:spPr>
        <p:txBody>
          <a:bodyPr/>
          <a:lstStyle/>
          <a:p>
            <a:r>
              <a:rPr lang="en-US" dirty="0"/>
              <a:t>Delivery Time Improvements will be targeted at The top 3 products in sales Revenue for the Top 3 cities…</a:t>
            </a:r>
          </a:p>
        </p:txBody>
      </p:sp>
      <p:sp>
        <p:nvSpPr>
          <p:cNvPr id="20" name="Date Placeholder 19">
            <a:extLst>
              <a:ext uri="{FF2B5EF4-FFF2-40B4-BE49-F238E27FC236}">
                <a16:creationId xmlns:a16="http://schemas.microsoft.com/office/drawing/2014/main" id="{903BE9C1-75BD-DCC1-5F1F-A7B1D21AC9BC}"/>
              </a:ext>
            </a:extLst>
          </p:cNvPr>
          <p:cNvSpPr>
            <a:spLocks noGrp="1"/>
          </p:cNvSpPr>
          <p:nvPr>
            <p:ph type="dt" sz="half" idx="20"/>
          </p:nvPr>
        </p:nvSpPr>
        <p:spPr>
          <a:xfrm>
            <a:off x="5919680" y="6356350"/>
            <a:ext cx="947516" cy="365125"/>
          </a:xfrm>
        </p:spPr>
        <p:txBody>
          <a:bodyPr/>
          <a:lstStyle/>
          <a:p>
            <a:r>
              <a:rPr lang="en-US" dirty="0"/>
              <a:t>20XX</a:t>
            </a:r>
          </a:p>
        </p:txBody>
      </p:sp>
      <p:sp>
        <p:nvSpPr>
          <p:cNvPr id="21" name="Footer Placeholder 20">
            <a:extLst>
              <a:ext uri="{FF2B5EF4-FFF2-40B4-BE49-F238E27FC236}">
                <a16:creationId xmlns:a16="http://schemas.microsoft.com/office/drawing/2014/main" id="{3A269342-48E3-0527-DBA1-F22F5369124D}"/>
              </a:ext>
            </a:extLst>
          </p:cNvPr>
          <p:cNvSpPr>
            <a:spLocks noGrp="1"/>
          </p:cNvSpPr>
          <p:nvPr>
            <p:ph type="ftr" sz="quarter" idx="21"/>
          </p:nvPr>
        </p:nvSpPr>
        <p:spPr>
          <a:xfrm>
            <a:off x="7161955" y="6356350"/>
            <a:ext cx="3243942" cy="365125"/>
          </a:xfrm>
        </p:spPr>
        <p:txBody>
          <a:bodyPr/>
          <a:lstStyle/>
          <a:p>
            <a:r>
              <a:rPr lang="en-US" b="1" dirty="0"/>
              <a:t>DELIVERY PERFORMANCE</a:t>
            </a:r>
          </a:p>
        </p:txBody>
      </p:sp>
      <p:sp>
        <p:nvSpPr>
          <p:cNvPr id="22" name="Slide Number Placeholder 21">
            <a:extLst>
              <a:ext uri="{FF2B5EF4-FFF2-40B4-BE49-F238E27FC236}">
                <a16:creationId xmlns:a16="http://schemas.microsoft.com/office/drawing/2014/main" id="{AF957BB8-6392-8507-797F-A21B1341F0B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7</a:t>
            </a:fld>
            <a:endParaRPr lang="en-US" dirty="0"/>
          </a:p>
        </p:txBody>
      </p:sp>
      <p:sp>
        <p:nvSpPr>
          <p:cNvPr id="29" name="Text Placeholder 28">
            <a:extLst>
              <a:ext uri="{FF2B5EF4-FFF2-40B4-BE49-F238E27FC236}">
                <a16:creationId xmlns:a16="http://schemas.microsoft.com/office/drawing/2014/main" id="{C74FF9E0-07F8-CBD4-B784-75250CA0A946}"/>
              </a:ext>
            </a:extLst>
          </p:cNvPr>
          <p:cNvSpPr>
            <a:spLocks noGrp="1"/>
          </p:cNvSpPr>
          <p:nvPr>
            <p:ph type="body" sz="quarter" idx="28"/>
          </p:nvPr>
        </p:nvSpPr>
        <p:spPr>
          <a:xfrm>
            <a:off x="838201" y="5602406"/>
            <a:ext cx="10550420" cy="753944"/>
          </a:xfrm>
        </p:spPr>
        <p:txBody>
          <a:bodyPr/>
          <a:lstStyle/>
          <a:p>
            <a:r>
              <a:rPr lang="en-SG" dirty="0"/>
              <a:t>The product categories that had the highest sales in the top 3 cities were Health and Beauty, Bedroom and Bathroom Accessories, and Watches and Gifts (??)</a:t>
            </a:r>
          </a:p>
        </p:txBody>
      </p:sp>
    </p:spTree>
    <p:extLst>
      <p:ext uri="{BB962C8B-B14F-4D97-AF65-F5344CB8AC3E}">
        <p14:creationId xmlns:p14="http://schemas.microsoft.com/office/powerpoint/2010/main" val="3899709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F1B6B-C88F-6E6B-F678-21F2E45EF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9285B8-BA11-2B0B-2E85-CB32783D605F}"/>
              </a:ext>
            </a:extLst>
          </p:cNvPr>
          <p:cNvSpPr>
            <a:spLocks noGrp="1"/>
          </p:cNvSpPr>
          <p:nvPr>
            <p:ph type="title"/>
          </p:nvPr>
        </p:nvSpPr>
        <p:spPr>
          <a:xfrm>
            <a:off x="401473" y="201086"/>
            <a:ext cx="10952326" cy="929779"/>
          </a:xfrm>
        </p:spPr>
        <p:txBody>
          <a:bodyPr/>
          <a:lstStyle/>
          <a:p>
            <a:r>
              <a:rPr lang="en-US" dirty="0"/>
              <a:t>SLIDES ON CUSTOMER SEGMENTATION HERE…</a:t>
            </a:r>
          </a:p>
        </p:txBody>
      </p:sp>
      <p:sp>
        <p:nvSpPr>
          <p:cNvPr id="20" name="Date Placeholder 19">
            <a:extLst>
              <a:ext uri="{FF2B5EF4-FFF2-40B4-BE49-F238E27FC236}">
                <a16:creationId xmlns:a16="http://schemas.microsoft.com/office/drawing/2014/main" id="{D5C6FB3E-895B-7308-6A03-35DFEAD7ED7F}"/>
              </a:ext>
            </a:extLst>
          </p:cNvPr>
          <p:cNvSpPr>
            <a:spLocks noGrp="1"/>
          </p:cNvSpPr>
          <p:nvPr>
            <p:ph type="dt" sz="half" idx="20"/>
          </p:nvPr>
        </p:nvSpPr>
        <p:spPr>
          <a:xfrm>
            <a:off x="5919680" y="6356350"/>
            <a:ext cx="947516" cy="365125"/>
          </a:xfrm>
        </p:spPr>
        <p:txBody>
          <a:bodyPr/>
          <a:lstStyle/>
          <a:p>
            <a:r>
              <a:rPr lang="en-US" dirty="0"/>
              <a:t>20XX</a:t>
            </a:r>
          </a:p>
        </p:txBody>
      </p:sp>
      <p:sp>
        <p:nvSpPr>
          <p:cNvPr id="21" name="Footer Placeholder 20">
            <a:extLst>
              <a:ext uri="{FF2B5EF4-FFF2-40B4-BE49-F238E27FC236}">
                <a16:creationId xmlns:a16="http://schemas.microsoft.com/office/drawing/2014/main" id="{D5EDAE41-5210-7C00-D05D-7A14C95E2E27}"/>
              </a:ext>
            </a:extLst>
          </p:cNvPr>
          <p:cNvSpPr>
            <a:spLocks noGrp="1"/>
          </p:cNvSpPr>
          <p:nvPr>
            <p:ph type="ftr" sz="quarter" idx="21"/>
          </p:nvPr>
        </p:nvSpPr>
        <p:spPr>
          <a:xfrm>
            <a:off x="7161955" y="6356350"/>
            <a:ext cx="3243942" cy="365125"/>
          </a:xfrm>
        </p:spPr>
        <p:txBody>
          <a:bodyPr/>
          <a:lstStyle/>
          <a:p>
            <a:r>
              <a:rPr lang="en-US" b="1" dirty="0"/>
              <a:t>CUSTOMER SEGMENTATION</a:t>
            </a:r>
          </a:p>
        </p:txBody>
      </p:sp>
      <p:sp>
        <p:nvSpPr>
          <p:cNvPr id="22" name="Slide Number Placeholder 21">
            <a:extLst>
              <a:ext uri="{FF2B5EF4-FFF2-40B4-BE49-F238E27FC236}">
                <a16:creationId xmlns:a16="http://schemas.microsoft.com/office/drawing/2014/main" id="{7B2AEE4B-1877-7FF7-BF6F-0DEF356E0BB4}"/>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8</a:t>
            </a:fld>
            <a:endParaRPr lang="en-US" dirty="0"/>
          </a:p>
        </p:txBody>
      </p:sp>
      <p:sp>
        <p:nvSpPr>
          <p:cNvPr id="29" name="Text Placeholder 28">
            <a:extLst>
              <a:ext uri="{FF2B5EF4-FFF2-40B4-BE49-F238E27FC236}">
                <a16:creationId xmlns:a16="http://schemas.microsoft.com/office/drawing/2014/main" id="{FB50434A-AD39-65C4-8EDE-29571A3AC279}"/>
              </a:ext>
            </a:extLst>
          </p:cNvPr>
          <p:cNvSpPr>
            <a:spLocks noGrp="1"/>
          </p:cNvSpPr>
          <p:nvPr>
            <p:ph type="body" sz="quarter" idx="28"/>
          </p:nvPr>
        </p:nvSpPr>
        <p:spPr>
          <a:xfrm>
            <a:off x="838201" y="5602406"/>
            <a:ext cx="10550420" cy="753944"/>
          </a:xfrm>
        </p:spPr>
        <p:txBody>
          <a:bodyPr/>
          <a:lstStyle/>
          <a:p>
            <a:r>
              <a:rPr lang="en-SG" dirty="0" err="1"/>
              <a:t>xxxx</a:t>
            </a:r>
            <a:endParaRPr lang="en-SG" dirty="0"/>
          </a:p>
        </p:txBody>
      </p:sp>
    </p:spTree>
    <p:extLst>
      <p:ext uri="{BB962C8B-B14F-4D97-AF65-F5344CB8AC3E}">
        <p14:creationId xmlns:p14="http://schemas.microsoft.com/office/powerpoint/2010/main" val="78925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058AC-DE82-4F1F-3CFF-09C7194F7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CE6382-DCDD-9225-F5FD-2E470D0F9E93}"/>
              </a:ext>
            </a:extLst>
          </p:cNvPr>
          <p:cNvSpPr>
            <a:spLocks noGrp="1"/>
          </p:cNvSpPr>
          <p:nvPr>
            <p:ph type="title"/>
          </p:nvPr>
        </p:nvSpPr>
        <p:spPr>
          <a:xfrm>
            <a:off x="401473" y="201086"/>
            <a:ext cx="10952326" cy="929779"/>
          </a:xfrm>
        </p:spPr>
        <p:txBody>
          <a:bodyPr/>
          <a:lstStyle/>
          <a:p>
            <a:r>
              <a:rPr lang="en-US" dirty="0"/>
              <a:t>SLIDES ON SELLER SCORE CARD HERE…</a:t>
            </a:r>
          </a:p>
        </p:txBody>
      </p:sp>
      <p:sp>
        <p:nvSpPr>
          <p:cNvPr id="20" name="Date Placeholder 19">
            <a:extLst>
              <a:ext uri="{FF2B5EF4-FFF2-40B4-BE49-F238E27FC236}">
                <a16:creationId xmlns:a16="http://schemas.microsoft.com/office/drawing/2014/main" id="{1271E6A4-CE62-B474-03BE-412B4FD667B7}"/>
              </a:ext>
            </a:extLst>
          </p:cNvPr>
          <p:cNvSpPr>
            <a:spLocks noGrp="1"/>
          </p:cNvSpPr>
          <p:nvPr>
            <p:ph type="dt" sz="half" idx="20"/>
          </p:nvPr>
        </p:nvSpPr>
        <p:spPr>
          <a:xfrm>
            <a:off x="5919680" y="6356350"/>
            <a:ext cx="947516" cy="365125"/>
          </a:xfrm>
        </p:spPr>
        <p:txBody>
          <a:bodyPr/>
          <a:lstStyle/>
          <a:p>
            <a:r>
              <a:rPr lang="en-US" dirty="0"/>
              <a:t>20XX</a:t>
            </a:r>
          </a:p>
        </p:txBody>
      </p:sp>
      <p:sp>
        <p:nvSpPr>
          <p:cNvPr id="21" name="Footer Placeholder 20">
            <a:extLst>
              <a:ext uri="{FF2B5EF4-FFF2-40B4-BE49-F238E27FC236}">
                <a16:creationId xmlns:a16="http://schemas.microsoft.com/office/drawing/2014/main" id="{21523579-E95F-C9DC-C9C9-819A5E32A448}"/>
              </a:ext>
            </a:extLst>
          </p:cNvPr>
          <p:cNvSpPr>
            <a:spLocks noGrp="1"/>
          </p:cNvSpPr>
          <p:nvPr>
            <p:ph type="ftr" sz="quarter" idx="21"/>
          </p:nvPr>
        </p:nvSpPr>
        <p:spPr>
          <a:xfrm>
            <a:off x="7161955" y="6356350"/>
            <a:ext cx="3243942" cy="365125"/>
          </a:xfrm>
        </p:spPr>
        <p:txBody>
          <a:bodyPr/>
          <a:lstStyle/>
          <a:p>
            <a:r>
              <a:rPr lang="en-US" b="1" dirty="0"/>
              <a:t>SELLER SCORE CARD</a:t>
            </a:r>
          </a:p>
        </p:txBody>
      </p:sp>
      <p:sp>
        <p:nvSpPr>
          <p:cNvPr id="22" name="Slide Number Placeholder 21">
            <a:extLst>
              <a:ext uri="{FF2B5EF4-FFF2-40B4-BE49-F238E27FC236}">
                <a16:creationId xmlns:a16="http://schemas.microsoft.com/office/drawing/2014/main" id="{427B2B58-ABF9-731D-B604-A70F443860EC}"/>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9</a:t>
            </a:fld>
            <a:endParaRPr lang="en-US" dirty="0"/>
          </a:p>
        </p:txBody>
      </p:sp>
      <p:sp>
        <p:nvSpPr>
          <p:cNvPr id="29" name="Text Placeholder 28">
            <a:extLst>
              <a:ext uri="{FF2B5EF4-FFF2-40B4-BE49-F238E27FC236}">
                <a16:creationId xmlns:a16="http://schemas.microsoft.com/office/drawing/2014/main" id="{E8F1E9A8-0CE1-FC59-8CBC-2D4550205CAC}"/>
              </a:ext>
            </a:extLst>
          </p:cNvPr>
          <p:cNvSpPr>
            <a:spLocks noGrp="1"/>
          </p:cNvSpPr>
          <p:nvPr>
            <p:ph type="body" sz="quarter" idx="28"/>
          </p:nvPr>
        </p:nvSpPr>
        <p:spPr>
          <a:xfrm>
            <a:off x="838201" y="5602406"/>
            <a:ext cx="10550420" cy="753944"/>
          </a:xfrm>
        </p:spPr>
        <p:txBody>
          <a:bodyPr/>
          <a:lstStyle/>
          <a:p>
            <a:r>
              <a:rPr lang="en-SG" dirty="0" err="1"/>
              <a:t>xxxx</a:t>
            </a:r>
            <a:endParaRPr lang="en-SG" dirty="0"/>
          </a:p>
        </p:txBody>
      </p:sp>
    </p:spTree>
    <p:extLst>
      <p:ext uri="{BB962C8B-B14F-4D97-AF65-F5344CB8AC3E}">
        <p14:creationId xmlns:p14="http://schemas.microsoft.com/office/powerpoint/2010/main" val="300223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A191-5CCC-43CB-BD83-4F80ED362608}"/>
              </a:ext>
            </a:extLst>
          </p:cNvPr>
          <p:cNvSpPr>
            <a:spLocks noGrp="1"/>
          </p:cNvSpPr>
          <p:nvPr>
            <p:ph type="title"/>
          </p:nvPr>
        </p:nvSpPr>
        <p:spPr>
          <a:xfrm>
            <a:off x="5476875" y="1671639"/>
            <a:ext cx="5111750" cy="1204912"/>
          </a:xfrm>
        </p:spPr>
        <p:txBody>
          <a:bodyPr/>
          <a:lstStyle/>
          <a:p>
            <a:r>
              <a:rPr lang="en-US" dirty="0"/>
              <a:t>WRAP UP AND RECAP</a:t>
            </a:r>
          </a:p>
        </p:txBody>
      </p:sp>
      <p:sp>
        <p:nvSpPr>
          <p:cNvPr id="3" name="Content Placeholder 2">
            <a:extLst>
              <a:ext uri="{FF2B5EF4-FFF2-40B4-BE49-F238E27FC236}">
                <a16:creationId xmlns:a16="http://schemas.microsoft.com/office/drawing/2014/main" id="{E14BBEAF-B516-45F4-9EF6-A9F65111580F}"/>
              </a:ext>
            </a:extLst>
          </p:cNvPr>
          <p:cNvSpPr>
            <a:spLocks noGrp="1"/>
          </p:cNvSpPr>
          <p:nvPr>
            <p:ph type="body" idx="1"/>
          </p:nvPr>
        </p:nvSpPr>
        <p:spPr>
          <a:xfrm>
            <a:off x="5476875" y="3682546"/>
            <a:ext cx="5111750" cy="1525588"/>
          </a:xfrm>
        </p:spPr>
        <p:txBody>
          <a:bodyPr vert="horz" lIns="91440" tIns="45720" rIns="91440" bIns="45720" rtlCol="0" anchor="b">
            <a:normAutofit/>
          </a:bodyPr>
          <a:lstStyle/>
          <a:p>
            <a:r>
              <a:rPr lang="en-US" dirty="0"/>
              <a:t>RECAP SLIDE HERE</a:t>
            </a:r>
          </a:p>
        </p:txBody>
      </p:sp>
      <p:sp>
        <p:nvSpPr>
          <p:cNvPr id="4" name="Date Placeholder 3">
            <a:extLst>
              <a:ext uri="{FF2B5EF4-FFF2-40B4-BE49-F238E27FC236}">
                <a16:creationId xmlns:a16="http://schemas.microsoft.com/office/drawing/2014/main" id="{13F8C8B5-F6EC-489B-BD0F-CD89A73CAB3A}"/>
              </a:ext>
            </a:extLst>
          </p:cNvPr>
          <p:cNvSpPr>
            <a:spLocks noGrp="1"/>
          </p:cNvSpPr>
          <p:nvPr>
            <p:ph type="dt" sz="half" idx="10"/>
          </p:nvPr>
        </p:nvSpPr>
        <p:spPr>
          <a:xfrm>
            <a:off x="838200" y="6356350"/>
            <a:ext cx="2743200" cy="365125"/>
          </a:xfrm>
        </p:spPr>
        <p:txBody>
          <a:bodyPr/>
          <a:lstStyle/>
          <a:p>
            <a:r>
              <a:rPr lang="en-US" dirty="0"/>
              <a:t>20XX</a:t>
            </a:r>
          </a:p>
        </p:txBody>
      </p:sp>
      <p:sp>
        <p:nvSpPr>
          <p:cNvPr id="5" name="Footer Placeholder 4">
            <a:extLst>
              <a:ext uri="{FF2B5EF4-FFF2-40B4-BE49-F238E27FC236}">
                <a16:creationId xmlns:a16="http://schemas.microsoft.com/office/drawing/2014/main" id="{11AEA823-8519-4F9D-81FA-3673131076FC}"/>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BAEFF51B-0E28-4171-AE7C-A31AAB42BC7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10</a:t>
            </a:fld>
            <a:endParaRPr lang="en-US" dirty="0"/>
          </a:p>
        </p:txBody>
      </p:sp>
    </p:spTree>
    <p:extLst>
      <p:ext uri="{BB962C8B-B14F-4D97-AF65-F5344CB8AC3E}">
        <p14:creationId xmlns:p14="http://schemas.microsoft.com/office/powerpoint/2010/main" val="3615310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42B2C-499A-232C-0DCC-75BD0DEE9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1E73D5-B96B-BAB8-E816-626F710DD26A}"/>
              </a:ext>
            </a:extLst>
          </p:cNvPr>
          <p:cNvSpPr>
            <a:spLocks noGrp="1"/>
          </p:cNvSpPr>
          <p:nvPr>
            <p:ph type="ctrTitle"/>
          </p:nvPr>
        </p:nvSpPr>
        <p:spPr>
          <a:xfrm>
            <a:off x="4267200" y="1615736"/>
            <a:ext cx="4179570" cy="1524735"/>
          </a:xfrm>
        </p:spPr>
        <p:txBody>
          <a:bodyPr/>
          <a:lstStyle/>
          <a:p>
            <a:r>
              <a:rPr lang="en-US" dirty="0"/>
              <a:t>THANK YOU</a:t>
            </a:r>
          </a:p>
        </p:txBody>
      </p:sp>
      <p:sp>
        <p:nvSpPr>
          <p:cNvPr id="3" name="Content Placeholder 2">
            <a:extLst>
              <a:ext uri="{FF2B5EF4-FFF2-40B4-BE49-F238E27FC236}">
                <a16:creationId xmlns:a16="http://schemas.microsoft.com/office/drawing/2014/main" id="{B388617F-ED9B-1082-1DCA-2E95EEF6D4CB}"/>
              </a:ext>
            </a:extLst>
          </p:cNvPr>
          <p:cNvSpPr>
            <a:spLocks noGrp="1"/>
          </p:cNvSpPr>
          <p:nvPr>
            <p:ph type="subTitle" idx="1"/>
          </p:nvPr>
        </p:nvSpPr>
        <p:spPr>
          <a:xfrm>
            <a:off x="4267200" y="3238103"/>
            <a:ext cx="4179570" cy="2004161"/>
          </a:xfrm>
        </p:spPr>
        <p:txBody>
          <a:bodyPr>
            <a:normAutofit/>
          </a:bodyPr>
          <a:lstStyle/>
          <a:p>
            <a:r>
              <a:rPr lang="en-US" dirty="0"/>
              <a:t>1nsight</a:t>
            </a:r>
          </a:p>
        </p:txBody>
      </p:sp>
      <p:sp>
        <p:nvSpPr>
          <p:cNvPr id="4" name="Date Placeholder 3">
            <a:extLst>
              <a:ext uri="{FF2B5EF4-FFF2-40B4-BE49-F238E27FC236}">
                <a16:creationId xmlns:a16="http://schemas.microsoft.com/office/drawing/2014/main" id="{01252227-29C3-7033-E0E7-4D11AA1DC040}"/>
              </a:ext>
            </a:extLst>
          </p:cNvPr>
          <p:cNvSpPr>
            <a:spLocks noGrp="1"/>
          </p:cNvSpPr>
          <p:nvPr>
            <p:ph type="dt" sz="half" idx="10"/>
          </p:nvPr>
        </p:nvSpPr>
        <p:spPr>
          <a:xfrm>
            <a:off x="4267200" y="6356350"/>
            <a:ext cx="1774371" cy="365125"/>
          </a:xfrm>
        </p:spPr>
        <p:txBody>
          <a:bodyPr/>
          <a:lstStyle/>
          <a:p>
            <a:r>
              <a:rPr lang="en-US" dirty="0"/>
              <a:t>20XX</a:t>
            </a:r>
          </a:p>
        </p:txBody>
      </p:sp>
      <p:sp>
        <p:nvSpPr>
          <p:cNvPr id="5" name="Footer Placeholder 4">
            <a:extLst>
              <a:ext uri="{FF2B5EF4-FFF2-40B4-BE49-F238E27FC236}">
                <a16:creationId xmlns:a16="http://schemas.microsoft.com/office/drawing/2014/main" id="{DFFC3E37-0BF8-6EFE-02CC-EC4D5878F98F}"/>
              </a:ext>
            </a:extLst>
          </p:cNvPr>
          <p:cNvSpPr>
            <a:spLocks noGrp="1"/>
          </p:cNvSpPr>
          <p:nvPr>
            <p:ph type="ftr" sz="quarter" idx="11"/>
          </p:nvPr>
        </p:nvSpPr>
        <p:spPr>
          <a:xfrm>
            <a:off x="6479721" y="6356350"/>
            <a:ext cx="2661557"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6513EF43-7829-02FF-4670-60CDC7F35F7B}"/>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11</a:t>
            </a:fld>
            <a:endParaRPr lang="en-US" dirty="0"/>
          </a:p>
        </p:txBody>
      </p:sp>
    </p:spTree>
    <p:extLst>
      <p:ext uri="{BB962C8B-B14F-4D97-AF65-F5344CB8AC3E}">
        <p14:creationId xmlns:p14="http://schemas.microsoft.com/office/powerpoint/2010/main" val="1229164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33499" y="1020445"/>
            <a:ext cx="3171825" cy="1325563"/>
          </a:xfrm>
        </p:spPr>
        <p:txBody>
          <a:bodyPr/>
          <a:lstStyle/>
          <a:p>
            <a:r>
              <a:rPr lang="en-US" dirty="0"/>
              <a:t>ABOUT US</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333499" y="2924175"/>
            <a:ext cx="3171825" cy="2519363"/>
          </a:xfrm>
        </p:spPr>
        <p:txBody>
          <a:bodyPr>
            <a:normAutofit/>
          </a:bodyPr>
          <a:lstStyle/>
          <a:p>
            <a:r>
              <a:rPr lang="en-US" dirty="0"/>
              <a:t>At Contoso, we empower organizations to foster collaborative thinking to further drive workplace innovation. By closing the loop and leveraging agile frameworks, we help business grow organically and foster a consumer-first mindset.</a:t>
            </a:r>
          </a:p>
        </p:txBody>
      </p:sp>
      <p:sp>
        <p:nvSpPr>
          <p:cNvPr id="6" name="Date Placeholder 5">
            <a:extLst>
              <a:ext uri="{FF2B5EF4-FFF2-40B4-BE49-F238E27FC236}">
                <a16:creationId xmlns:a16="http://schemas.microsoft.com/office/drawing/2014/main" id="{B69DF042-37C5-4E09-AA4C-AA66649C9533}"/>
              </a:ext>
            </a:extLst>
          </p:cNvPr>
          <p:cNvSpPr>
            <a:spLocks noGrp="1"/>
          </p:cNvSpPr>
          <p:nvPr>
            <p:ph type="dt" sz="half" idx="10"/>
          </p:nvPr>
        </p:nvSpPr>
        <p:spPr>
          <a:xfrm>
            <a:off x="1333500" y="6356350"/>
            <a:ext cx="985157" cy="365125"/>
          </a:xfrm>
        </p:spPr>
        <p:txBody>
          <a:bodyPr/>
          <a:lstStyle/>
          <a:p>
            <a:r>
              <a:rPr lang="en-US" dirty="0"/>
              <a:t>20XX</a:t>
            </a:r>
          </a:p>
        </p:txBody>
      </p:sp>
      <p:sp>
        <p:nvSpPr>
          <p:cNvPr id="5" name="Footer Placeholder 4">
            <a:extLst>
              <a:ext uri="{FF2B5EF4-FFF2-40B4-BE49-F238E27FC236}">
                <a16:creationId xmlns:a16="http://schemas.microsoft.com/office/drawing/2014/main" id="{AF29EA23-F34E-486A-B8B2-0C3019266975}"/>
              </a:ext>
            </a:extLst>
          </p:cNvPr>
          <p:cNvSpPr>
            <a:spLocks noGrp="1"/>
          </p:cNvSpPr>
          <p:nvPr>
            <p:ph type="ftr" sz="quarter" idx="11"/>
          </p:nvPr>
        </p:nvSpPr>
        <p:spPr>
          <a:xfrm>
            <a:off x="2669886" y="6356349"/>
            <a:ext cx="2482842"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12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85156" y="892177"/>
            <a:ext cx="8421688" cy="1325563"/>
          </a:xfrm>
        </p:spPr>
        <p:txBody>
          <a:bodyPr/>
          <a:lstStyle/>
          <a:p>
            <a:r>
              <a:rPr lang="en-US" dirty="0"/>
              <a:t>SOLUTION</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1485900" y="2563123"/>
            <a:ext cx="4031945" cy="365125"/>
          </a:xfrm>
        </p:spPr>
        <p:txBody>
          <a:bodyPr vert="horz" lIns="91440" tIns="45720" rIns="91440" bIns="45720" rtlCol="0" anchor="t">
            <a:normAutofit lnSpcReduction="10000"/>
          </a:bodyPr>
          <a:lstStyle/>
          <a:p>
            <a:r>
              <a:rPr lang="en-US" dirty="0"/>
              <a:t>CLOSE THE GAP</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1485664" y="3070348"/>
            <a:ext cx="4031030" cy="1057308"/>
          </a:xfrm>
        </p:spPr>
        <p:txBody>
          <a:bodyPr/>
          <a:lstStyle/>
          <a:p>
            <a:r>
              <a:rPr lang="en-US" dirty="0"/>
              <a:t>Our product makes consumer lives easier, and no other product on the market offers the same features</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16"/>
          </p:nvPr>
        </p:nvSpPr>
        <p:spPr>
          <a:xfrm>
            <a:off x="6673004" y="2563123"/>
            <a:ext cx="4031945" cy="365125"/>
          </a:xfrm>
        </p:spPr>
        <p:txBody>
          <a:bodyPr>
            <a:normAutofit lnSpcReduction="10000"/>
          </a:bodyPr>
          <a:lstStyle/>
          <a:p>
            <a:r>
              <a:rPr lang="en-US" dirty="0"/>
              <a:t>TARGET AUDIENCE</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17"/>
          </p:nvPr>
        </p:nvSpPr>
        <p:spPr>
          <a:xfrm>
            <a:off x="6673143" y="3070348"/>
            <a:ext cx="4031030" cy="1057308"/>
          </a:xfrm>
        </p:spPr>
        <p:txBody>
          <a:bodyPr/>
          <a:lstStyle/>
          <a:p>
            <a:r>
              <a:rPr lang="en-US" dirty="0"/>
              <a:t>Our target audience is Gen Z (18-25 years old)</a:t>
            </a:r>
          </a:p>
          <a:p>
            <a:endParaRPr lang="en-US" dirty="0"/>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18"/>
          </p:nvPr>
        </p:nvSpPr>
        <p:spPr>
          <a:xfrm>
            <a:off x="1485899" y="4319431"/>
            <a:ext cx="4031945" cy="365125"/>
          </a:xfrm>
        </p:spPr>
        <p:txBody>
          <a:bodyPr>
            <a:normAutofit lnSpcReduction="10000"/>
          </a:bodyPr>
          <a:lstStyle/>
          <a:p>
            <a:r>
              <a:rPr lang="en-US" dirty="0"/>
              <a:t>COST SAVINGS</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19"/>
          </p:nvPr>
        </p:nvSpPr>
        <p:spPr>
          <a:xfrm>
            <a:off x="1486412" y="4826656"/>
            <a:ext cx="4031030" cy="1057308"/>
          </a:xfrm>
        </p:spPr>
        <p:txBody>
          <a:bodyPr/>
          <a:lstStyle/>
          <a:p>
            <a:r>
              <a:rPr lang="en-US" dirty="0"/>
              <a:t>Reduce expenses for replacement products </a:t>
            </a:r>
          </a:p>
          <a:p>
            <a:endParaRPr lang="en-US" dirty="0"/>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23"/>
          </p:nvPr>
        </p:nvSpPr>
        <p:spPr>
          <a:xfrm>
            <a:off x="6672630" y="4319431"/>
            <a:ext cx="4031945" cy="365125"/>
          </a:xfrm>
        </p:spPr>
        <p:txBody>
          <a:bodyPr>
            <a:normAutofit lnSpcReduction="10000"/>
          </a:bodyPr>
          <a:lstStyle/>
          <a:p>
            <a:r>
              <a:rPr lang="en-US" dirty="0"/>
              <a:t>EASY TO USE</a:t>
            </a:r>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24"/>
          </p:nvPr>
        </p:nvSpPr>
        <p:spPr>
          <a:xfrm>
            <a:off x="6673143" y="4826656"/>
            <a:ext cx="4031030" cy="1057308"/>
          </a:xfrm>
        </p:spPr>
        <p:txBody>
          <a:bodyPr/>
          <a:lstStyle/>
          <a:p>
            <a:r>
              <a:rPr lang="en-US" dirty="0"/>
              <a:t>Simple design that gives customers the targeted information they need</a:t>
            </a:r>
          </a:p>
        </p:txBody>
      </p:sp>
      <p:sp>
        <p:nvSpPr>
          <p:cNvPr id="80" name="Date Placeholder 79">
            <a:extLst>
              <a:ext uri="{FF2B5EF4-FFF2-40B4-BE49-F238E27FC236}">
                <a16:creationId xmlns:a16="http://schemas.microsoft.com/office/drawing/2014/main" id="{BC1F9D86-85D8-4FD0-B0D3-47D778722782}"/>
              </a:ext>
            </a:extLst>
          </p:cNvPr>
          <p:cNvSpPr>
            <a:spLocks noGrp="1"/>
          </p:cNvSpPr>
          <p:nvPr>
            <p:ph type="dt" sz="half" idx="20"/>
          </p:nvPr>
        </p:nvSpPr>
        <p:spPr>
          <a:xfrm>
            <a:off x="838200" y="6356350"/>
            <a:ext cx="2743200" cy="365125"/>
          </a:xfrm>
        </p:spPr>
        <p:txBody>
          <a:bodyPr/>
          <a:lstStyle/>
          <a:p>
            <a:r>
              <a:rPr lang="en-US" dirty="0"/>
              <a:t>20XX</a:t>
            </a:r>
          </a:p>
        </p:txBody>
      </p:sp>
      <p:sp>
        <p:nvSpPr>
          <p:cNvPr id="81" name="Footer Placeholder 80">
            <a:extLst>
              <a:ext uri="{FF2B5EF4-FFF2-40B4-BE49-F238E27FC236}">
                <a16:creationId xmlns:a16="http://schemas.microsoft.com/office/drawing/2014/main" id="{E94F1D24-E4A1-4B59-B57E-A28453963B88}"/>
              </a:ext>
            </a:extLst>
          </p:cNvPr>
          <p:cNvSpPr>
            <a:spLocks noGrp="1"/>
          </p:cNvSpPr>
          <p:nvPr>
            <p:ph type="ftr" sz="quarter" idx="21"/>
          </p:nvPr>
        </p:nvSpPr>
        <p:spPr>
          <a:xfrm>
            <a:off x="4038600" y="6356350"/>
            <a:ext cx="4114800" cy="365125"/>
          </a:xfrm>
        </p:spPr>
        <p:txBody>
          <a:bodyPr/>
          <a:lstStyle/>
          <a:p>
            <a:r>
              <a:rPr lang="en-US" dirty="0"/>
              <a:t>Pitch Deck</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13</a:t>
            </a:fld>
            <a:endParaRPr lang="en-US" dirty="0"/>
          </a:p>
        </p:txBody>
      </p:sp>
    </p:spTree>
    <p:extLst>
      <p:ext uri="{BB962C8B-B14F-4D97-AF65-F5344CB8AC3E}">
        <p14:creationId xmlns:p14="http://schemas.microsoft.com/office/powerpoint/2010/main" val="1593920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1362075" y="1671639"/>
            <a:ext cx="5111750" cy="1204912"/>
          </a:xfrm>
        </p:spPr>
        <p:txBody>
          <a:bodyPr/>
          <a:lstStyle/>
          <a:p>
            <a:r>
              <a:rPr lang="en-US" dirty="0"/>
              <a:t>VALIDATION TESTS FOR SELLER SCORECARD MODEL</a:t>
            </a:r>
          </a:p>
        </p:txBody>
      </p:sp>
      <p:sp>
        <p:nvSpPr>
          <p:cNvPr id="3" name="Content Placeholder 2">
            <a:extLst>
              <a:ext uri="{FF2B5EF4-FFF2-40B4-BE49-F238E27FC236}">
                <a16:creationId xmlns:a16="http://schemas.microsoft.com/office/drawing/2014/main" id="{033634FE-ADF0-4BC3-A0A9-447EA9DD096B}"/>
              </a:ext>
            </a:extLst>
          </p:cNvPr>
          <p:cNvSpPr>
            <a:spLocks noGrp="1"/>
          </p:cNvSpPr>
          <p:nvPr>
            <p:ph type="body" idx="1"/>
          </p:nvPr>
        </p:nvSpPr>
        <p:spPr>
          <a:xfrm>
            <a:off x="1362075" y="3660774"/>
            <a:ext cx="5111750" cy="1525588"/>
          </a:xfrm>
        </p:spPr>
        <p:txBody>
          <a:bodyPr vert="horz" lIns="91440" tIns="45720" rIns="91440" bIns="45720" rtlCol="0" anchor="t">
            <a:normAutofit lnSpcReduction="10000"/>
          </a:bodyPr>
          <a:lstStyle/>
          <a:p>
            <a:pPr marL="342900" indent="-342900">
              <a:buAutoNum type="arabicPeriod"/>
            </a:pPr>
            <a:r>
              <a:rPr lang="en-SG" dirty="0" err="1"/>
              <a:t>seller_id</a:t>
            </a:r>
            <a:r>
              <a:rPr lang="en-SG" dirty="0"/>
              <a:t> → Not Null</a:t>
            </a:r>
            <a:br>
              <a:rPr lang="en-SG" dirty="0"/>
            </a:br>
            <a:r>
              <a:rPr lang="en-SG" dirty="0"/>
              <a:t>* Every seller must have a valid ID.2.</a:t>
            </a:r>
          </a:p>
          <a:p>
            <a:pPr marL="342900" indent="-342900">
              <a:buAutoNum type="arabicPeriod"/>
            </a:pPr>
            <a:r>
              <a:rPr lang="en-SG" dirty="0" err="1"/>
              <a:t>total_product_revenue</a:t>
            </a:r>
            <a:r>
              <a:rPr lang="en-SG" dirty="0"/>
              <a:t> ≥ 0</a:t>
            </a:r>
            <a:br>
              <a:rPr lang="en-SG" dirty="0"/>
            </a:br>
            <a:r>
              <a:rPr lang="en-SG" dirty="0"/>
              <a:t>* Revenue cannot be negative.</a:t>
            </a:r>
          </a:p>
          <a:p>
            <a:pPr marL="342900" indent="-342900">
              <a:buAutoNum type="arabicPeriod"/>
            </a:pPr>
            <a:r>
              <a:rPr lang="en-SG" dirty="0" err="1"/>
              <a:t>average_review_score</a:t>
            </a:r>
            <a:r>
              <a:rPr lang="en-SG" dirty="0"/>
              <a:t> between 1 and 5</a:t>
            </a:r>
            <a:br>
              <a:rPr lang="en-SG" dirty="0"/>
            </a:br>
            <a:r>
              <a:rPr lang="en-SG" dirty="0"/>
              <a:t>* Customer ratings must be within the valid range.</a:t>
            </a:r>
            <a:endParaRPr lang="en-US" noProof="1"/>
          </a:p>
        </p:txBody>
      </p:sp>
      <p:sp>
        <p:nvSpPr>
          <p:cNvPr id="4" name="Date Placeholder 3">
            <a:extLst>
              <a:ext uri="{FF2B5EF4-FFF2-40B4-BE49-F238E27FC236}">
                <a16:creationId xmlns:a16="http://schemas.microsoft.com/office/drawing/2014/main" id="{5C2ACA2A-6BBE-47CF-B76F-F56C9DBF77E6}"/>
              </a:ext>
            </a:extLst>
          </p:cNvPr>
          <p:cNvSpPr>
            <a:spLocks noGrp="1"/>
          </p:cNvSpPr>
          <p:nvPr>
            <p:ph type="dt" sz="half" idx="10"/>
          </p:nvPr>
        </p:nvSpPr>
        <p:spPr>
          <a:xfrm>
            <a:off x="838200" y="6356350"/>
            <a:ext cx="2743200" cy="365125"/>
          </a:xfrm>
        </p:spPr>
        <p:txBody>
          <a:bodyPr/>
          <a:lstStyle/>
          <a:p>
            <a:r>
              <a:rPr lang="en-US" dirty="0"/>
              <a:t>20XX</a:t>
            </a:r>
          </a:p>
        </p:txBody>
      </p:sp>
      <p:sp>
        <p:nvSpPr>
          <p:cNvPr id="5" name="Footer Placeholder 4">
            <a:extLst>
              <a:ext uri="{FF2B5EF4-FFF2-40B4-BE49-F238E27FC236}">
                <a16:creationId xmlns:a16="http://schemas.microsoft.com/office/drawing/2014/main" id="{396A095E-DB05-47EC-A2D5-47398A4A00B4}"/>
              </a:ext>
            </a:extLst>
          </p:cNvPr>
          <p:cNvSpPr>
            <a:spLocks noGrp="1"/>
          </p:cNvSpPr>
          <p:nvPr>
            <p:ph type="ftr" sz="quarter" idx="11"/>
          </p:nvPr>
        </p:nvSpPr>
        <p:spPr>
          <a:xfrm>
            <a:off x="5224463" y="6356350"/>
            <a:ext cx="1743075"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14</a:t>
            </a:fld>
            <a:endParaRPr lang="en-US" dirty="0"/>
          </a:p>
        </p:txBody>
      </p:sp>
    </p:spTree>
    <p:extLst>
      <p:ext uri="{BB962C8B-B14F-4D97-AF65-F5344CB8AC3E}">
        <p14:creationId xmlns:p14="http://schemas.microsoft.com/office/powerpoint/2010/main" val="1346372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6991350" y="2571235"/>
            <a:ext cx="4179570" cy="1715531"/>
          </a:xfrm>
        </p:spPr>
        <p:txBody>
          <a:bodyPr/>
          <a:lstStyle/>
          <a:p>
            <a:r>
              <a:rPr lang="en-US" dirty="0"/>
              <a:t>COMPANY OVERVIEW</a:t>
            </a:r>
          </a:p>
        </p:txBody>
      </p:sp>
    </p:spTree>
    <p:extLst>
      <p:ext uri="{BB962C8B-B14F-4D97-AF65-F5344CB8AC3E}">
        <p14:creationId xmlns:p14="http://schemas.microsoft.com/office/powerpoint/2010/main" val="707789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5920169" y="1152771"/>
            <a:ext cx="5431971" cy="846301"/>
          </a:xfrm>
        </p:spPr>
        <p:txBody>
          <a:bodyPr/>
          <a:lstStyle/>
          <a:p>
            <a:r>
              <a:rPr lang="en-US" dirty="0"/>
              <a:t>BUSINESS MODEL</a:t>
            </a:r>
          </a:p>
        </p:txBody>
      </p:sp>
      <p:sp>
        <p:nvSpPr>
          <p:cNvPr id="6" name="Text Placeholder 5">
            <a:extLst>
              <a:ext uri="{FF2B5EF4-FFF2-40B4-BE49-F238E27FC236}">
                <a16:creationId xmlns:a16="http://schemas.microsoft.com/office/drawing/2014/main" id="{7640DF9D-0C9E-4C5D-9635-6B4DE10CCEE5}"/>
              </a:ext>
            </a:extLst>
          </p:cNvPr>
          <p:cNvSpPr>
            <a:spLocks noGrp="1"/>
          </p:cNvSpPr>
          <p:nvPr>
            <p:ph type="body" sz="quarter" idx="13"/>
          </p:nvPr>
        </p:nvSpPr>
        <p:spPr>
          <a:xfrm>
            <a:off x="5922254" y="2469515"/>
            <a:ext cx="5433204" cy="365125"/>
          </a:xfrm>
        </p:spPr>
        <p:txBody>
          <a:bodyPr vert="horz" lIns="91440" tIns="45720" rIns="91440" bIns="45720" rtlCol="0" anchor="t">
            <a:noAutofit/>
          </a:bodyPr>
          <a:lstStyle/>
          <a:p>
            <a:r>
              <a:rPr lang="en-US" noProof="1"/>
              <a:t>ABSTRACT</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5921828" y="2798940"/>
            <a:ext cx="5431971" cy="557950"/>
          </a:xfrm>
        </p:spPr>
        <p:txBody>
          <a:bodyPr>
            <a:normAutofit/>
          </a:bodyPr>
          <a:lstStyle/>
          <a:p>
            <a:r>
              <a:rPr lang="en-US" noProof="1"/>
              <a:t>We based our research on market trends and social media</a:t>
            </a:r>
          </a:p>
        </p:txBody>
      </p:sp>
      <p:sp>
        <p:nvSpPr>
          <p:cNvPr id="8" name="Text Placeholder 7">
            <a:extLst>
              <a:ext uri="{FF2B5EF4-FFF2-40B4-BE49-F238E27FC236}">
                <a16:creationId xmlns:a16="http://schemas.microsoft.com/office/drawing/2014/main" id="{F5C3A7BE-F7FC-4942-A31A-491A8A806103}"/>
              </a:ext>
            </a:extLst>
          </p:cNvPr>
          <p:cNvSpPr>
            <a:spLocks noGrp="1"/>
          </p:cNvSpPr>
          <p:nvPr>
            <p:ph type="body" sz="quarter" idx="23"/>
          </p:nvPr>
        </p:nvSpPr>
        <p:spPr>
          <a:xfrm>
            <a:off x="5922254" y="3569311"/>
            <a:ext cx="5433204" cy="365125"/>
          </a:xfrm>
        </p:spPr>
        <p:txBody>
          <a:bodyPr vert="horz" lIns="91440" tIns="45720" rIns="91440" bIns="45720" rtlCol="0" anchor="t">
            <a:noAutofit/>
          </a:bodyPr>
          <a:lstStyle/>
          <a:p>
            <a:r>
              <a:rPr lang="en-US" noProof="1"/>
              <a:t>DESIGN</a:t>
            </a:r>
          </a:p>
        </p:txBody>
      </p:sp>
      <p:sp>
        <p:nvSpPr>
          <p:cNvPr id="9" name="Text Placeholder 8">
            <a:extLst>
              <a:ext uri="{FF2B5EF4-FFF2-40B4-BE49-F238E27FC236}">
                <a16:creationId xmlns:a16="http://schemas.microsoft.com/office/drawing/2014/main" id="{95CCE699-03D1-4642-B46A-B14EF17DA183}"/>
              </a:ext>
            </a:extLst>
          </p:cNvPr>
          <p:cNvSpPr>
            <a:spLocks noGrp="1"/>
          </p:cNvSpPr>
          <p:nvPr>
            <p:ph type="body" sz="quarter" idx="24"/>
          </p:nvPr>
        </p:nvSpPr>
        <p:spPr>
          <a:xfrm>
            <a:off x="5921828" y="3898736"/>
            <a:ext cx="5431971" cy="557950"/>
          </a:xfrm>
        </p:spPr>
        <p:txBody>
          <a:bodyPr>
            <a:normAutofit/>
          </a:bodyPr>
          <a:lstStyle/>
          <a:p>
            <a:r>
              <a:rPr lang="en-US" noProof="1"/>
              <a:t>We believe people need more products specifically dedicated to this niche market</a:t>
            </a:r>
          </a:p>
        </p:txBody>
      </p:sp>
      <p:sp>
        <p:nvSpPr>
          <p:cNvPr id="10" name="Text Placeholder 9">
            <a:extLst>
              <a:ext uri="{FF2B5EF4-FFF2-40B4-BE49-F238E27FC236}">
                <a16:creationId xmlns:a16="http://schemas.microsoft.com/office/drawing/2014/main" id="{BC1DF189-6F2F-4C21-88CC-C82D3D0D147B}"/>
              </a:ext>
            </a:extLst>
          </p:cNvPr>
          <p:cNvSpPr>
            <a:spLocks noGrp="1"/>
          </p:cNvSpPr>
          <p:nvPr>
            <p:ph type="body" sz="quarter" idx="25"/>
          </p:nvPr>
        </p:nvSpPr>
        <p:spPr>
          <a:xfrm>
            <a:off x="5922254" y="4669107"/>
            <a:ext cx="5433204" cy="365125"/>
          </a:xfrm>
        </p:spPr>
        <p:txBody>
          <a:bodyPr vert="horz" lIns="91440" tIns="45720" rIns="91440" bIns="45720" rtlCol="0" anchor="t">
            <a:normAutofit lnSpcReduction="10000"/>
          </a:bodyPr>
          <a:lstStyle/>
          <a:p>
            <a:r>
              <a:rPr lang="en-US" noProof="1"/>
              <a:t>RESEARCH</a:t>
            </a:r>
          </a:p>
        </p:txBody>
      </p:sp>
      <p:sp>
        <p:nvSpPr>
          <p:cNvPr id="5" name="Text Placeholder 4">
            <a:extLst>
              <a:ext uri="{FF2B5EF4-FFF2-40B4-BE49-F238E27FC236}">
                <a16:creationId xmlns:a16="http://schemas.microsoft.com/office/drawing/2014/main" id="{06E82690-B145-4D4F-B2D1-0B2A8C50FD71}"/>
              </a:ext>
            </a:extLst>
          </p:cNvPr>
          <p:cNvSpPr>
            <a:spLocks noGrp="1"/>
          </p:cNvSpPr>
          <p:nvPr>
            <p:ph type="body" sz="quarter" idx="26"/>
          </p:nvPr>
        </p:nvSpPr>
        <p:spPr>
          <a:xfrm>
            <a:off x="5921828" y="4998532"/>
            <a:ext cx="5431971" cy="557950"/>
          </a:xfrm>
        </p:spPr>
        <p:txBody>
          <a:bodyPr>
            <a:normAutofit/>
          </a:bodyPr>
          <a:lstStyle/>
          <a:p>
            <a:r>
              <a:rPr lang="en-US" noProof="1"/>
              <a:t>Minimalist and easy to use </a:t>
            </a:r>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a:lstStyle/>
          <a:p>
            <a:r>
              <a:rPr lang="en-US" dirty="0"/>
              <a:t>20XX</a:t>
            </a:r>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a:lstStyle/>
          <a:p>
            <a:fld id="{19B51A1E-902D-48AF-9020-955120F399B6}" type="slidenum">
              <a:rPr lang="en-US" smtClean="0"/>
              <a:pPr/>
              <a:t>16</a:t>
            </a:fld>
            <a:endParaRPr lang="en-US" dirty="0"/>
          </a:p>
        </p:txBody>
      </p:sp>
    </p:spTree>
    <p:extLst>
      <p:ext uri="{BB962C8B-B14F-4D97-AF65-F5344CB8AC3E}">
        <p14:creationId xmlns:p14="http://schemas.microsoft.com/office/powerpoint/2010/main" val="2069393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1885156" y="892177"/>
            <a:ext cx="8421688" cy="1325563"/>
          </a:xfrm>
        </p:spPr>
        <p:txBody>
          <a:bodyPr/>
          <a:lstStyle/>
          <a:p>
            <a:r>
              <a:rPr lang="en-US" dirty="0"/>
              <a:t>MARKET OVERVIEW</a:t>
            </a:r>
          </a:p>
        </p:txBody>
      </p:sp>
      <p:sp>
        <p:nvSpPr>
          <p:cNvPr id="4" name="Text Placeholder 3">
            <a:extLst>
              <a:ext uri="{FF2B5EF4-FFF2-40B4-BE49-F238E27FC236}">
                <a16:creationId xmlns:a16="http://schemas.microsoft.com/office/drawing/2014/main" id="{A112B089-A8F9-45B1-BE6E-EAC10163F082}"/>
              </a:ext>
            </a:extLst>
          </p:cNvPr>
          <p:cNvSpPr>
            <a:spLocks noGrp="1"/>
          </p:cNvSpPr>
          <p:nvPr>
            <p:ph type="body" idx="1"/>
          </p:nvPr>
        </p:nvSpPr>
        <p:spPr>
          <a:xfrm>
            <a:off x="1243104" y="2776936"/>
            <a:ext cx="2882475" cy="823912"/>
          </a:xfrm>
        </p:spPr>
        <p:txBody>
          <a:bodyPr/>
          <a:lstStyle/>
          <a:p>
            <a:r>
              <a:rPr lang="en-US" dirty="0"/>
              <a:t>$3 Billion</a:t>
            </a:r>
          </a:p>
        </p:txBody>
      </p:sp>
      <p:sp>
        <p:nvSpPr>
          <p:cNvPr id="7" name="Content Placeholder 6">
            <a:extLst>
              <a:ext uri="{FF2B5EF4-FFF2-40B4-BE49-F238E27FC236}">
                <a16:creationId xmlns:a16="http://schemas.microsoft.com/office/drawing/2014/main" id="{6B35F89A-6CDF-41F7-BD87-18B45BD7330B}"/>
              </a:ext>
            </a:extLst>
          </p:cNvPr>
          <p:cNvSpPr>
            <a:spLocks noGrp="1"/>
          </p:cNvSpPr>
          <p:nvPr>
            <p:ph sz="half" idx="2"/>
          </p:nvPr>
        </p:nvSpPr>
        <p:spPr>
          <a:xfrm>
            <a:off x="1243104" y="3834606"/>
            <a:ext cx="2882475" cy="1997867"/>
          </a:xfrm>
        </p:spPr>
        <p:txBody>
          <a:bodyPr vert="horz" lIns="91440" tIns="45720" rIns="91440" bIns="45720" rtlCol="0" anchor="t">
            <a:normAutofit/>
          </a:bodyPr>
          <a:lstStyle/>
          <a:p>
            <a:r>
              <a:rPr lang="en-US" noProof="1"/>
              <a:t>Freedom to invent</a:t>
            </a:r>
            <a:endParaRPr lang="en-US" dirty="0"/>
          </a:p>
          <a:p>
            <a:r>
              <a:rPr lang="en-US" noProof="1"/>
              <a:t>Selectively inclusive market</a:t>
            </a:r>
          </a:p>
          <a:p>
            <a:r>
              <a:rPr lang="en-US" noProof="1"/>
              <a:t>Serviceable available market</a:t>
            </a:r>
          </a:p>
          <a:p>
            <a:endParaRPr lang="en-US" noProof="1"/>
          </a:p>
        </p:txBody>
      </p:sp>
      <p:sp>
        <p:nvSpPr>
          <p:cNvPr id="6" name="Text Placeholder 5">
            <a:extLst>
              <a:ext uri="{FF2B5EF4-FFF2-40B4-BE49-F238E27FC236}">
                <a16:creationId xmlns:a16="http://schemas.microsoft.com/office/drawing/2014/main" id="{0FE22F9B-4BF8-41DC-8F1C-836B546E59AD}"/>
              </a:ext>
            </a:extLst>
          </p:cNvPr>
          <p:cNvSpPr>
            <a:spLocks noGrp="1"/>
          </p:cNvSpPr>
          <p:nvPr>
            <p:ph type="body" sz="quarter" idx="3"/>
          </p:nvPr>
        </p:nvSpPr>
        <p:spPr>
          <a:xfrm>
            <a:off x="4647665" y="2776936"/>
            <a:ext cx="2896671" cy="823912"/>
          </a:xfrm>
        </p:spPr>
        <p:txBody>
          <a:bodyPr/>
          <a:lstStyle/>
          <a:p>
            <a:r>
              <a:rPr lang="en-US" dirty="0"/>
              <a:t>$1 Billion</a:t>
            </a:r>
          </a:p>
        </p:txBody>
      </p:sp>
      <p:sp>
        <p:nvSpPr>
          <p:cNvPr id="3" name="Text Placeholder 2">
            <a:extLst>
              <a:ext uri="{FF2B5EF4-FFF2-40B4-BE49-F238E27FC236}">
                <a16:creationId xmlns:a16="http://schemas.microsoft.com/office/drawing/2014/main" id="{D5E1C399-8F48-44F5-9461-3C89866D4CE1}"/>
              </a:ext>
            </a:extLst>
          </p:cNvPr>
          <p:cNvSpPr>
            <a:spLocks noGrp="1"/>
          </p:cNvSpPr>
          <p:nvPr>
            <p:ph sz="quarter" idx="4"/>
          </p:nvPr>
        </p:nvSpPr>
        <p:spPr>
          <a:xfrm>
            <a:off x="4647665" y="3834606"/>
            <a:ext cx="2896671" cy="1997867"/>
          </a:xfrm>
        </p:spPr>
        <p:txBody>
          <a:bodyPr/>
          <a:lstStyle/>
          <a:p>
            <a:r>
              <a:rPr lang="en-US" dirty="0"/>
              <a:t>Opportunity to build</a:t>
            </a:r>
          </a:p>
          <a:p>
            <a:r>
              <a:rPr lang="en-US" dirty="0"/>
              <a:t>Fully inclusive market</a:t>
            </a:r>
          </a:p>
          <a:p>
            <a:r>
              <a:rPr lang="en-US" dirty="0"/>
              <a:t>Total addressable market</a:t>
            </a:r>
          </a:p>
        </p:txBody>
      </p:sp>
      <p:sp>
        <p:nvSpPr>
          <p:cNvPr id="5" name="Content Placeholder 4">
            <a:extLst>
              <a:ext uri="{FF2B5EF4-FFF2-40B4-BE49-F238E27FC236}">
                <a16:creationId xmlns:a16="http://schemas.microsoft.com/office/drawing/2014/main" id="{CF515C5D-2CDB-4E66-B2B8-1451BC44247F}"/>
              </a:ext>
            </a:extLst>
          </p:cNvPr>
          <p:cNvSpPr>
            <a:spLocks noGrp="1"/>
          </p:cNvSpPr>
          <p:nvPr>
            <p:ph type="body" idx="13"/>
          </p:nvPr>
        </p:nvSpPr>
        <p:spPr>
          <a:xfrm>
            <a:off x="8066421" y="2776936"/>
            <a:ext cx="2882475" cy="823912"/>
          </a:xfrm>
        </p:spPr>
        <p:txBody>
          <a:bodyPr vert="horz" lIns="91440" tIns="45720" rIns="91440" bIns="45720" rtlCol="0" anchor="b">
            <a:normAutofit/>
          </a:bodyPr>
          <a:lstStyle/>
          <a:p>
            <a:r>
              <a:rPr lang="en-US" dirty="0"/>
              <a:t>$2 Billion</a:t>
            </a:r>
          </a:p>
        </p:txBody>
      </p:sp>
      <p:sp>
        <p:nvSpPr>
          <p:cNvPr id="8" name="Text Placeholder 7">
            <a:extLst>
              <a:ext uri="{FF2B5EF4-FFF2-40B4-BE49-F238E27FC236}">
                <a16:creationId xmlns:a16="http://schemas.microsoft.com/office/drawing/2014/main" id="{E92B9716-8D44-4864-8986-720957B34362}"/>
              </a:ext>
            </a:extLst>
          </p:cNvPr>
          <p:cNvSpPr>
            <a:spLocks noGrp="1"/>
          </p:cNvSpPr>
          <p:nvPr>
            <p:ph sz="half" idx="14"/>
          </p:nvPr>
        </p:nvSpPr>
        <p:spPr>
          <a:xfrm>
            <a:off x="8066421" y="3834606"/>
            <a:ext cx="2882475" cy="1997867"/>
          </a:xfrm>
        </p:spPr>
        <p:txBody>
          <a:bodyPr/>
          <a:lstStyle/>
          <a:p>
            <a:r>
              <a:rPr lang="en-US" noProof="1"/>
              <a:t>Few competitors</a:t>
            </a:r>
          </a:p>
          <a:p>
            <a:r>
              <a:rPr lang="en-US" noProof="1"/>
              <a:t>Specifically targeted market</a:t>
            </a:r>
          </a:p>
          <a:p>
            <a:r>
              <a:rPr lang="en-US" noProof="1"/>
              <a:t>Serviceable obtainable market</a:t>
            </a:r>
            <a:endParaRPr lang="en-US" dirty="0"/>
          </a:p>
          <a:p>
            <a:endParaRPr lang="en-US" dirty="0"/>
          </a:p>
        </p:txBody>
      </p:sp>
      <p:sp>
        <p:nvSpPr>
          <p:cNvPr id="9" name="Date Placeholder 8">
            <a:extLst>
              <a:ext uri="{FF2B5EF4-FFF2-40B4-BE49-F238E27FC236}">
                <a16:creationId xmlns:a16="http://schemas.microsoft.com/office/drawing/2014/main" id="{7B78F7A0-88C5-4940-B21C-099F472F39F9}"/>
              </a:ext>
            </a:extLst>
          </p:cNvPr>
          <p:cNvSpPr>
            <a:spLocks noGrp="1"/>
          </p:cNvSpPr>
          <p:nvPr>
            <p:ph type="dt" sz="half" idx="10"/>
          </p:nvPr>
        </p:nvSpPr>
        <p:spPr>
          <a:xfrm>
            <a:off x="838200" y="6356350"/>
            <a:ext cx="2743200" cy="365125"/>
          </a:xfrm>
        </p:spPr>
        <p:txBody>
          <a:bodyPr/>
          <a:lstStyle/>
          <a:p>
            <a:r>
              <a:rPr lang="en-US" dirty="0"/>
              <a:t>20XX</a:t>
            </a:r>
          </a:p>
        </p:txBody>
      </p:sp>
      <p:sp>
        <p:nvSpPr>
          <p:cNvPr id="10" name="Footer Placeholder 9">
            <a:extLst>
              <a:ext uri="{FF2B5EF4-FFF2-40B4-BE49-F238E27FC236}">
                <a16:creationId xmlns:a16="http://schemas.microsoft.com/office/drawing/2014/main" id="{D2186069-FC8E-433D-9BB4-942220CE8CFB}"/>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17</a:t>
            </a:fld>
            <a:endParaRPr lang="en-US" dirty="0"/>
          </a:p>
        </p:txBody>
      </p:sp>
    </p:spTree>
    <p:extLst>
      <p:ext uri="{BB962C8B-B14F-4D97-AF65-F5344CB8AC3E}">
        <p14:creationId xmlns:p14="http://schemas.microsoft.com/office/powerpoint/2010/main" val="2121178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4BC4F-3D59-464A-857E-6F155B368ED7}"/>
              </a:ext>
            </a:extLst>
          </p:cNvPr>
          <p:cNvSpPr>
            <a:spLocks noGrp="1"/>
          </p:cNvSpPr>
          <p:nvPr>
            <p:ph type="title"/>
          </p:nvPr>
        </p:nvSpPr>
        <p:spPr>
          <a:xfrm>
            <a:off x="1885156" y="892177"/>
            <a:ext cx="8421688" cy="1325563"/>
          </a:xfrm>
        </p:spPr>
        <p:txBody>
          <a:bodyPr/>
          <a:lstStyle/>
          <a:p>
            <a:r>
              <a:rPr lang="en-US" dirty="0"/>
              <a:t>Market comparison</a:t>
            </a:r>
          </a:p>
        </p:txBody>
      </p:sp>
      <p:sp>
        <p:nvSpPr>
          <p:cNvPr id="9" name="Text Placeholder 8">
            <a:extLst>
              <a:ext uri="{FF2B5EF4-FFF2-40B4-BE49-F238E27FC236}">
                <a16:creationId xmlns:a16="http://schemas.microsoft.com/office/drawing/2014/main" id="{8C1455DF-5CEC-44A2-A92D-8E901D15B7CC}"/>
              </a:ext>
            </a:extLst>
          </p:cNvPr>
          <p:cNvSpPr>
            <a:spLocks noGrp="1"/>
          </p:cNvSpPr>
          <p:nvPr>
            <p:ph type="body" idx="1"/>
          </p:nvPr>
        </p:nvSpPr>
        <p:spPr>
          <a:xfrm>
            <a:off x="2063855" y="3064615"/>
            <a:ext cx="1240971" cy="823912"/>
          </a:xfrm>
        </p:spPr>
        <p:txBody>
          <a:bodyPr/>
          <a:lstStyle/>
          <a:p>
            <a:r>
              <a:rPr lang="en-US" dirty="0"/>
              <a:t>$3B</a:t>
            </a:r>
          </a:p>
        </p:txBody>
      </p:sp>
      <p:sp>
        <p:nvSpPr>
          <p:cNvPr id="10" name="Text Placeholder 9">
            <a:extLst>
              <a:ext uri="{FF2B5EF4-FFF2-40B4-BE49-F238E27FC236}">
                <a16:creationId xmlns:a16="http://schemas.microsoft.com/office/drawing/2014/main" id="{7C7E7B18-D05F-4C44-8718-8C671160FC98}"/>
              </a:ext>
            </a:extLst>
          </p:cNvPr>
          <p:cNvSpPr>
            <a:spLocks noGrp="1"/>
          </p:cNvSpPr>
          <p:nvPr>
            <p:ph type="body" idx="15"/>
          </p:nvPr>
        </p:nvSpPr>
        <p:spPr>
          <a:xfrm>
            <a:off x="5475514" y="3064615"/>
            <a:ext cx="1240971" cy="823912"/>
          </a:xfrm>
        </p:spPr>
        <p:txBody>
          <a:bodyPr/>
          <a:lstStyle/>
          <a:p>
            <a:r>
              <a:rPr lang="en-US" dirty="0"/>
              <a:t>$2B</a:t>
            </a:r>
          </a:p>
        </p:txBody>
      </p:sp>
      <p:sp>
        <p:nvSpPr>
          <p:cNvPr id="11" name="Text Placeholder 10">
            <a:extLst>
              <a:ext uri="{FF2B5EF4-FFF2-40B4-BE49-F238E27FC236}">
                <a16:creationId xmlns:a16="http://schemas.microsoft.com/office/drawing/2014/main" id="{C4EAD5C6-02F0-4D27-8D85-1BD5EA833D6F}"/>
              </a:ext>
            </a:extLst>
          </p:cNvPr>
          <p:cNvSpPr>
            <a:spLocks noGrp="1"/>
          </p:cNvSpPr>
          <p:nvPr>
            <p:ph type="body" idx="16"/>
          </p:nvPr>
        </p:nvSpPr>
        <p:spPr>
          <a:xfrm>
            <a:off x="8887174" y="3064615"/>
            <a:ext cx="1240971" cy="823912"/>
          </a:xfrm>
        </p:spPr>
        <p:txBody>
          <a:bodyPr/>
          <a:lstStyle/>
          <a:p>
            <a:r>
              <a:rPr lang="en-US" dirty="0"/>
              <a:t>$1B</a:t>
            </a:r>
          </a:p>
        </p:txBody>
      </p:sp>
      <p:sp>
        <p:nvSpPr>
          <p:cNvPr id="19" name="Content Placeholder 18">
            <a:extLst>
              <a:ext uri="{FF2B5EF4-FFF2-40B4-BE49-F238E27FC236}">
                <a16:creationId xmlns:a16="http://schemas.microsoft.com/office/drawing/2014/main" id="{791D6145-F7F7-43DE-A16B-BF4F9607D4E8}"/>
              </a:ext>
            </a:extLst>
          </p:cNvPr>
          <p:cNvSpPr>
            <a:spLocks noGrp="1"/>
          </p:cNvSpPr>
          <p:nvPr>
            <p:ph sz="half" idx="2"/>
          </p:nvPr>
        </p:nvSpPr>
        <p:spPr>
          <a:xfrm>
            <a:off x="1129698" y="4824188"/>
            <a:ext cx="3124093" cy="462927"/>
          </a:xfrm>
        </p:spPr>
        <p:txBody>
          <a:bodyPr/>
          <a:lstStyle/>
          <a:p>
            <a:r>
              <a:rPr lang="en-US" dirty="0"/>
              <a:t>Opportunity to build</a:t>
            </a:r>
          </a:p>
        </p:txBody>
      </p:sp>
      <p:sp>
        <p:nvSpPr>
          <p:cNvPr id="20" name="Content Placeholder 19">
            <a:extLst>
              <a:ext uri="{FF2B5EF4-FFF2-40B4-BE49-F238E27FC236}">
                <a16:creationId xmlns:a16="http://schemas.microsoft.com/office/drawing/2014/main" id="{BC46925A-8382-42EB-891C-DBB4EAAA33F8}"/>
              </a:ext>
            </a:extLst>
          </p:cNvPr>
          <p:cNvSpPr>
            <a:spLocks noGrp="1"/>
          </p:cNvSpPr>
          <p:nvPr>
            <p:ph sz="quarter" idx="4"/>
          </p:nvPr>
        </p:nvSpPr>
        <p:spPr>
          <a:xfrm>
            <a:off x="4526261" y="4824188"/>
            <a:ext cx="3139479" cy="462927"/>
          </a:xfrm>
        </p:spPr>
        <p:txBody>
          <a:bodyPr/>
          <a:lstStyle/>
          <a:p>
            <a:r>
              <a:rPr lang="en-US" dirty="0"/>
              <a:t>Freedom to invent</a:t>
            </a:r>
          </a:p>
        </p:txBody>
      </p:sp>
      <p:sp>
        <p:nvSpPr>
          <p:cNvPr id="21" name="Content Placeholder 20">
            <a:extLst>
              <a:ext uri="{FF2B5EF4-FFF2-40B4-BE49-F238E27FC236}">
                <a16:creationId xmlns:a16="http://schemas.microsoft.com/office/drawing/2014/main" id="{318AFADE-B54F-4988-8000-B9336A395336}"/>
              </a:ext>
            </a:extLst>
          </p:cNvPr>
          <p:cNvSpPr>
            <a:spLocks noGrp="1"/>
          </p:cNvSpPr>
          <p:nvPr>
            <p:ph sz="half" idx="14"/>
          </p:nvPr>
        </p:nvSpPr>
        <p:spPr>
          <a:xfrm>
            <a:off x="7938210" y="4824188"/>
            <a:ext cx="3124093" cy="462927"/>
          </a:xfrm>
        </p:spPr>
        <p:txBody>
          <a:bodyPr/>
          <a:lstStyle/>
          <a:p>
            <a:r>
              <a:rPr lang="en-US" dirty="0"/>
              <a:t>Few competitors</a:t>
            </a:r>
          </a:p>
        </p:txBody>
      </p:sp>
      <p:sp>
        <p:nvSpPr>
          <p:cNvPr id="22" name="Content Placeholder 21">
            <a:extLst>
              <a:ext uri="{FF2B5EF4-FFF2-40B4-BE49-F238E27FC236}">
                <a16:creationId xmlns:a16="http://schemas.microsoft.com/office/drawing/2014/main" id="{F296843C-0ED0-4314-A6F0-DD60C828DDFB}"/>
              </a:ext>
            </a:extLst>
          </p:cNvPr>
          <p:cNvSpPr>
            <a:spLocks noGrp="1"/>
          </p:cNvSpPr>
          <p:nvPr>
            <p:ph sz="half" idx="17"/>
          </p:nvPr>
        </p:nvSpPr>
        <p:spPr>
          <a:xfrm>
            <a:off x="1129698" y="5280763"/>
            <a:ext cx="3124093" cy="462927"/>
          </a:xfrm>
        </p:spPr>
        <p:txBody>
          <a:bodyPr/>
          <a:lstStyle/>
          <a:p>
            <a:r>
              <a:rPr lang="en-US" dirty="0"/>
              <a:t>Addressable market</a:t>
            </a:r>
          </a:p>
        </p:txBody>
      </p:sp>
      <p:sp>
        <p:nvSpPr>
          <p:cNvPr id="23" name="Content Placeholder 22">
            <a:extLst>
              <a:ext uri="{FF2B5EF4-FFF2-40B4-BE49-F238E27FC236}">
                <a16:creationId xmlns:a16="http://schemas.microsoft.com/office/drawing/2014/main" id="{649BF20C-562E-400E-BEA6-1D5F81F2FE44}"/>
              </a:ext>
            </a:extLst>
          </p:cNvPr>
          <p:cNvSpPr>
            <a:spLocks noGrp="1"/>
          </p:cNvSpPr>
          <p:nvPr>
            <p:ph sz="quarter" idx="18"/>
          </p:nvPr>
        </p:nvSpPr>
        <p:spPr>
          <a:xfrm>
            <a:off x="4526261" y="5280763"/>
            <a:ext cx="3139479" cy="462927"/>
          </a:xfrm>
        </p:spPr>
        <p:txBody>
          <a:bodyPr/>
          <a:lstStyle/>
          <a:p>
            <a:r>
              <a:rPr lang="en-US" dirty="0"/>
              <a:t>Serviceable market</a:t>
            </a:r>
          </a:p>
        </p:txBody>
      </p:sp>
      <p:sp>
        <p:nvSpPr>
          <p:cNvPr id="24" name="Content Placeholder 23">
            <a:extLst>
              <a:ext uri="{FF2B5EF4-FFF2-40B4-BE49-F238E27FC236}">
                <a16:creationId xmlns:a16="http://schemas.microsoft.com/office/drawing/2014/main" id="{5AA25980-D334-4FC0-9091-936E53B8D321}"/>
              </a:ext>
            </a:extLst>
          </p:cNvPr>
          <p:cNvSpPr>
            <a:spLocks noGrp="1"/>
          </p:cNvSpPr>
          <p:nvPr>
            <p:ph sz="half" idx="19"/>
          </p:nvPr>
        </p:nvSpPr>
        <p:spPr>
          <a:xfrm>
            <a:off x="7938210" y="5280763"/>
            <a:ext cx="3124093" cy="462927"/>
          </a:xfrm>
        </p:spPr>
        <p:txBody>
          <a:bodyPr/>
          <a:lstStyle/>
          <a:p>
            <a:r>
              <a:rPr lang="en-US" dirty="0"/>
              <a:t>Obtainable market</a:t>
            </a:r>
          </a:p>
        </p:txBody>
      </p:sp>
      <p:sp>
        <p:nvSpPr>
          <p:cNvPr id="5" name="Date Placeholder 4">
            <a:extLst>
              <a:ext uri="{FF2B5EF4-FFF2-40B4-BE49-F238E27FC236}">
                <a16:creationId xmlns:a16="http://schemas.microsoft.com/office/drawing/2014/main" id="{79C22D8C-87A6-47AD-8D29-FBBA539EDBE2}"/>
              </a:ext>
            </a:extLst>
          </p:cNvPr>
          <p:cNvSpPr>
            <a:spLocks noGrp="1"/>
          </p:cNvSpPr>
          <p:nvPr>
            <p:ph type="dt" sz="half" idx="10"/>
          </p:nvPr>
        </p:nvSpPr>
        <p:spPr>
          <a:xfrm>
            <a:off x="838200" y="6356350"/>
            <a:ext cx="2743200" cy="365125"/>
          </a:xfrm>
        </p:spPr>
        <p:txBody>
          <a:bodyPr/>
          <a:lstStyle/>
          <a:p>
            <a:r>
              <a:rPr lang="en-US" dirty="0"/>
              <a:t>20XX</a:t>
            </a:r>
          </a:p>
        </p:txBody>
      </p:sp>
      <p:sp>
        <p:nvSpPr>
          <p:cNvPr id="6" name="Footer Placeholder 5">
            <a:extLst>
              <a:ext uri="{FF2B5EF4-FFF2-40B4-BE49-F238E27FC236}">
                <a16:creationId xmlns:a16="http://schemas.microsoft.com/office/drawing/2014/main" id="{4D346909-C2E0-4F1D-90FC-F5E1D8DFB515}"/>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7" name="Slide Number Placeholder 6">
            <a:extLst>
              <a:ext uri="{FF2B5EF4-FFF2-40B4-BE49-F238E27FC236}">
                <a16:creationId xmlns:a16="http://schemas.microsoft.com/office/drawing/2014/main" id="{EBC02F21-4E3C-469E-B11C-9214231082D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18</a:t>
            </a:fld>
            <a:endParaRPr lang="en-US" dirty="0"/>
          </a:p>
        </p:txBody>
      </p:sp>
    </p:spTree>
    <p:extLst>
      <p:ext uri="{BB962C8B-B14F-4D97-AF65-F5344CB8AC3E}">
        <p14:creationId xmlns:p14="http://schemas.microsoft.com/office/powerpoint/2010/main" val="404854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2933700" y="892177"/>
            <a:ext cx="8421688" cy="1325563"/>
          </a:xfrm>
        </p:spPr>
        <p:txBody>
          <a:bodyPr/>
          <a:lstStyle/>
          <a:p>
            <a:r>
              <a:rPr lang="en-US" dirty="0"/>
              <a:t>OUR COMPETITION</a:t>
            </a:r>
          </a:p>
        </p:txBody>
      </p:sp>
      <p:sp>
        <p:nvSpPr>
          <p:cNvPr id="5" name="Text Placeholder 4">
            <a:extLst>
              <a:ext uri="{FF2B5EF4-FFF2-40B4-BE49-F238E27FC236}">
                <a16:creationId xmlns:a16="http://schemas.microsoft.com/office/drawing/2014/main" id="{F8657664-A458-4DDD-ACC2-1D87FCD6FCA9}"/>
              </a:ext>
            </a:extLst>
          </p:cNvPr>
          <p:cNvSpPr>
            <a:spLocks noGrp="1"/>
          </p:cNvSpPr>
          <p:nvPr>
            <p:ph type="body" idx="1"/>
          </p:nvPr>
        </p:nvSpPr>
        <p:spPr>
          <a:xfrm>
            <a:off x="2933700" y="2776936"/>
            <a:ext cx="3924300" cy="823912"/>
          </a:xfrm>
        </p:spPr>
        <p:txBody>
          <a:bodyPr/>
          <a:lstStyle/>
          <a:p>
            <a:r>
              <a:rPr lang="en-US" dirty="0"/>
              <a:t>CONTOSO</a:t>
            </a:r>
          </a:p>
        </p:txBody>
      </p:sp>
      <p:sp>
        <p:nvSpPr>
          <p:cNvPr id="6" name="Content Placeholder 5">
            <a:extLst>
              <a:ext uri="{FF2B5EF4-FFF2-40B4-BE49-F238E27FC236}">
                <a16:creationId xmlns:a16="http://schemas.microsoft.com/office/drawing/2014/main" id="{5A6B31B0-7B84-475D-961F-09C0191F91A2}"/>
              </a:ext>
            </a:extLst>
          </p:cNvPr>
          <p:cNvSpPr>
            <a:spLocks noGrp="1"/>
          </p:cNvSpPr>
          <p:nvPr>
            <p:ph sz="half" idx="2"/>
          </p:nvPr>
        </p:nvSpPr>
        <p:spPr>
          <a:xfrm>
            <a:off x="2933700" y="3834606"/>
            <a:ext cx="3924300" cy="1997867"/>
          </a:xfrm>
        </p:spPr>
        <p:txBody>
          <a:bodyPr vert="horz" lIns="91440" tIns="45720" rIns="91440" bIns="45720" rtlCol="0" anchor="t">
            <a:normAutofit/>
          </a:bodyPr>
          <a:lstStyle/>
          <a:p>
            <a:r>
              <a:rPr lang="en-US" noProof="1"/>
              <a:t>Our product is priced below that of other companies on the market</a:t>
            </a:r>
          </a:p>
          <a:p>
            <a:r>
              <a:rPr lang="en-US" noProof="1"/>
              <a:t>Design is simple and easy to use, compared to the complex designs of the competitors</a:t>
            </a:r>
          </a:p>
          <a:p>
            <a:r>
              <a:rPr lang="en-US" noProof="1"/>
              <a:t>Affordability is the main draw for our consumers to our product</a:t>
            </a:r>
          </a:p>
        </p:txBody>
      </p:sp>
      <p:sp>
        <p:nvSpPr>
          <p:cNvPr id="7" name="Text Placeholder 6">
            <a:extLst>
              <a:ext uri="{FF2B5EF4-FFF2-40B4-BE49-F238E27FC236}">
                <a16:creationId xmlns:a16="http://schemas.microsoft.com/office/drawing/2014/main" id="{578017FE-712E-4E95-B483-B700F1AA4B2A}"/>
              </a:ext>
            </a:extLst>
          </p:cNvPr>
          <p:cNvSpPr>
            <a:spLocks noGrp="1"/>
          </p:cNvSpPr>
          <p:nvPr>
            <p:ph type="body" sz="quarter" idx="3"/>
          </p:nvPr>
        </p:nvSpPr>
        <p:spPr>
          <a:xfrm>
            <a:off x="7410173" y="2776936"/>
            <a:ext cx="3943627" cy="823912"/>
          </a:xfrm>
        </p:spPr>
        <p:txBody>
          <a:bodyPr/>
          <a:lstStyle/>
          <a:p>
            <a:r>
              <a:rPr lang="en-US" dirty="0"/>
              <a:t>COMPETITORS</a:t>
            </a:r>
          </a:p>
        </p:txBody>
      </p:sp>
      <p:sp>
        <p:nvSpPr>
          <p:cNvPr id="11" name="Content Placeholder 10">
            <a:extLst>
              <a:ext uri="{FF2B5EF4-FFF2-40B4-BE49-F238E27FC236}">
                <a16:creationId xmlns:a16="http://schemas.microsoft.com/office/drawing/2014/main" id="{D0E0ACA0-9139-4C37-920D-BF3C1FF461C1}"/>
              </a:ext>
            </a:extLst>
          </p:cNvPr>
          <p:cNvSpPr>
            <a:spLocks noGrp="1"/>
          </p:cNvSpPr>
          <p:nvPr>
            <p:ph sz="quarter" idx="4"/>
          </p:nvPr>
        </p:nvSpPr>
        <p:spPr>
          <a:xfrm>
            <a:off x="7410173" y="3834606"/>
            <a:ext cx="3943627" cy="1997867"/>
          </a:xfrm>
        </p:spPr>
        <p:txBody>
          <a:bodyPr/>
          <a:lstStyle/>
          <a:p>
            <a:r>
              <a:rPr lang="en-US" noProof="1"/>
              <a:t>Company A</a:t>
            </a:r>
            <a:br>
              <a:rPr lang="en-US" noProof="1"/>
            </a:br>
            <a:r>
              <a:rPr lang="en-US" noProof="1"/>
              <a:t>Product is more expensive</a:t>
            </a:r>
          </a:p>
          <a:p>
            <a:r>
              <a:rPr lang="en-US" noProof="1"/>
              <a:t>Companies B &amp; C </a:t>
            </a:r>
            <a:br>
              <a:rPr lang="en-US" noProof="1"/>
            </a:br>
            <a:r>
              <a:rPr lang="en-US" noProof="1"/>
              <a:t>Product is expensive and inconvenient to use</a:t>
            </a:r>
          </a:p>
          <a:p>
            <a:r>
              <a:rPr lang="en-US" noProof="1"/>
              <a:t>Companies D &amp; E</a:t>
            </a:r>
            <a:br>
              <a:rPr lang="en-US" noProof="1"/>
            </a:br>
            <a:r>
              <a:rPr lang="en-US" noProof="1"/>
              <a:t>Product is affordable, but inconvenient to use</a:t>
            </a:r>
          </a:p>
        </p:txBody>
      </p:sp>
      <p:sp>
        <p:nvSpPr>
          <p:cNvPr id="12" name="Date Placeholder 11">
            <a:extLst>
              <a:ext uri="{FF2B5EF4-FFF2-40B4-BE49-F238E27FC236}">
                <a16:creationId xmlns:a16="http://schemas.microsoft.com/office/drawing/2014/main" id="{5909F2DC-F097-42AB-88E7-0CA09BD5E2C2}"/>
              </a:ext>
            </a:extLst>
          </p:cNvPr>
          <p:cNvSpPr>
            <a:spLocks noGrp="1"/>
          </p:cNvSpPr>
          <p:nvPr>
            <p:ph type="dt" sz="half" idx="10"/>
          </p:nvPr>
        </p:nvSpPr>
        <p:spPr>
          <a:xfrm>
            <a:off x="838200" y="6356350"/>
            <a:ext cx="2743200" cy="365125"/>
          </a:xfrm>
        </p:spPr>
        <p:txBody>
          <a:bodyPr/>
          <a:lstStyle/>
          <a:p>
            <a:r>
              <a:rPr lang="en-US" dirty="0"/>
              <a:t>20XX</a:t>
            </a:r>
          </a:p>
        </p:txBody>
      </p:sp>
      <p:sp>
        <p:nvSpPr>
          <p:cNvPr id="13" name="Footer Placeholder 12">
            <a:extLst>
              <a:ext uri="{FF2B5EF4-FFF2-40B4-BE49-F238E27FC236}">
                <a16:creationId xmlns:a16="http://schemas.microsoft.com/office/drawing/2014/main" id="{F4A37AA9-0BEE-42AC-8CC0-AE5B8663553A}"/>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14" name="Slide Number Placeholder 13">
            <a:extLst>
              <a:ext uri="{FF2B5EF4-FFF2-40B4-BE49-F238E27FC236}">
                <a16:creationId xmlns:a16="http://schemas.microsoft.com/office/drawing/2014/main" id="{42152A75-1CD2-44EC-9374-C83D4604A5DD}"/>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19</a:t>
            </a:fld>
            <a:endParaRPr lang="en-US" dirty="0"/>
          </a:p>
        </p:txBody>
      </p:sp>
    </p:spTree>
    <p:extLst>
      <p:ext uri="{BB962C8B-B14F-4D97-AF65-F5344CB8AC3E}">
        <p14:creationId xmlns:p14="http://schemas.microsoft.com/office/powerpoint/2010/main" val="4151694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C0770-A36E-4500-AA2E-F3DE8416AD1E}"/>
              </a:ext>
            </a:extLst>
          </p:cNvPr>
          <p:cNvSpPr>
            <a:spLocks noGrp="1"/>
          </p:cNvSpPr>
          <p:nvPr>
            <p:ph type="title"/>
          </p:nvPr>
        </p:nvSpPr>
        <p:spPr>
          <a:xfrm>
            <a:off x="838200" y="365125"/>
            <a:ext cx="10515600" cy="1325563"/>
          </a:xfrm>
        </p:spPr>
        <p:txBody>
          <a:bodyPr/>
          <a:lstStyle/>
          <a:p>
            <a:r>
              <a:rPr lang="en-US" dirty="0"/>
              <a:t>Our competition  </a:t>
            </a:r>
          </a:p>
        </p:txBody>
      </p:sp>
      <p:sp>
        <p:nvSpPr>
          <p:cNvPr id="5" name="Text Placeholder 4">
            <a:extLst>
              <a:ext uri="{FF2B5EF4-FFF2-40B4-BE49-F238E27FC236}">
                <a16:creationId xmlns:a16="http://schemas.microsoft.com/office/drawing/2014/main" id="{AB97FAAF-FD5C-4EDE-A2D8-148266453488}"/>
              </a:ext>
            </a:extLst>
          </p:cNvPr>
          <p:cNvSpPr>
            <a:spLocks noGrp="1"/>
          </p:cNvSpPr>
          <p:nvPr>
            <p:ph type="body" sz="quarter" idx="15"/>
          </p:nvPr>
        </p:nvSpPr>
        <p:spPr>
          <a:xfrm>
            <a:off x="5242517" y="1599947"/>
            <a:ext cx="1706965" cy="492025"/>
          </a:xfrm>
        </p:spPr>
        <p:txBody>
          <a:bodyPr>
            <a:normAutofit/>
          </a:bodyPr>
          <a:lstStyle/>
          <a:p>
            <a:r>
              <a:rPr lang="en-US" dirty="0"/>
              <a:t>Convenient</a:t>
            </a:r>
          </a:p>
        </p:txBody>
      </p:sp>
      <p:sp>
        <p:nvSpPr>
          <p:cNvPr id="8" name="Text Placeholder 7">
            <a:extLst>
              <a:ext uri="{FF2B5EF4-FFF2-40B4-BE49-F238E27FC236}">
                <a16:creationId xmlns:a16="http://schemas.microsoft.com/office/drawing/2014/main" id="{B2F06784-6A30-4941-B70A-A58B611950D4}"/>
              </a:ext>
            </a:extLst>
          </p:cNvPr>
          <p:cNvSpPr>
            <a:spLocks noGrp="1"/>
          </p:cNvSpPr>
          <p:nvPr>
            <p:ph type="body" sz="quarter" idx="20"/>
          </p:nvPr>
        </p:nvSpPr>
        <p:spPr>
          <a:xfrm>
            <a:off x="3738732" y="2378452"/>
            <a:ext cx="1183179" cy="492025"/>
          </a:xfrm>
        </p:spPr>
        <p:txBody>
          <a:bodyPr>
            <a:normAutofit/>
          </a:bodyPr>
          <a:lstStyle/>
          <a:p>
            <a:r>
              <a:rPr lang="en-US" dirty="0"/>
              <a:t>Competitor A</a:t>
            </a:r>
          </a:p>
        </p:txBody>
      </p:sp>
      <p:sp>
        <p:nvSpPr>
          <p:cNvPr id="29" name="Text Placeholder 28">
            <a:extLst>
              <a:ext uri="{FF2B5EF4-FFF2-40B4-BE49-F238E27FC236}">
                <a16:creationId xmlns:a16="http://schemas.microsoft.com/office/drawing/2014/main" id="{BF7EE2E1-DA9E-4645-BC0D-305C1F12118B}"/>
              </a:ext>
            </a:extLst>
          </p:cNvPr>
          <p:cNvSpPr>
            <a:spLocks noGrp="1"/>
          </p:cNvSpPr>
          <p:nvPr>
            <p:ph type="body" sz="quarter" idx="26"/>
          </p:nvPr>
        </p:nvSpPr>
        <p:spPr>
          <a:xfrm>
            <a:off x="7522269" y="2169263"/>
            <a:ext cx="1706965" cy="1048575"/>
          </a:xfrm>
        </p:spPr>
        <p:txBody>
          <a:bodyPr/>
          <a:lstStyle/>
          <a:p>
            <a:r>
              <a:rPr lang="en-US" dirty="0"/>
              <a:t>Contoso</a:t>
            </a:r>
          </a:p>
        </p:txBody>
      </p:sp>
      <p:sp>
        <p:nvSpPr>
          <p:cNvPr id="28" name="Text Placeholder 27">
            <a:extLst>
              <a:ext uri="{FF2B5EF4-FFF2-40B4-BE49-F238E27FC236}">
                <a16:creationId xmlns:a16="http://schemas.microsoft.com/office/drawing/2014/main" id="{E8BD1918-91E9-45FF-B758-93DAFA9EAFE9}"/>
              </a:ext>
            </a:extLst>
          </p:cNvPr>
          <p:cNvSpPr>
            <a:spLocks noGrp="1"/>
          </p:cNvSpPr>
          <p:nvPr>
            <p:ph type="body" sz="quarter" idx="25"/>
          </p:nvPr>
        </p:nvSpPr>
        <p:spPr>
          <a:xfrm>
            <a:off x="921894" y="3528829"/>
            <a:ext cx="1393863" cy="492025"/>
          </a:xfrm>
        </p:spPr>
        <p:txBody>
          <a:bodyPr/>
          <a:lstStyle/>
          <a:p>
            <a:r>
              <a:rPr lang="en-US" dirty="0"/>
              <a:t>Affordable</a:t>
            </a:r>
          </a:p>
        </p:txBody>
      </p:sp>
      <p:sp>
        <p:nvSpPr>
          <p:cNvPr id="7" name="Text Placeholder 6">
            <a:extLst>
              <a:ext uri="{FF2B5EF4-FFF2-40B4-BE49-F238E27FC236}">
                <a16:creationId xmlns:a16="http://schemas.microsoft.com/office/drawing/2014/main" id="{E9C0C8B1-2DBC-40B1-BBA7-7B3D396478A1}"/>
              </a:ext>
            </a:extLst>
          </p:cNvPr>
          <p:cNvSpPr>
            <a:spLocks noGrp="1"/>
          </p:cNvSpPr>
          <p:nvPr>
            <p:ph type="body" sz="quarter" idx="19"/>
          </p:nvPr>
        </p:nvSpPr>
        <p:spPr>
          <a:xfrm>
            <a:off x="9940449" y="3528829"/>
            <a:ext cx="1380681" cy="492025"/>
          </a:xfrm>
        </p:spPr>
        <p:txBody>
          <a:bodyPr>
            <a:normAutofit/>
          </a:bodyPr>
          <a:lstStyle/>
          <a:p>
            <a:r>
              <a:rPr lang="en-US" dirty="0"/>
              <a:t>Expensive</a:t>
            </a:r>
          </a:p>
        </p:txBody>
      </p:sp>
      <p:sp>
        <p:nvSpPr>
          <p:cNvPr id="25" name="Text Placeholder 24">
            <a:extLst>
              <a:ext uri="{FF2B5EF4-FFF2-40B4-BE49-F238E27FC236}">
                <a16:creationId xmlns:a16="http://schemas.microsoft.com/office/drawing/2014/main" id="{225FED20-8F0E-4B86-88AD-F902806B2CA0}"/>
              </a:ext>
            </a:extLst>
          </p:cNvPr>
          <p:cNvSpPr>
            <a:spLocks noGrp="1"/>
          </p:cNvSpPr>
          <p:nvPr>
            <p:ph type="body" sz="quarter" idx="22"/>
          </p:nvPr>
        </p:nvSpPr>
        <p:spPr>
          <a:xfrm>
            <a:off x="2637747" y="4634331"/>
            <a:ext cx="1183179" cy="492025"/>
          </a:xfrm>
        </p:spPr>
        <p:txBody>
          <a:bodyPr/>
          <a:lstStyle/>
          <a:p>
            <a:r>
              <a:rPr lang="en-US" dirty="0"/>
              <a:t>Competitor B</a:t>
            </a:r>
          </a:p>
        </p:txBody>
      </p:sp>
      <p:sp>
        <p:nvSpPr>
          <p:cNvPr id="24" name="Text Placeholder 23">
            <a:extLst>
              <a:ext uri="{FF2B5EF4-FFF2-40B4-BE49-F238E27FC236}">
                <a16:creationId xmlns:a16="http://schemas.microsoft.com/office/drawing/2014/main" id="{568D7422-F48C-4829-8937-7DA701F3303B}"/>
              </a:ext>
            </a:extLst>
          </p:cNvPr>
          <p:cNvSpPr>
            <a:spLocks noGrp="1"/>
          </p:cNvSpPr>
          <p:nvPr>
            <p:ph type="body" sz="quarter" idx="21"/>
          </p:nvPr>
        </p:nvSpPr>
        <p:spPr>
          <a:xfrm>
            <a:off x="4175224" y="4459860"/>
            <a:ext cx="1183179" cy="492025"/>
          </a:xfrm>
        </p:spPr>
        <p:txBody>
          <a:bodyPr/>
          <a:lstStyle/>
          <a:p>
            <a:r>
              <a:rPr lang="en-US" dirty="0"/>
              <a:t>Competitor C</a:t>
            </a:r>
          </a:p>
        </p:txBody>
      </p:sp>
      <p:sp>
        <p:nvSpPr>
          <p:cNvPr id="26" name="Text Placeholder 25">
            <a:extLst>
              <a:ext uri="{FF2B5EF4-FFF2-40B4-BE49-F238E27FC236}">
                <a16:creationId xmlns:a16="http://schemas.microsoft.com/office/drawing/2014/main" id="{2329531A-E68A-4913-9B66-062FBAC6D24D}"/>
              </a:ext>
            </a:extLst>
          </p:cNvPr>
          <p:cNvSpPr>
            <a:spLocks noGrp="1"/>
          </p:cNvSpPr>
          <p:nvPr>
            <p:ph type="body" sz="quarter" idx="23"/>
          </p:nvPr>
        </p:nvSpPr>
        <p:spPr>
          <a:xfrm>
            <a:off x="6552714" y="4321788"/>
            <a:ext cx="1183179" cy="492025"/>
          </a:xfrm>
        </p:spPr>
        <p:txBody>
          <a:bodyPr/>
          <a:lstStyle/>
          <a:p>
            <a:r>
              <a:rPr lang="en-US" dirty="0"/>
              <a:t>Competitor D</a:t>
            </a:r>
          </a:p>
        </p:txBody>
      </p:sp>
      <p:sp>
        <p:nvSpPr>
          <p:cNvPr id="6" name="Text Placeholder 5">
            <a:extLst>
              <a:ext uri="{FF2B5EF4-FFF2-40B4-BE49-F238E27FC236}">
                <a16:creationId xmlns:a16="http://schemas.microsoft.com/office/drawing/2014/main" id="{7F0BD43D-EBFD-48E7-A1D3-EB9228D4C58B}"/>
              </a:ext>
            </a:extLst>
          </p:cNvPr>
          <p:cNvSpPr>
            <a:spLocks noGrp="1"/>
          </p:cNvSpPr>
          <p:nvPr>
            <p:ph type="body" sz="quarter" idx="17"/>
          </p:nvPr>
        </p:nvSpPr>
        <p:spPr>
          <a:xfrm>
            <a:off x="5242517" y="5468790"/>
            <a:ext cx="1706965" cy="492025"/>
          </a:xfrm>
        </p:spPr>
        <p:txBody>
          <a:bodyPr>
            <a:normAutofit/>
          </a:bodyPr>
          <a:lstStyle/>
          <a:p>
            <a:r>
              <a:rPr lang="en-US" dirty="0"/>
              <a:t>Inconvenient</a:t>
            </a:r>
          </a:p>
        </p:txBody>
      </p:sp>
      <p:sp>
        <p:nvSpPr>
          <p:cNvPr id="27" name="Text Placeholder 26">
            <a:extLst>
              <a:ext uri="{FF2B5EF4-FFF2-40B4-BE49-F238E27FC236}">
                <a16:creationId xmlns:a16="http://schemas.microsoft.com/office/drawing/2014/main" id="{69ADCED5-CED8-4991-9B1E-DB7381BE7431}"/>
              </a:ext>
            </a:extLst>
          </p:cNvPr>
          <p:cNvSpPr>
            <a:spLocks noGrp="1"/>
          </p:cNvSpPr>
          <p:nvPr>
            <p:ph type="body" sz="quarter" idx="24"/>
          </p:nvPr>
        </p:nvSpPr>
        <p:spPr>
          <a:xfrm>
            <a:off x="7801857" y="5195673"/>
            <a:ext cx="1183179" cy="492025"/>
          </a:xfrm>
        </p:spPr>
        <p:txBody>
          <a:bodyPr/>
          <a:lstStyle/>
          <a:p>
            <a:r>
              <a:rPr lang="en-US" dirty="0"/>
              <a:t>Competitor E</a:t>
            </a:r>
          </a:p>
        </p:txBody>
      </p:sp>
      <p:sp>
        <p:nvSpPr>
          <p:cNvPr id="42" name="Date Placeholder 41">
            <a:extLst>
              <a:ext uri="{FF2B5EF4-FFF2-40B4-BE49-F238E27FC236}">
                <a16:creationId xmlns:a16="http://schemas.microsoft.com/office/drawing/2014/main" id="{8ADD2DBD-D314-47B1-BD25-DAF6D4437F74}"/>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2CC7E0A4-FE8E-4F7B-8370-1FA3484B6144}"/>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5CE495FC-7E0A-4342-A40D-3B65DCA780C6}"/>
              </a:ext>
            </a:extLst>
          </p:cNvPr>
          <p:cNvSpPr>
            <a:spLocks noGrp="1"/>
          </p:cNvSpPr>
          <p:nvPr>
            <p:ph type="sldNum" sz="quarter" idx="12"/>
          </p:nvPr>
        </p:nvSpPr>
        <p:spPr>
          <a:xfrm>
            <a:off x="8610600" y="6356350"/>
            <a:ext cx="2743200" cy="365125"/>
          </a:xfrm>
        </p:spPr>
        <p:txBody>
          <a:bodyPr/>
          <a:lstStyle/>
          <a:p>
            <a:fld id="{19B51A1E-902D-48AF-9020-955120F399B6}" type="slidenum">
              <a:rPr lang="en-US" smtClean="0"/>
              <a:pPr/>
              <a:t>20</a:t>
            </a:fld>
            <a:endParaRPr lang="en-US" dirty="0"/>
          </a:p>
        </p:txBody>
      </p:sp>
      <p:sp>
        <p:nvSpPr>
          <p:cNvPr id="31" name="Oval 30">
            <a:extLst>
              <a:ext uri="{FF2B5EF4-FFF2-40B4-BE49-F238E27FC236}">
                <a16:creationId xmlns:a16="http://schemas.microsoft.com/office/drawing/2014/main" id="{F116CCE2-DE5B-4D04-8780-DE09E03B8A28}"/>
              </a:ext>
              <a:ext uri="{C183D7F6-B498-43B3-948B-1728B52AA6E4}">
                <adec:decorative xmlns:adec="http://schemas.microsoft.com/office/drawing/2017/decorative" val="1"/>
              </a:ext>
            </a:extLst>
          </p:cNvPr>
          <p:cNvSpPr/>
          <p:nvPr/>
        </p:nvSpPr>
        <p:spPr>
          <a:xfrm>
            <a:off x="4291806" y="2334532"/>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1930BF4B-0565-4413-BDB0-116E9B84F127}"/>
              </a:ext>
              <a:ext uri="{C183D7F6-B498-43B3-948B-1728B52AA6E4}">
                <adec:decorative xmlns:adec="http://schemas.microsoft.com/office/drawing/2017/decorative" val="1"/>
              </a:ext>
            </a:extLst>
          </p:cNvPr>
          <p:cNvSpPr/>
          <p:nvPr/>
        </p:nvSpPr>
        <p:spPr>
          <a:xfrm>
            <a:off x="4728369" y="4421188"/>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AEC73B38-496F-4951-89EB-38E1A77E186B}"/>
              </a:ext>
              <a:ext uri="{C183D7F6-B498-43B3-948B-1728B52AA6E4}">
                <adec:decorative xmlns:adec="http://schemas.microsoft.com/office/drawing/2017/decorative" val="1"/>
              </a:ext>
            </a:extLst>
          </p:cNvPr>
          <p:cNvSpPr/>
          <p:nvPr/>
        </p:nvSpPr>
        <p:spPr>
          <a:xfrm>
            <a:off x="3164455" y="4595813"/>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8658B547-4844-4FC2-9B4E-C8A8DF4D66D8}"/>
              </a:ext>
              <a:ext uri="{C183D7F6-B498-43B3-948B-1728B52AA6E4}">
                <adec:decorative xmlns:adec="http://schemas.microsoft.com/office/drawing/2017/decorative" val="1"/>
              </a:ext>
            </a:extLst>
          </p:cNvPr>
          <p:cNvSpPr/>
          <p:nvPr/>
        </p:nvSpPr>
        <p:spPr>
          <a:xfrm>
            <a:off x="7106444" y="4288517"/>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B7890BF0-461E-41CE-AFC1-AD52C6B9549E}"/>
              </a:ext>
              <a:ext uri="{C183D7F6-B498-43B3-948B-1728B52AA6E4}">
                <adec:decorative xmlns:adec="http://schemas.microsoft.com/office/drawing/2017/decorative" val="1"/>
              </a:ext>
            </a:extLst>
          </p:cNvPr>
          <p:cNvSpPr/>
          <p:nvPr/>
        </p:nvSpPr>
        <p:spPr>
          <a:xfrm>
            <a:off x="8355806" y="5157788"/>
            <a:ext cx="76200" cy="762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Graphic 61">
            <a:extLst>
              <a:ext uri="{FF2B5EF4-FFF2-40B4-BE49-F238E27FC236}">
                <a16:creationId xmlns:a16="http://schemas.microsoft.com/office/drawing/2014/main" id="{9201E1F5-4143-449F-8629-751D360010A3}"/>
              </a:ext>
              <a:ext uri="{C183D7F6-B498-43B3-948B-1728B52AA6E4}">
                <adec:decorative xmlns:adec="http://schemas.microsoft.com/office/drawing/2017/decorative" val="1"/>
              </a:ext>
            </a:extLst>
          </p:cNvPr>
          <p:cNvSpPr/>
          <p:nvPr/>
        </p:nvSpPr>
        <p:spPr>
          <a:xfrm>
            <a:off x="7597401" y="2072999"/>
            <a:ext cx="1519834" cy="1268594"/>
          </a:xfrm>
          <a:custGeom>
            <a:avLst/>
            <a:gdLst>
              <a:gd name="connsiteX0" fmla="*/ 625766 w 1590050"/>
              <a:gd name="connsiteY0" fmla="*/ 178826 h 1315433"/>
              <a:gd name="connsiteX1" fmla="*/ 284934 w 1590050"/>
              <a:gd name="connsiteY1" fmla="*/ 458195 h 1315433"/>
              <a:gd name="connsiteX2" fmla="*/ 236288 w 1590050"/>
              <a:gd name="connsiteY2" fmla="*/ 498087 h 1315433"/>
              <a:gd name="connsiteX3" fmla="*/ 70217 w 1590050"/>
              <a:gd name="connsiteY3" fmla="*/ 843983 h 1315433"/>
              <a:gd name="connsiteX4" fmla="*/ 651339 w 1590050"/>
              <a:gd name="connsiteY4" fmla="*/ 1315434 h 1315433"/>
              <a:gd name="connsiteX5" fmla="*/ 1079209 w 1590050"/>
              <a:gd name="connsiteY5" fmla="*/ 1264350 h 1315433"/>
              <a:gd name="connsiteX6" fmla="*/ 1430420 w 1590050"/>
              <a:gd name="connsiteY6" fmla="*/ 957844 h 1315433"/>
              <a:gd name="connsiteX7" fmla="*/ 1590051 w 1590050"/>
              <a:gd name="connsiteY7" fmla="*/ 536415 h 1315433"/>
              <a:gd name="connsiteX8" fmla="*/ 1277105 w 1590050"/>
              <a:gd name="connsiteY8" fmla="*/ 312883 h 1315433"/>
              <a:gd name="connsiteX9" fmla="*/ 913138 w 1590050"/>
              <a:gd name="connsiteY9" fmla="*/ 134119 h 1315433"/>
              <a:gd name="connsiteX10" fmla="*/ 536415 w 1590050"/>
              <a:gd name="connsiteY10" fmla="*/ 83035 h 1315433"/>
              <a:gd name="connsiteX11" fmla="*/ 191581 w 1590050"/>
              <a:gd name="connsiteY11" fmla="*/ 843983 h 1315433"/>
              <a:gd name="connsiteX12" fmla="*/ 146875 w 1590050"/>
              <a:gd name="connsiteY12" fmla="*/ 1149426 h 1315433"/>
              <a:gd name="connsiteX13" fmla="*/ 1245217 w 1590050"/>
              <a:gd name="connsiteY13" fmla="*/ 1289923 h 1315433"/>
              <a:gd name="connsiteX14" fmla="*/ 1519771 w 1590050"/>
              <a:gd name="connsiteY14" fmla="*/ 344834 h 1315433"/>
              <a:gd name="connsiteX15" fmla="*/ 798214 w 1590050"/>
              <a:gd name="connsiteY15" fmla="*/ 223532 h 1315433"/>
              <a:gd name="connsiteX16" fmla="*/ 0 w 1590050"/>
              <a:gd name="connsiteY16" fmla="*/ 699235 h 1315433"/>
              <a:gd name="connsiteX17" fmla="*/ 434247 w 1590050"/>
              <a:gd name="connsiteY17" fmla="*/ 1315434 h 1315433"/>
              <a:gd name="connsiteX18" fmla="*/ 1468686 w 1590050"/>
              <a:gd name="connsiteY18" fmla="*/ 1091964 h 1315433"/>
              <a:gd name="connsiteX19" fmla="*/ 1155804 w 1590050"/>
              <a:gd name="connsiteY19" fmla="*/ 0 h 1315433"/>
              <a:gd name="connsiteX0" fmla="*/ 625766 w 1590051"/>
              <a:gd name="connsiteY0" fmla="*/ 178826 h 1315434"/>
              <a:gd name="connsiteX1" fmla="*/ 284934 w 1590051"/>
              <a:gd name="connsiteY1" fmla="*/ 458195 h 1315434"/>
              <a:gd name="connsiteX2" fmla="*/ 236288 w 1590051"/>
              <a:gd name="connsiteY2" fmla="*/ 498087 h 1315434"/>
              <a:gd name="connsiteX3" fmla="*/ 70217 w 1590051"/>
              <a:gd name="connsiteY3" fmla="*/ 843983 h 1315434"/>
              <a:gd name="connsiteX4" fmla="*/ 651339 w 1590051"/>
              <a:gd name="connsiteY4" fmla="*/ 1315434 h 1315434"/>
              <a:gd name="connsiteX5" fmla="*/ 1079209 w 1590051"/>
              <a:gd name="connsiteY5" fmla="*/ 1264350 h 1315434"/>
              <a:gd name="connsiteX6" fmla="*/ 1430420 w 1590051"/>
              <a:gd name="connsiteY6" fmla="*/ 957844 h 1315434"/>
              <a:gd name="connsiteX7" fmla="*/ 1590051 w 1590051"/>
              <a:gd name="connsiteY7" fmla="*/ 536415 h 1315434"/>
              <a:gd name="connsiteX8" fmla="*/ 1277105 w 1590051"/>
              <a:gd name="connsiteY8" fmla="*/ 312883 h 1315434"/>
              <a:gd name="connsiteX9" fmla="*/ 913138 w 1590051"/>
              <a:gd name="connsiteY9" fmla="*/ 134119 h 1315434"/>
              <a:gd name="connsiteX10" fmla="*/ 536415 w 1590051"/>
              <a:gd name="connsiteY10" fmla="*/ 83035 h 1315434"/>
              <a:gd name="connsiteX11" fmla="*/ 290641 w 1590051"/>
              <a:gd name="connsiteY11" fmla="*/ 661103 h 1315434"/>
              <a:gd name="connsiteX12" fmla="*/ 146875 w 1590051"/>
              <a:gd name="connsiteY12" fmla="*/ 1149426 h 1315434"/>
              <a:gd name="connsiteX13" fmla="*/ 1245217 w 1590051"/>
              <a:gd name="connsiteY13" fmla="*/ 1289923 h 1315434"/>
              <a:gd name="connsiteX14" fmla="*/ 1519771 w 1590051"/>
              <a:gd name="connsiteY14" fmla="*/ 344834 h 1315434"/>
              <a:gd name="connsiteX15" fmla="*/ 798214 w 1590051"/>
              <a:gd name="connsiteY15" fmla="*/ 223532 h 1315434"/>
              <a:gd name="connsiteX16" fmla="*/ 0 w 1590051"/>
              <a:gd name="connsiteY16" fmla="*/ 699235 h 1315434"/>
              <a:gd name="connsiteX17" fmla="*/ 434247 w 1590051"/>
              <a:gd name="connsiteY17" fmla="*/ 1315434 h 1315434"/>
              <a:gd name="connsiteX18" fmla="*/ 1468686 w 1590051"/>
              <a:gd name="connsiteY18" fmla="*/ 1091964 h 1315434"/>
              <a:gd name="connsiteX19" fmla="*/ 1155804 w 1590051"/>
              <a:gd name="connsiteY19" fmla="*/ 0 h 1315434"/>
              <a:gd name="connsiteX20" fmla="*/ 625766 w 1590051"/>
              <a:gd name="connsiteY20" fmla="*/ 178826 h 1315434"/>
              <a:gd name="connsiteX0" fmla="*/ 625766 w 1590051"/>
              <a:gd name="connsiteY0" fmla="*/ 178826 h 1315434"/>
              <a:gd name="connsiteX1" fmla="*/ 284934 w 1590051"/>
              <a:gd name="connsiteY1" fmla="*/ 458195 h 1315434"/>
              <a:gd name="connsiteX2" fmla="*/ 236288 w 1590051"/>
              <a:gd name="connsiteY2" fmla="*/ 498087 h 1315434"/>
              <a:gd name="connsiteX3" fmla="*/ 70217 w 1590051"/>
              <a:gd name="connsiteY3" fmla="*/ 843983 h 1315434"/>
              <a:gd name="connsiteX4" fmla="*/ 651339 w 1590051"/>
              <a:gd name="connsiteY4" fmla="*/ 1315434 h 1315434"/>
              <a:gd name="connsiteX5" fmla="*/ 1079209 w 1590051"/>
              <a:gd name="connsiteY5" fmla="*/ 1264350 h 1315434"/>
              <a:gd name="connsiteX6" fmla="*/ 1430420 w 1590051"/>
              <a:gd name="connsiteY6" fmla="*/ 957844 h 1315434"/>
              <a:gd name="connsiteX7" fmla="*/ 1590051 w 1590051"/>
              <a:gd name="connsiteY7" fmla="*/ 536415 h 1315434"/>
              <a:gd name="connsiteX8" fmla="*/ 1277105 w 1590051"/>
              <a:gd name="connsiteY8" fmla="*/ 312883 h 1315434"/>
              <a:gd name="connsiteX9" fmla="*/ 913138 w 1590051"/>
              <a:gd name="connsiteY9" fmla="*/ 134119 h 1315434"/>
              <a:gd name="connsiteX10" fmla="*/ 536415 w 1590051"/>
              <a:gd name="connsiteY10" fmla="*/ 83035 h 1315434"/>
              <a:gd name="connsiteX11" fmla="*/ 290641 w 1590051"/>
              <a:gd name="connsiteY11" fmla="*/ 661103 h 1315434"/>
              <a:gd name="connsiteX12" fmla="*/ 344995 w 1590051"/>
              <a:gd name="connsiteY12" fmla="*/ 1019886 h 1315434"/>
              <a:gd name="connsiteX13" fmla="*/ 1245217 w 1590051"/>
              <a:gd name="connsiteY13" fmla="*/ 1289923 h 1315434"/>
              <a:gd name="connsiteX14" fmla="*/ 1519771 w 1590051"/>
              <a:gd name="connsiteY14" fmla="*/ 344834 h 1315434"/>
              <a:gd name="connsiteX15" fmla="*/ 798214 w 1590051"/>
              <a:gd name="connsiteY15" fmla="*/ 223532 h 1315434"/>
              <a:gd name="connsiteX16" fmla="*/ 0 w 1590051"/>
              <a:gd name="connsiteY16" fmla="*/ 699235 h 1315434"/>
              <a:gd name="connsiteX17" fmla="*/ 434247 w 1590051"/>
              <a:gd name="connsiteY17" fmla="*/ 1315434 h 1315434"/>
              <a:gd name="connsiteX18" fmla="*/ 1468686 w 1590051"/>
              <a:gd name="connsiteY18" fmla="*/ 1091964 h 1315434"/>
              <a:gd name="connsiteX19" fmla="*/ 1155804 w 1590051"/>
              <a:gd name="connsiteY19" fmla="*/ 0 h 1315434"/>
              <a:gd name="connsiteX20" fmla="*/ 625766 w 1590051"/>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360203 w 1519834"/>
              <a:gd name="connsiteY6" fmla="*/ 95784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727997 w 1519834"/>
              <a:gd name="connsiteY15" fmla="*/ 22353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360203 w 1519834"/>
              <a:gd name="connsiteY6" fmla="*/ 95784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253523 w 1519834"/>
              <a:gd name="connsiteY6" fmla="*/ 91212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398469 w 1519834"/>
              <a:gd name="connsiteY18" fmla="*/ 1091964 h 1315434"/>
              <a:gd name="connsiteX19" fmla="*/ 1085587 w 1519834"/>
              <a:gd name="connsiteY19" fmla="*/ 0 h 1315434"/>
              <a:gd name="connsiteX20" fmla="*/ 555549 w 1519834"/>
              <a:gd name="connsiteY20" fmla="*/ 178826 h 1315434"/>
              <a:gd name="connsiteX0" fmla="*/ 555549 w 1519834"/>
              <a:gd name="connsiteY0" fmla="*/ 178826 h 1315434"/>
              <a:gd name="connsiteX1" fmla="*/ 214717 w 1519834"/>
              <a:gd name="connsiteY1" fmla="*/ 458195 h 1315434"/>
              <a:gd name="connsiteX2" fmla="*/ 166071 w 1519834"/>
              <a:gd name="connsiteY2" fmla="*/ 498087 h 1315434"/>
              <a:gd name="connsiteX3" fmla="*/ 0 w 1519834"/>
              <a:gd name="connsiteY3" fmla="*/ 843983 h 1315434"/>
              <a:gd name="connsiteX4" fmla="*/ 581122 w 1519834"/>
              <a:gd name="connsiteY4" fmla="*/ 1315434 h 1315434"/>
              <a:gd name="connsiteX5" fmla="*/ 1008992 w 1519834"/>
              <a:gd name="connsiteY5" fmla="*/ 1264350 h 1315434"/>
              <a:gd name="connsiteX6" fmla="*/ 1253523 w 1519834"/>
              <a:gd name="connsiteY6" fmla="*/ 912124 h 1315434"/>
              <a:gd name="connsiteX7" fmla="*/ 1519834 w 1519834"/>
              <a:gd name="connsiteY7" fmla="*/ 536415 h 1315434"/>
              <a:gd name="connsiteX8" fmla="*/ 1206888 w 1519834"/>
              <a:gd name="connsiteY8" fmla="*/ 312883 h 1315434"/>
              <a:gd name="connsiteX9" fmla="*/ 842921 w 1519834"/>
              <a:gd name="connsiteY9" fmla="*/ 134119 h 1315434"/>
              <a:gd name="connsiteX10" fmla="*/ 466198 w 1519834"/>
              <a:gd name="connsiteY10" fmla="*/ 83035 h 1315434"/>
              <a:gd name="connsiteX11" fmla="*/ 220424 w 1519834"/>
              <a:gd name="connsiteY11" fmla="*/ 661103 h 1315434"/>
              <a:gd name="connsiteX12" fmla="*/ 274778 w 1519834"/>
              <a:gd name="connsiteY12" fmla="*/ 1019886 h 1315434"/>
              <a:gd name="connsiteX13" fmla="*/ 1175000 w 1519834"/>
              <a:gd name="connsiteY13" fmla="*/ 1289923 h 1315434"/>
              <a:gd name="connsiteX14" fmla="*/ 1449554 w 1519834"/>
              <a:gd name="connsiteY14" fmla="*/ 344834 h 1315434"/>
              <a:gd name="connsiteX15" fmla="*/ 331757 w 1519834"/>
              <a:gd name="connsiteY15" fmla="*/ 162572 h 1315434"/>
              <a:gd name="connsiteX16" fmla="*/ 105043 w 1519834"/>
              <a:gd name="connsiteY16" fmla="*/ 722095 h 1315434"/>
              <a:gd name="connsiteX17" fmla="*/ 364030 w 1519834"/>
              <a:gd name="connsiteY17" fmla="*/ 1315434 h 1315434"/>
              <a:gd name="connsiteX18" fmla="*/ 1428949 w 1519834"/>
              <a:gd name="connsiteY18" fmla="*/ 939564 h 1315434"/>
              <a:gd name="connsiteX19" fmla="*/ 1085587 w 1519834"/>
              <a:gd name="connsiteY19" fmla="*/ 0 h 1315434"/>
              <a:gd name="connsiteX20" fmla="*/ 555549 w 1519834"/>
              <a:gd name="connsiteY20" fmla="*/ 178826 h 1315434"/>
              <a:gd name="connsiteX0" fmla="*/ 555549 w 1519834"/>
              <a:gd name="connsiteY0" fmla="*/ 178826 h 1345914"/>
              <a:gd name="connsiteX1" fmla="*/ 214717 w 1519834"/>
              <a:gd name="connsiteY1" fmla="*/ 458195 h 1345914"/>
              <a:gd name="connsiteX2" fmla="*/ 166071 w 1519834"/>
              <a:gd name="connsiteY2" fmla="*/ 498087 h 1345914"/>
              <a:gd name="connsiteX3" fmla="*/ 0 w 1519834"/>
              <a:gd name="connsiteY3" fmla="*/ 843983 h 1345914"/>
              <a:gd name="connsiteX4" fmla="*/ 741142 w 1519834"/>
              <a:gd name="connsiteY4" fmla="*/ 1345914 h 1345914"/>
              <a:gd name="connsiteX5" fmla="*/ 1008992 w 1519834"/>
              <a:gd name="connsiteY5" fmla="*/ 1264350 h 1345914"/>
              <a:gd name="connsiteX6" fmla="*/ 1253523 w 1519834"/>
              <a:gd name="connsiteY6" fmla="*/ 912124 h 1345914"/>
              <a:gd name="connsiteX7" fmla="*/ 1519834 w 1519834"/>
              <a:gd name="connsiteY7" fmla="*/ 536415 h 1345914"/>
              <a:gd name="connsiteX8" fmla="*/ 1206888 w 1519834"/>
              <a:gd name="connsiteY8" fmla="*/ 312883 h 1345914"/>
              <a:gd name="connsiteX9" fmla="*/ 842921 w 1519834"/>
              <a:gd name="connsiteY9" fmla="*/ 134119 h 1345914"/>
              <a:gd name="connsiteX10" fmla="*/ 466198 w 1519834"/>
              <a:gd name="connsiteY10" fmla="*/ 83035 h 1345914"/>
              <a:gd name="connsiteX11" fmla="*/ 220424 w 1519834"/>
              <a:gd name="connsiteY11" fmla="*/ 661103 h 1345914"/>
              <a:gd name="connsiteX12" fmla="*/ 274778 w 1519834"/>
              <a:gd name="connsiteY12" fmla="*/ 1019886 h 1345914"/>
              <a:gd name="connsiteX13" fmla="*/ 1175000 w 1519834"/>
              <a:gd name="connsiteY13" fmla="*/ 1289923 h 1345914"/>
              <a:gd name="connsiteX14" fmla="*/ 1449554 w 1519834"/>
              <a:gd name="connsiteY14" fmla="*/ 344834 h 1345914"/>
              <a:gd name="connsiteX15" fmla="*/ 331757 w 1519834"/>
              <a:gd name="connsiteY15" fmla="*/ 162572 h 1345914"/>
              <a:gd name="connsiteX16" fmla="*/ 105043 w 1519834"/>
              <a:gd name="connsiteY16" fmla="*/ 722095 h 1345914"/>
              <a:gd name="connsiteX17" fmla="*/ 364030 w 1519834"/>
              <a:gd name="connsiteY17" fmla="*/ 1315434 h 1345914"/>
              <a:gd name="connsiteX18" fmla="*/ 1428949 w 1519834"/>
              <a:gd name="connsiteY18" fmla="*/ 939564 h 1345914"/>
              <a:gd name="connsiteX19" fmla="*/ 1085587 w 1519834"/>
              <a:gd name="connsiteY19" fmla="*/ 0 h 1345914"/>
              <a:gd name="connsiteX20" fmla="*/ 555549 w 1519834"/>
              <a:gd name="connsiteY20" fmla="*/ 178826 h 1345914"/>
              <a:gd name="connsiteX0" fmla="*/ 555549 w 1519834"/>
              <a:gd name="connsiteY0" fmla="*/ 178826 h 1345914"/>
              <a:gd name="connsiteX1" fmla="*/ 214717 w 1519834"/>
              <a:gd name="connsiteY1" fmla="*/ 458195 h 1345914"/>
              <a:gd name="connsiteX2" fmla="*/ 166071 w 1519834"/>
              <a:gd name="connsiteY2" fmla="*/ 498087 h 1345914"/>
              <a:gd name="connsiteX3" fmla="*/ 0 w 1519834"/>
              <a:gd name="connsiteY3" fmla="*/ 843983 h 1345914"/>
              <a:gd name="connsiteX4" fmla="*/ 741142 w 1519834"/>
              <a:gd name="connsiteY4" fmla="*/ 1345914 h 1345914"/>
              <a:gd name="connsiteX5" fmla="*/ 1008992 w 1519834"/>
              <a:gd name="connsiteY5" fmla="*/ 1264350 h 1345914"/>
              <a:gd name="connsiteX6" fmla="*/ 1253523 w 1519834"/>
              <a:gd name="connsiteY6" fmla="*/ 912124 h 1345914"/>
              <a:gd name="connsiteX7" fmla="*/ 1519834 w 1519834"/>
              <a:gd name="connsiteY7" fmla="*/ 536415 h 1345914"/>
              <a:gd name="connsiteX8" fmla="*/ 1206888 w 1519834"/>
              <a:gd name="connsiteY8" fmla="*/ 312883 h 1345914"/>
              <a:gd name="connsiteX9" fmla="*/ 842921 w 1519834"/>
              <a:gd name="connsiteY9" fmla="*/ 134119 h 1345914"/>
              <a:gd name="connsiteX10" fmla="*/ 466198 w 1519834"/>
              <a:gd name="connsiteY10" fmla="*/ 83035 h 1345914"/>
              <a:gd name="connsiteX11" fmla="*/ 220424 w 1519834"/>
              <a:gd name="connsiteY11" fmla="*/ 661103 h 1345914"/>
              <a:gd name="connsiteX12" fmla="*/ 274778 w 1519834"/>
              <a:gd name="connsiteY12" fmla="*/ 1019886 h 1345914"/>
              <a:gd name="connsiteX13" fmla="*/ 1175000 w 1519834"/>
              <a:gd name="connsiteY13" fmla="*/ 1289923 h 1345914"/>
              <a:gd name="connsiteX14" fmla="*/ 1449554 w 1519834"/>
              <a:gd name="connsiteY14" fmla="*/ 344834 h 1345914"/>
              <a:gd name="connsiteX15" fmla="*/ 331757 w 1519834"/>
              <a:gd name="connsiteY15" fmla="*/ 162572 h 1345914"/>
              <a:gd name="connsiteX16" fmla="*/ 105043 w 1519834"/>
              <a:gd name="connsiteY16" fmla="*/ 722095 h 1345914"/>
              <a:gd name="connsiteX17" fmla="*/ 356410 w 1519834"/>
              <a:gd name="connsiteY17" fmla="*/ 1246854 h 1345914"/>
              <a:gd name="connsiteX18" fmla="*/ 1428949 w 1519834"/>
              <a:gd name="connsiteY18" fmla="*/ 939564 h 1345914"/>
              <a:gd name="connsiteX19" fmla="*/ 1085587 w 1519834"/>
              <a:gd name="connsiteY19" fmla="*/ 0 h 1345914"/>
              <a:gd name="connsiteX20" fmla="*/ 555549 w 1519834"/>
              <a:gd name="connsiteY20" fmla="*/ 178826 h 1345914"/>
              <a:gd name="connsiteX0" fmla="*/ 555549 w 1519834"/>
              <a:gd name="connsiteY0" fmla="*/ 95791 h 1262879"/>
              <a:gd name="connsiteX1" fmla="*/ 214717 w 1519834"/>
              <a:gd name="connsiteY1" fmla="*/ 375160 h 1262879"/>
              <a:gd name="connsiteX2" fmla="*/ 166071 w 1519834"/>
              <a:gd name="connsiteY2" fmla="*/ 415052 h 1262879"/>
              <a:gd name="connsiteX3" fmla="*/ 0 w 1519834"/>
              <a:gd name="connsiteY3" fmla="*/ 760948 h 1262879"/>
              <a:gd name="connsiteX4" fmla="*/ 741142 w 1519834"/>
              <a:gd name="connsiteY4" fmla="*/ 1262879 h 1262879"/>
              <a:gd name="connsiteX5" fmla="*/ 1008992 w 1519834"/>
              <a:gd name="connsiteY5" fmla="*/ 1181315 h 1262879"/>
              <a:gd name="connsiteX6" fmla="*/ 1253523 w 1519834"/>
              <a:gd name="connsiteY6" fmla="*/ 829089 h 1262879"/>
              <a:gd name="connsiteX7" fmla="*/ 1519834 w 1519834"/>
              <a:gd name="connsiteY7" fmla="*/ 453380 h 1262879"/>
              <a:gd name="connsiteX8" fmla="*/ 1206888 w 1519834"/>
              <a:gd name="connsiteY8" fmla="*/ 229848 h 1262879"/>
              <a:gd name="connsiteX9" fmla="*/ 842921 w 1519834"/>
              <a:gd name="connsiteY9" fmla="*/ 51084 h 1262879"/>
              <a:gd name="connsiteX10" fmla="*/ 466198 w 1519834"/>
              <a:gd name="connsiteY10" fmla="*/ 0 h 1262879"/>
              <a:gd name="connsiteX11" fmla="*/ 220424 w 1519834"/>
              <a:gd name="connsiteY11" fmla="*/ 578068 h 1262879"/>
              <a:gd name="connsiteX12" fmla="*/ 274778 w 1519834"/>
              <a:gd name="connsiteY12" fmla="*/ 936851 h 1262879"/>
              <a:gd name="connsiteX13" fmla="*/ 1175000 w 1519834"/>
              <a:gd name="connsiteY13" fmla="*/ 1206888 h 1262879"/>
              <a:gd name="connsiteX14" fmla="*/ 1449554 w 1519834"/>
              <a:gd name="connsiteY14" fmla="*/ 261799 h 1262879"/>
              <a:gd name="connsiteX15" fmla="*/ 331757 w 1519834"/>
              <a:gd name="connsiteY15" fmla="*/ 79537 h 1262879"/>
              <a:gd name="connsiteX16" fmla="*/ 105043 w 1519834"/>
              <a:gd name="connsiteY16" fmla="*/ 639060 h 1262879"/>
              <a:gd name="connsiteX17" fmla="*/ 356410 w 1519834"/>
              <a:gd name="connsiteY17" fmla="*/ 1163819 h 1262879"/>
              <a:gd name="connsiteX18" fmla="*/ 1428949 w 1519834"/>
              <a:gd name="connsiteY18" fmla="*/ 856529 h 1262879"/>
              <a:gd name="connsiteX19" fmla="*/ 1055107 w 1519834"/>
              <a:gd name="connsiteY19" fmla="*/ 61745 h 1262879"/>
              <a:gd name="connsiteX20" fmla="*/ 555549 w 1519834"/>
              <a:gd name="connsiteY20" fmla="*/ 95791 h 1262879"/>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428949 w 1519834"/>
              <a:gd name="connsiteY18" fmla="*/ 856529 h 1268594"/>
              <a:gd name="connsiteX19" fmla="*/ 1055107 w 1519834"/>
              <a:gd name="connsiteY19" fmla="*/ 61745 h 1268594"/>
              <a:gd name="connsiteX20" fmla="*/ 555549 w 1519834"/>
              <a:gd name="connsiteY20"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055107 w 1519834"/>
              <a:gd name="connsiteY19" fmla="*/ 61745 h 1268594"/>
              <a:gd name="connsiteX20" fmla="*/ 555549 w 1519834"/>
              <a:gd name="connsiteY20"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203699 w 1519834"/>
              <a:gd name="connsiteY19" fmla="*/ 489226 h 1268594"/>
              <a:gd name="connsiteX20" fmla="*/ 1055107 w 1519834"/>
              <a:gd name="connsiteY20" fmla="*/ 61745 h 1268594"/>
              <a:gd name="connsiteX21" fmla="*/ 555549 w 1519834"/>
              <a:gd name="connsiteY21" fmla="*/ 95791 h 1268594"/>
              <a:gd name="connsiteX0" fmla="*/ 555549 w 1519834"/>
              <a:gd name="connsiteY0" fmla="*/ 95791 h 1268594"/>
              <a:gd name="connsiteX1" fmla="*/ 214717 w 1519834"/>
              <a:gd name="connsiteY1" fmla="*/ 375160 h 1268594"/>
              <a:gd name="connsiteX2" fmla="*/ 166071 w 1519834"/>
              <a:gd name="connsiteY2" fmla="*/ 415052 h 1268594"/>
              <a:gd name="connsiteX3" fmla="*/ 0 w 1519834"/>
              <a:gd name="connsiteY3" fmla="*/ 760948 h 1268594"/>
              <a:gd name="connsiteX4" fmla="*/ 741142 w 1519834"/>
              <a:gd name="connsiteY4" fmla="*/ 1262879 h 1268594"/>
              <a:gd name="connsiteX5" fmla="*/ 1008992 w 1519834"/>
              <a:gd name="connsiteY5" fmla="*/ 1181315 h 1268594"/>
              <a:gd name="connsiteX6" fmla="*/ 1253523 w 1519834"/>
              <a:gd name="connsiteY6" fmla="*/ 829089 h 1268594"/>
              <a:gd name="connsiteX7" fmla="*/ 1519834 w 1519834"/>
              <a:gd name="connsiteY7" fmla="*/ 453380 h 1268594"/>
              <a:gd name="connsiteX8" fmla="*/ 1206888 w 1519834"/>
              <a:gd name="connsiteY8" fmla="*/ 229848 h 1268594"/>
              <a:gd name="connsiteX9" fmla="*/ 842921 w 1519834"/>
              <a:gd name="connsiteY9" fmla="*/ 51084 h 1268594"/>
              <a:gd name="connsiteX10" fmla="*/ 466198 w 1519834"/>
              <a:gd name="connsiteY10" fmla="*/ 0 h 1268594"/>
              <a:gd name="connsiteX11" fmla="*/ 220424 w 1519834"/>
              <a:gd name="connsiteY11" fmla="*/ 578068 h 1268594"/>
              <a:gd name="connsiteX12" fmla="*/ 274778 w 1519834"/>
              <a:gd name="connsiteY12" fmla="*/ 936851 h 1268594"/>
              <a:gd name="connsiteX13" fmla="*/ 1175000 w 1519834"/>
              <a:gd name="connsiteY13" fmla="*/ 1206888 h 1268594"/>
              <a:gd name="connsiteX14" fmla="*/ 1449554 w 1519834"/>
              <a:gd name="connsiteY14" fmla="*/ 261799 h 1268594"/>
              <a:gd name="connsiteX15" fmla="*/ 331757 w 1519834"/>
              <a:gd name="connsiteY15" fmla="*/ 79537 h 1268594"/>
              <a:gd name="connsiteX16" fmla="*/ 105043 w 1519834"/>
              <a:gd name="connsiteY16" fmla="*/ 639060 h 1268594"/>
              <a:gd name="connsiteX17" fmla="*/ 489760 w 1519834"/>
              <a:gd name="connsiteY17" fmla="*/ 1268594 h 1268594"/>
              <a:gd name="connsiteX18" fmla="*/ 1371799 w 1519834"/>
              <a:gd name="connsiteY18" fmla="*/ 989879 h 1268594"/>
              <a:gd name="connsiteX19" fmla="*/ 1489449 w 1519834"/>
              <a:gd name="connsiteY19" fmla="*/ 641626 h 1268594"/>
              <a:gd name="connsiteX20" fmla="*/ 1055107 w 1519834"/>
              <a:gd name="connsiteY20" fmla="*/ 61745 h 1268594"/>
              <a:gd name="connsiteX21" fmla="*/ 555549 w 1519834"/>
              <a:gd name="connsiteY21" fmla="*/ 95791 h 126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9834" h="1268594">
                <a:moveTo>
                  <a:pt x="555549" y="95791"/>
                </a:moveTo>
                <a:lnTo>
                  <a:pt x="214717" y="375160"/>
                </a:lnTo>
                <a:lnTo>
                  <a:pt x="166071" y="415052"/>
                </a:lnTo>
                <a:lnTo>
                  <a:pt x="0" y="760948"/>
                </a:lnTo>
                <a:lnTo>
                  <a:pt x="741142" y="1262879"/>
                </a:lnTo>
                <a:lnTo>
                  <a:pt x="1008992" y="1181315"/>
                </a:lnTo>
                <a:lnTo>
                  <a:pt x="1253523" y="829089"/>
                </a:lnTo>
                <a:lnTo>
                  <a:pt x="1519834" y="453380"/>
                </a:lnTo>
                <a:lnTo>
                  <a:pt x="1206888" y="229848"/>
                </a:lnTo>
                <a:lnTo>
                  <a:pt x="842921" y="51084"/>
                </a:lnTo>
                <a:lnTo>
                  <a:pt x="466198" y="0"/>
                </a:lnTo>
                <a:lnTo>
                  <a:pt x="220424" y="578068"/>
                </a:lnTo>
                <a:lnTo>
                  <a:pt x="274778" y="936851"/>
                </a:lnTo>
                <a:lnTo>
                  <a:pt x="1175000" y="1206888"/>
                </a:lnTo>
                <a:lnTo>
                  <a:pt x="1449554" y="261799"/>
                </a:lnTo>
                <a:lnTo>
                  <a:pt x="331757" y="79537"/>
                </a:lnTo>
                <a:lnTo>
                  <a:pt x="105043" y="639060"/>
                </a:lnTo>
                <a:lnTo>
                  <a:pt x="489760" y="1268594"/>
                </a:lnTo>
                <a:lnTo>
                  <a:pt x="1371799" y="989879"/>
                </a:lnTo>
                <a:lnTo>
                  <a:pt x="1489449" y="641626"/>
                </a:lnTo>
                <a:lnTo>
                  <a:pt x="1055107" y="61745"/>
                </a:lnTo>
                <a:lnTo>
                  <a:pt x="555549" y="95791"/>
                </a:lnTo>
                <a:close/>
              </a:path>
            </a:pathLst>
          </a:custGeom>
          <a:noFill/>
          <a:ln w="3175" cap="flat">
            <a:solidFill>
              <a:schemeClr val="accent1">
                <a:lumMod val="75000"/>
              </a:schemeClr>
            </a:solidFill>
            <a:prstDash val="solid"/>
            <a:miter/>
          </a:ln>
        </p:spPr>
        <p:txBody>
          <a:bodyPr rtlCol="0" anchor="ctr"/>
          <a:lstStyle/>
          <a:p>
            <a:endParaRPr lang="en-US" dirty="0"/>
          </a:p>
        </p:txBody>
      </p:sp>
    </p:spTree>
    <p:extLst>
      <p:ext uri="{BB962C8B-B14F-4D97-AF65-F5344CB8AC3E}">
        <p14:creationId xmlns:p14="http://schemas.microsoft.com/office/powerpoint/2010/main" val="1417396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5AF1-623C-4E09-AB5D-8DD0571489F6}"/>
              </a:ext>
            </a:extLst>
          </p:cNvPr>
          <p:cNvSpPr>
            <a:spLocks noGrp="1"/>
          </p:cNvSpPr>
          <p:nvPr>
            <p:ph type="title"/>
          </p:nvPr>
        </p:nvSpPr>
        <p:spPr>
          <a:xfrm>
            <a:off x="5920169" y="1152771"/>
            <a:ext cx="5431971" cy="846301"/>
          </a:xfrm>
        </p:spPr>
        <p:txBody>
          <a:bodyPr/>
          <a:lstStyle/>
          <a:p>
            <a:r>
              <a:rPr lang="en-US" dirty="0"/>
              <a:t>Growth strategy</a:t>
            </a:r>
          </a:p>
        </p:txBody>
      </p:sp>
      <p:sp>
        <p:nvSpPr>
          <p:cNvPr id="3" name="Content Placeholder 2">
            <a:extLst>
              <a:ext uri="{FF2B5EF4-FFF2-40B4-BE49-F238E27FC236}">
                <a16:creationId xmlns:a16="http://schemas.microsoft.com/office/drawing/2014/main" id="{9B1DDDEF-20C4-4F65-BAC9-0A763DF7E02B}"/>
              </a:ext>
            </a:extLst>
          </p:cNvPr>
          <p:cNvSpPr>
            <a:spLocks noGrp="1"/>
          </p:cNvSpPr>
          <p:nvPr>
            <p:ph type="body" sz="quarter" idx="13"/>
          </p:nvPr>
        </p:nvSpPr>
        <p:spPr>
          <a:xfrm>
            <a:off x="5922254" y="2469515"/>
            <a:ext cx="5433204" cy="365125"/>
          </a:xfrm>
        </p:spPr>
        <p:txBody>
          <a:bodyPr vert="horz" lIns="91440" tIns="45720" rIns="91440" bIns="45720" rtlCol="0" anchor="t">
            <a:normAutofit lnSpcReduction="10000"/>
          </a:bodyPr>
          <a:lstStyle/>
          <a:p>
            <a:r>
              <a:rPr lang="en-US" dirty="0"/>
              <a:t>Feb 20XX</a:t>
            </a:r>
          </a:p>
        </p:txBody>
      </p:sp>
      <p:sp>
        <p:nvSpPr>
          <p:cNvPr id="17" name="Text Placeholder 16">
            <a:extLst>
              <a:ext uri="{FF2B5EF4-FFF2-40B4-BE49-F238E27FC236}">
                <a16:creationId xmlns:a16="http://schemas.microsoft.com/office/drawing/2014/main" id="{24158E79-DA49-4521-BEC6-A7BA93C41F4C}"/>
              </a:ext>
            </a:extLst>
          </p:cNvPr>
          <p:cNvSpPr>
            <a:spLocks noGrp="1"/>
          </p:cNvSpPr>
          <p:nvPr>
            <p:ph type="body" sz="quarter" idx="15"/>
          </p:nvPr>
        </p:nvSpPr>
        <p:spPr>
          <a:xfrm>
            <a:off x="5921828" y="2798940"/>
            <a:ext cx="5431971" cy="557950"/>
          </a:xfrm>
        </p:spPr>
        <p:txBody>
          <a:bodyPr>
            <a:normAutofit/>
          </a:bodyPr>
          <a:lstStyle/>
          <a:p>
            <a:r>
              <a:rPr lang="en-US" dirty="0"/>
              <a:t>Roll out product to high profile or top-level participants to help establish the product</a:t>
            </a:r>
          </a:p>
        </p:txBody>
      </p:sp>
      <p:sp>
        <p:nvSpPr>
          <p:cNvPr id="24" name="Text Placeholder 23">
            <a:extLst>
              <a:ext uri="{FF2B5EF4-FFF2-40B4-BE49-F238E27FC236}">
                <a16:creationId xmlns:a16="http://schemas.microsoft.com/office/drawing/2014/main" id="{319E41BC-4F05-4804-843A-E1846794FBF9}"/>
              </a:ext>
            </a:extLst>
          </p:cNvPr>
          <p:cNvSpPr>
            <a:spLocks noGrp="1"/>
          </p:cNvSpPr>
          <p:nvPr>
            <p:ph type="body" sz="quarter" idx="23"/>
          </p:nvPr>
        </p:nvSpPr>
        <p:spPr>
          <a:xfrm>
            <a:off x="5922254" y="3569311"/>
            <a:ext cx="5433204" cy="365125"/>
          </a:xfrm>
        </p:spPr>
        <p:txBody>
          <a:bodyPr>
            <a:normAutofit lnSpcReduction="10000"/>
          </a:bodyPr>
          <a:lstStyle/>
          <a:p>
            <a:r>
              <a:rPr lang="en-US" dirty="0"/>
              <a:t>Mar 20XX</a:t>
            </a:r>
          </a:p>
        </p:txBody>
      </p:sp>
      <p:sp>
        <p:nvSpPr>
          <p:cNvPr id="25" name="Text Placeholder 24">
            <a:extLst>
              <a:ext uri="{FF2B5EF4-FFF2-40B4-BE49-F238E27FC236}">
                <a16:creationId xmlns:a16="http://schemas.microsoft.com/office/drawing/2014/main" id="{23BDF8B9-53DF-46F4-98D4-053D78D610B0}"/>
              </a:ext>
            </a:extLst>
          </p:cNvPr>
          <p:cNvSpPr>
            <a:spLocks noGrp="1"/>
          </p:cNvSpPr>
          <p:nvPr>
            <p:ph type="body" sz="quarter" idx="24"/>
          </p:nvPr>
        </p:nvSpPr>
        <p:spPr>
          <a:xfrm>
            <a:off x="5921828" y="3898736"/>
            <a:ext cx="5431971" cy="557950"/>
          </a:xfrm>
        </p:spPr>
        <p:txBody>
          <a:bodyPr/>
          <a:lstStyle/>
          <a:p>
            <a:r>
              <a:rPr lang="en-US" dirty="0"/>
              <a:t>Release the product to the general public and monitor press release and social media accounts</a:t>
            </a:r>
          </a:p>
        </p:txBody>
      </p:sp>
      <p:sp>
        <p:nvSpPr>
          <p:cNvPr id="26" name="Text Placeholder 25">
            <a:extLst>
              <a:ext uri="{FF2B5EF4-FFF2-40B4-BE49-F238E27FC236}">
                <a16:creationId xmlns:a16="http://schemas.microsoft.com/office/drawing/2014/main" id="{0FD0A14C-4421-4979-AF8C-F7E649A88162}"/>
              </a:ext>
            </a:extLst>
          </p:cNvPr>
          <p:cNvSpPr>
            <a:spLocks noGrp="1"/>
          </p:cNvSpPr>
          <p:nvPr>
            <p:ph type="body" sz="quarter" idx="25"/>
          </p:nvPr>
        </p:nvSpPr>
        <p:spPr>
          <a:xfrm>
            <a:off x="5922254" y="4669107"/>
            <a:ext cx="5433204" cy="365125"/>
          </a:xfrm>
        </p:spPr>
        <p:txBody>
          <a:bodyPr>
            <a:normAutofit lnSpcReduction="10000"/>
          </a:bodyPr>
          <a:lstStyle/>
          <a:p>
            <a:r>
              <a:rPr lang="en-US" dirty="0"/>
              <a:t>Oct 20XX</a:t>
            </a:r>
          </a:p>
        </p:txBody>
      </p:sp>
      <p:sp>
        <p:nvSpPr>
          <p:cNvPr id="27" name="Text Placeholder 26">
            <a:extLst>
              <a:ext uri="{FF2B5EF4-FFF2-40B4-BE49-F238E27FC236}">
                <a16:creationId xmlns:a16="http://schemas.microsoft.com/office/drawing/2014/main" id="{9C0DB469-503B-40AF-84D1-C69B085AA96F}"/>
              </a:ext>
            </a:extLst>
          </p:cNvPr>
          <p:cNvSpPr>
            <a:spLocks noGrp="1"/>
          </p:cNvSpPr>
          <p:nvPr>
            <p:ph type="body" sz="quarter" idx="26"/>
          </p:nvPr>
        </p:nvSpPr>
        <p:spPr>
          <a:xfrm>
            <a:off x="5921828" y="4998532"/>
            <a:ext cx="5431971" cy="557950"/>
          </a:xfrm>
        </p:spPr>
        <p:txBody>
          <a:bodyPr>
            <a:normAutofit/>
          </a:bodyPr>
          <a:lstStyle/>
          <a:p>
            <a:r>
              <a:rPr lang="en-US" dirty="0"/>
              <a:t>Gather feedback and adjust product design as necessary</a:t>
            </a:r>
          </a:p>
          <a:p>
            <a:endParaRPr lang="en-US" dirty="0"/>
          </a:p>
        </p:txBody>
      </p:sp>
      <p:sp>
        <p:nvSpPr>
          <p:cNvPr id="4" name="Date Placeholder 3">
            <a:extLst>
              <a:ext uri="{FF2B5EF4-FFF2-40B4-BE49-F238E27FC236}">
                <a16:creationId xmlns:a16="http://schemas.microsoft.com/office/drawing/2014/main" id="{7FDC0E0A-2715-4BF9-8659-0ED8629BA242}"/>
              </a:ext>
            </a:extLst>
          </p:cNvPr>
          <p:cNvSpPr>
            <a:spLocks noGrp="1"/>
          </p:cNvSpPr>
          <p:nvPr>
            <p:ph type="dt" sz="half" idx="10"/>
          </p:nvPr>
        </p:nvSpPr>
        <p:spPr>
          <a:xfrm>
            <a:off x="838200" y="6356350"/>
            <a:ext cx="2743200" cy="365125"/>
          </a:xfrm>
        </p:spPr>
        <p:txBody>
          <a:bodyPr/>
          <a:lstStyle/>
          <a:p>
            <a:r>
              <a:rPr lang="en-US" dirty="0"/>
              <a:t>20XX</a:t>
            </a:r>
          </a:p>
        </p:txBody>
      </p:sp>
      <p:sp>
        <p:nvSpPr>
          <p:cNvPr id="5" name="Footer Placeholder 4">
            <a:extLst>
              <a:ext uri="{FF2B5EF4-FFF2-40B4-BE49-F238E27FC236}">
                <a16:creationId xmlns:a16="http://schemas.microsoft.com/office/drawing/2014/main" id="{20E75224-81EB-4CDA-BBBE-44B4B2F3C039}"/>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BA32F697-D1D4-4B0A-B960-D1869BF8607A}"/>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21</a:t>
            </a:fld>
            <a:endParaRPr lang="en-US" dirty="0"/>
          </a:p>
        </p:txBody>
      </p:sp>
    </p:spTree>
    <p:extLst>
      <p:ext uri="{BB962C8B-B14F-4D97-AF65-F5344CB8AC3E}">
        <p14:creationId xmlns:p14="http://schemas.microsoft.com/office/powerpoint/2010/main" val="14721061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1188AF-1B8F-40DD-90B1-DC0F52BA46BA}"/>
              </a:ext>
            </a:extLst>
          </p:cNvPr>
          <p:cNvSpPr>
            <a:spLocks noGrp="1"/>
          </p:cNvSpPr>
          <p:nvPr>
            <p:ph type="title"/>
          </p:nvPr>
        </p:nvSpPr>
        <p:spPr>
          <a:xfrm>
            <a:off x="838200" y="365125"/>
            <a:ext cx="10515600" cy="1325563"/>
          </a:xfrm>
        </p:spPr>
        <p:txBody>
          <a:bodyPr lIns="0"/>
          <a:lstStyle/>
          <a:p>
            <a:r>
              <a:rPr lang="en-US" dirty="0"/>
              <a:t>TRACTION</a:t>
            </a:r>
          </a:p>
        </p:txBody>
      </p:sp>
      <p:sp>
        <p:nvSpPr>
          <p:cNvPr id="75" name="Text Placeholder 74">
            <a:extLst>
              <a:ext uri="{FF2B5EF4-FFF2-40B4-BE49-F238E27FC236}">
                <a16:creationId xmlns:a16="http://schemas.microsoft.com/office/drawing/2014/main" id="{5425916A-A2C0-45C3-9A48-E48DEB97F631}"/>
              </a:ext>
            </a:extLst>
          </p:cNvPr>
          <p:cNvSpPr>
            <a:spLocks noGrp="1"/>
          </p:cNvSpPr>
          <p:nvPr>
            <p:ph type="body" sz="quarter" idx="16"/>
          </p:nvPr>
        </p:nvSpPr>
        <p:spPr>
          <a:xfrm>
            <a:off x="748749" y="1361938"/>
            <a:ext cx="6765925" cy="496888"/>
          </a:xfrm>
        </p:spPr>
        <p:txBody>
          <a:bodyPr/>
          <a:lstStyle/>
          <a:p>
            <a:r>
              <a:rPr lang="en-US" dirty="0"/>
              <a:t>Forecasting for success</a:t>
            </a:r>
          </a:p>
        </p:txBody>
      </p:sp>
      <p:graphicFrame>
        <p:nvGraphicFramePr>
          <p:cNvPr id="53" name="Table 50">
            <a:extLst>
              <a:ext uri="{FF2B5EF4-FFF2-40B4-BE49-F238E27FC236}">
                <a16:creationId xmlns:a16="http://schemas.microsoft.com/office/drawing/2014/main" id="{7EB17215-3702-4854-86F9-086DB8BCA17E}"/>
              </a:ext>
            </a:extLst>
          </p:cNvPr>
          <p:cNvGraphicFramePr>
            <a:graphicFrameLocks noGrp="1"/>
          </p:cNvGraphicFramePr>
          <p:nvPr>
            <p:ph type="chart" sz="quarter" idx="13"/>
            <p:extLst>
              <p:ext uri="{D42A27DB-BD31-4B8C-83A1-F6EECF244321}">
                <p14:modId xmlns:p14="http://schemas.microsoft.com/office/powerpoint/2010/main" val="2246906401"/>
              </p:ext>
            </p:extLst>
          </p:nvPr>
        </p:nvGraphicFramePr>
        <p:xfrm>
          <a:off x="838200" y="2286000"/>
          <a:ext cx="6099051" cy="3503684"/>
        </p:xfrm>
        <a:graphic>
          <a:graphicData uri="http://schemas.openxmlformats.org/drawingml/2006/table">
            <a:tbl>
              <a:tblPr firstRow="1" bandRow="1">
                <a:tableStyleId>{5C22544A-7EE6-4342-B048-85BDC9FD1C3A}</a:tableStyleId>
              </a:tblPr>
              <a:tblGrid>
                <a:gridCol w="1578631">
                  <a:extLst>
                    <a:ext uri="{9D8B030D-6E8A-4147-A177-3AD203B41FA5}">
                      <a16:colId xmlns:a16="http://schemas.microsoft.com/office/drawing/2014/main" val="544038161"/>
                    </a:ext>
                  </a:extLst>
                </a:gridCol>
                <a:gridCol w="1130105">
                  <a:extLst>
                    <a:ext uri="{9D8B030D-6E8A-4147-A177-3AD203B41FA5}">
                      <a16:colId xmlns:a16="http://schemas.microsoft.com/office/drawing/2014/main" val="2284043154"/>
                    </a:ext>
                  </a:extLst>
                </a:gridCol>
                <a:gridCol w="1130105">
                  <a:extLst>
                    <a:ext uri="{9D8B030D-6E8A-4147-A177-3AD203B41FA5}">
                      <a16:colId xmlns:a16="http://schemas.microsoft.com/office/drawing/2014/main" val="2987712514"/>
                    </a:ext>
                  </a:extLst>
                </a:gridCol>
                <a:gridCol w="1130105">
                  <a:extLst>
                    <a:ext uri="{9D8B030D-6E8A-4147-A177-3AD203B41FA5}">
                      <a16:colId xmlns:a16="http://schemas.microsoft.com/office/drawing/2014/main" val="1068233346"/>
                    </a:ext>
                  </a:extLst>
                </a:gridCol>
                <a:gridCol w="1130105">
                  <a:extLst>
                    <a:ext uri="{9D8B030D-6E8A-4147-A177-3AD203B41FA5}">
                      <a16:colId xmlns:a16="http://schemas.microsoft.com/office/drawing/2014/main" val="3019130451"/>
                    </a:ext>
                  </a:extLst>
                </a:gridCol>
              </a:tblGrid>
              <a:tr h="308774">
                <a:tc>
                  <a:txBody>
                    <a:bodyPr/>
                    <a:lstStyle/>
                    <a:p>
                      <a:pPr algn="r"/>
                      <a:r>
                        <a:rPr lang="en-US" sz="1400" b="0" cap="all" spc="150" baseline="0" dirty="0">
                          <a:solidFill>
                            <a:schemeClr val="tx1">
                              <a:lumMod val="75000"/>
                              <a:lumOff val="25000"/>
                            </a:schemeClr>
                          </a:solidFill>
                          <a:latin typeface="+mj-lt"/>
                        </a:rPr>
                        <a:t>Key Metrics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723065677"/>
                  </a:ext>
                </a:extLst>
              </a:tr>
              <a:tr h="638982">
                <a:tc>
                  <a:txBody>
                    <a:bodyPr/>
                    <a:lstStyle/>
                    <a:p>
                      <a:pPr algn="ctr"/>
                      <a:endParaRPr lang="en-US" sz="1200" dirty="0">
                        <a:solidFill>
                          <a:schemeClr val="tx1">
                            <a:lumMod val="75000"/>
                            <a:lumOff val="25000"/>
                          </a:schemeClr>
                        </a:solidFill>
                      </a:endParaRPr>
                    </a:p>
                  </a:txBody>
                  <a:tcPr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Clients</a:t>
                      </a:r>
                      <a:endParaRPr lang="ru-RU" sz="1200" kern="1200" dirty="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Orders</a:t>
                      </a:r>
                      <a:endParaRPr lang="ru-RU" sz="1200" kern="1200" dirty="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Gross revenue</a:t>
                      </a:r>
                      <a:endParaRPr lang="ru-RU" sz="1200" kern="1200" dirty="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Net revenue</a:t>
                      </a:r>
                      <a:endParaRPr lang="ru-RU" sz="1200" kern="120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9137574"/>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10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1100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$10,000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$7,000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7742485"/>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20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200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$20,000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$16,000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6860975"/>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30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300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$30,000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$25,000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121222"/>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40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400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$40,000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$30,000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5123171"/>
                  </a:ext>
                </a:extLst>
              </a:tr>
            </a:tbl>
          </a:graphicData>
        </a:graphic>
      </p:graphicFrame>
      <p:sp>
        <p:nvSpPr>
          <p:cNvPr id="9" name="Text Placeholder 8">
            <a:extLst>
              <a:ext uri="{FF2B5EF4-FFF2-40B4-BE49-F238E27FC236}">
                <a16:creationId xmlns:a16="http://schemas.microsoft.com/office/drawing/2014/main" id="{C54CD4A7-4E1A-4902-993B-81A396A3670C}"/>
              </a:ext>
            </a:extLst>
          </p:cNvPr>
          <p:cNvSpPr>
            <a:spLocks noGrp="1"/>
          </p:cNvSpPr>
          <p:nvPr>
            <p:ph type="body" sz="quarter" idx="14"/>
          </p:nvPr>
        </p:nvSpPr>
        <p:spPr>
          <a:xfrm>
            <a:off x="7858125" y="2284624"/>
            <a:ext cx="3147332" cy="306388"/>
          </a:xfrm>
        </p:spPr>
        <p:txBody>
          <a:bodyPr>
            <a:normAutofit/>
          </a:bodyPr>
          <a:lstStyle/>
          <a:p>
            <a:r>
              <a:rPr lang="en-US" dirty="0"/>
              <a:t>REVENUE BY YEAR</a:t>
            </a:r>
          </a:p>
        </p:txBody>
      </p:sp>
      <p:graphicFrame>
        <p:nvGraphicFramePr>
          <p:cNvPr id="34" name="Content Placeholder 13" descr="Chart">
            <a:extLst>
              <a:ext uri="{FF2B5EF4-FFF2-40B4-BE49-F238E27FC236}">
                <a16:creationId xmlns:a16="http://schemas.microsoft.com/office/drawing/2014/main" id="{9E19FFD2-695D-4BD0-AA46-41C8970D76E2}"/>
              </a:ext>
            </a:extLst>
          </p:cNvPr>
          <p:cNvGraphicFramePr>
            <a:graphicFrameLocks noGrp="1"/>
          </p:cNvGraphicFramePr>
          <p:nvPr>
            <p:ph sz="quarter" idx="15"/>
            <p:extLst>
              <p:ext uri="{D42A27DB-BD31-4B8C-83A1-F6EECF244321}">
                <p14:modId xmlns:p14="http://schemas.microsoft.com/office/powerpoint/2010/main" val="2173192865"/>
              </p:ext>
            </p:extLst>
          </p:nvPr>
        </p:nvGraphicFramePr>
        <p:xfrm>
          <a:off x="7858125" y="2779713"/>
          <a:ext cx="3148013" cy="3095625"/>
        </p:xfrm>
        <a:graphic>
          <a:graphicData uri="http://schemas.openxmlformats.org/drawingml/2006/chart">
            <c:chart xmlns:c="http://schemas.openxmlformats.org/drawingml/2006/chart" xmlns:r="http://schemas.openxmlformats.org/officeDocument/2006/relationships" r:id="rId2"/>
          </a:graphicData>
        </a:graphic>
      </p:graphicFrame>
      <p:sp>
        <p:nvSpPr>
          <p:cNvPr id="2" name="Date Placeholder 1">
            <a:extLst>
              <a:ext uri="{FF2B5EF4-FFF2-40B4-BE49-F238E27FC236}">
                <a16:creationId xmlns:a16="http://schemas.microsoft.com/office/drawing/2014/main" id="{402600B4-5BE8-447C-8531-6CD75CB45735}"/>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217076FA-2B16-4A6F-9631-8D175CE7886C}"/>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5" name="Slide Number Placeholder 4">
            <a:extLst>
              <a:ext uri="{FF2B5EF4-FFF2-40B4-BE49-F238E27FC236}">
                <a16:creationId xmlns:a16="http://schemas.microsoft.com/office/drawing/2014/main" id="{7088B044-C125-4F21-B6E1-ECBEB9762151}"/>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22</a:t>
            </a:fld>
            <a:endParaRPr lang="en-US" dirty="0"/>
          </a:p>
        </p:txBody>
      </p:sp>
      <p:cxnSp>
        <p:nvCxnSpPr>
          <p:cNvPr id="10" name="Straight Connector 9">
            <a:extLst>
              <a:ext uri="{FF2B5EF4-FFF2-40B4-BE49-F238E27FC236}">
                <a16:creationId xmlns:a16="http://schemas.microsoft.com/office/drawing/2014/main" id="{B98F823A-E7BB-4668-930B-C119B7771E74}"/>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173C4F3-0B20-4720-9910-82CE4DCE4DBF}"/>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871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4294-49A0-4C63-A7D7-E3BF9E591F59}"/>
              </a:ext>
            </a:extLst>
          </p:cNvPr>
          <p:cNvSpPr>
            <a:spLocks noGrp="1"/>
          </p:cNvSpPr>
          <p:nvPr>
            <p:ph type="title"/>
          </p:nvPr>
        </p:nvSpPr>
        <p:spPr>
          <a:xfrm>
            <a:off x="838200" y="365125"/>
            <a:ext cx="10515600" cy="1325563"/>
          </a:xfrm>
        </p:spPr>
        <p:txBody>
          <a:bodyPr/>
          <a:lstStyle/>
          <a:p>
            <a:r>
              <a:rPr lang="en-US" dirty="0"/>
              <a:t>TWO-YEAR ACTION PLAN</a:t>
            </a:r>
          </a:p>
        </p:txBody>
      </p:sp>
      <p:sp>
        <p:nvSpPr>
          <p:cNvPr id="110" name="Text Placeholder 31">
            <a:extLst>
              <a:ext uri="{FF2B5EF4-FFF2-40B4-BE49-F238E27FC236}">
                <a16:creationId xmlns:a16="http://schemas.microsoft.com/office/drawing/2014/main" id="{2FF506C9-7C92-4B9C-A356-9B519D03C78D}"/>
              </a:ext>
            </a:extLst>
          </p:cNvPr>
          <p:cNvSpPr txBox="1">
            <a:spLocks/>
          </p:cNvSpPr>
          <p:nvPr/>
        </p:nvSpPr>
        <p:spPr>
          <a:xfrm>
            <a:off x="2042184" y="2220913"/>
            <a:ext cx="2057400"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DRAFT BLUEPRINTS</a:t>
            </a:r>
            <a:endParaRPr lang="en-US" sz="1100" dirty="0"/>
          </a:p>
        </p:txBody>
      </p:sp>
      <p:sp>
        <p:nvSpPr>
          <p:cNvPr id="52" name="Text Placeholder 31">
            <a:extLst>
              <a:ext uri="{FF2B5EF4-FFF2-40B4-BE49-F238E27FC236}">
                <a16:creationId xmlns:a16="http://schemas.microsoft.com/office/drawing/2014/main" id="{EFC30FAC-E9E5-427E-B670-7978BE575652}"/>
              </a:ext>
            </a:extLst>
          </p:cNvPr>
          <p:cNvSpPr txBox="1">
            <a:spLocks/>
          </p:cNvSpPr>
          <p:nvPr/>
        </p:nvSpPr>
        <p:spPr>
          <a:xfrm>
            <a:off x="5190031" y="2218613"/>
            <a:ext cx="2057804"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GATHER FEEDBACK</a:t>
            </a:r>
            <a:endParaRPr lang="en-US" sz="1100" dirty="0"/>
          </a:p>
        </p:txBody>
      </p:sp>
      <p:sp>
        <p:nvSpPr>
          <p:cNvPr id="54" name="Text Placeholder 31">
            <a:extLst>
              <a:ext uri="{FF2B5EF4-FFF2-40B4-BE49-F238E27FC236}">
                <a16:creationId xmlns:a16="http://schemas.microsoft.com/office/drawing/2014/main" id="{E0CD2DAB-9E42-4D11-A98D-56ECD20DBC7E}"/>
              </a:ext>
            </a:extLst>
          </p:cNvPr>
          <p:cNvSpPr txBox="1">
            <a:spLocks/>
          </p:cNvSpPr>
          <p:nvPr/>
        </p:nvSpPr>
        <p:spPr>
          <a:xfrm>
            <a:off x="9121117" y="2222398"/>
            <a:ext cx="2057804"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DELIVER TO CLIENT</a:t>
            </a:r>
            <a:endParaRPr lang="en-US" sz="1100" dirty="0"/>
          </a:p>
        </p:txBody>
      </p:sp>
      <p:sp>
        <p:nvSpPr>
          <p:cNvPr id="6" name="Text Placeholder 5">
            <a:extLst>
              <a:ext uri="{FF2B5EF4-FFF2-40B4-BE49-F238E27FC236}">
                <a16:creationId xmlns:a16="http://schemas.microsoft.com/office/drawing/2014/main" id="{A6861FF3-B902-4DEC-B46D-0F2E499C51CF}"/>
              </a:ext>
            </a:extLst>
          </p:cNvPr>
          <p:cNvSpPr>
            <a:spLocks noGrp="1"/>
          </p:cNvSpPr>
          <p:nvPr>
            <p:ph type="body" sz="quarter" idx="33"/>
          </p:nvPr>
        </p:nvSpPr>
        <p:spPr>
          <a:xfrm>
            <a:off x="914399" y="3354712"/>
            <a:ext cx="731520" cy="457200"/>
          </a:xfrm>
        </p:spPr>
        <p:txBody>
          <a:bodyPr>
            <a:normAutofit/>
          </a:bodyPr>
          <a:lstStyle/>
          <a:p>
            <a:r>
              <a:rPr lang="en-US" dirty="0"/>
              <a:t>20XX</a:t>
            </a:r>
          </a:p>
        </p:txBody>
      </p:sp>
      <p:sp>
        <p:nvSpPr>
          <p:cNvPr id="7" name="Text Placeholder 6">
            <a:extLst>
              <a:ext uri="{FF2B5EF4-FFF2-40B4-BE49-F238E27FC236}">
                <a16:creationId xmlns:a16="http://schemas.microsoft.com/office/drawing/2014/main" id="{05941AA2-C85B-41A7-9264-A0C66F32930C}"/>
              </a:ext>
            </a:extLst>
          </p:cNvPr>
          <p:cNvSpPr>
            <a:spLocks noGrp="1"/>
          </p:cNvSpPr>
          <p:nvPr>
            <p:ph type="body" sz="quarter" idx="34"/>
          </p:nvPr>
        </p:nvSpPr>
        <p:spPr>
          <a:xfrm>
            <a:off x="1965960" y="3502152"/>
            <a:ext cx="640080" cy="201776"/>
          </a:xfrm>
        </p:spPr>
        <p:txBody>
          <a:bodyPr>
            <a:normAutofit fontScale="85000" lnSpcReduction="20000"/>
          </a:bodyPr>
          <a:lstStyle/>
          <a:p>
            <a:r>
              <a:rPr lang="en-US" dirty="0"/>
              <a:t>JAN</a:t>
            </a:r>
          </a:p>
        </p:txBody>
      </p:sp>
      <p:sp>
        <p:nvSpPr>
          <p:cNvPr id="8" name="Text Placeholder 7">
            <a:extLst>
              <a:ext uri="{FF2B5EF4-FFF2-40B4-BE49-F238E27FC236}">
                <a16:creationId xmlns:a16="http://schemas.microsoft.com/office/drawing/2014/main" id="{2C4BD3D3-C7A9-46F1-8ED8-AB8D1BB89262}"/>
              </a:ext>
            </a:extLst>
          </p:cNvPr>
          <p:cNvSpPr>
            <a:spLocks noGrp="1"/>
          </p:cNvSpPr>
          <p:nvPr>
            <p:ph type="body" sz="quarter" idx="35"/>
          </p:nvPr>
        </p:nvSpPr>
        <p:spPr>
          <a:xfrm>
            <a:off x="2753880" y="3502152"/>
            <a:ext cx="640080" cy="201776"/>
          </a:xfrm>
        </p:spPr>
        <p:txBody>
          <a:bodyPr>
            <a:normAutofit fontScale="85000" lnSpcReduction="20000"/>
          </a:bodyPr>
          <a:lstStyle/>
          <a:p>
            <a:r>
              <a:rPr lang="en-US" dirty="0"/>
              <a:t>FEB</a:t>
            </a:r>
          </a:p>
        </p:txBody>
      </p:sp>
      <p:sp>
        <p:nvSpPr>
          <p:cNvPr id="9" name="Text Placeholder 8">
            <a:extLst>
              <a:ext uri="{FF2B5EF4-FFF2-40B4-BE49-F238E27FC236}">
                <a16:creationId xmlns:a16="http://schemas.microsoft.com/office/drawing/2014/main" id="{873EDDDB-6509-4407-BA35-232AAF9F198D}"/>
              </a:ext>
            </a:extLst>
          </p:cNvPr>
          <p:cNvSpPr>
            <a:spLocks noGrp="1"/>
          </p:cNvSpPr>
          <p:nvPr>
            <p:ph type="body" sz="quarter" idx="36"/>
          </p:nvPr>
        </p:nvSpPr>
        <p:spPr>
          <a:xfrm>
            <a:off x="3541800" y="3502152"/>
            <a:ext cx="640080" cy="201776"/>
          </a:xfrm>
        </p:spPr>
        <p:txBody>
          <a:bodyPr>
            <a:normAutofit fontScale="85000" lnSpcReduction="20000"/>
          </a:bodyPr>
          <a:lstStyle/>
          <a:p>
            <a:r>
              <a:rPr lang="en-US" dirty="0"/>
              <a:t>MAR</a:t>
            </a:r>
          </a:p>
        </p:txBody>
      </p:sp>
      <p:sp>
        <p:nvSpPr>
          <p:cNvPr id="10" name="Text Placeholder 9">
            <a:extLst>
              <a:ext uri="{FF2B5EF4-FFF2-40B4-BE49-F238E27FC236}">
                <a16:creationId xmlns:a16="http://schemas.microsoft.com/office/drawing/2014/main" id="{A33A061F-AC2A-4E3F-B448-DC6FEC307A53}"/>
              </a:ext>
            </a:extLst>
          </p:cNvPr>
          <p:cNvSpPr>
            <a:spLocks noGrp="1"/>
          </p:cNvSpPr>
          <p:nvPr>
            <p:ph type="body" sz="quarter" idx="37"/>
          </p:nvPr>
        </p:nvSpPr>
        <p:spPr>
          <a:xfrm>
            <a:off x="4329720" y="3502152"/>
            <a:ext cx="640080" cy="201776"/>
          </a:xfrm>
        </p:spPr>
        <p:txBody>
          <a:bodyPr>
            <a:normAutofit fontScale="85000" lnSpcReduction="20000"/>
          </a:bodyPr>
          <a:lstStyle/>
          <a:p>
            <a:r>
              <a:rPr lang="en-US" dirty="0"/>
              <a:t>APR</a:t>
            </a:r>
          </a:p>
        </p:txBody>
      </p:sp>
      <p:sp>
        <p:nvSpPr>
          <p:cNvPr id="12" name="Text Placeholder 11">
            <a:extLst>
              <a:ext uri="{FF2B5EF4-FFF2-40B4-BE49-F238E27FC236}">
                <a16:creationId xmlns:a16="http://schemas.microsoft.com/office/drawing/2014/main" id="{FAC81818-8260-4E49-9FCC-569FDE30B0B1}"/>
              </a:ext>
            </a:extLst>
          </p:cNvPr>
          <p:cNvSpPr>
            <a:spLocks noGrp="1"/>
          </p:cNvSpPr>
          <p:nvPr>
            <p:ph type="body" sz="quarter" idx="39"/>
          </p:nvPr>
        </p:nvSpPr>
        <p:spPr>
          <a:xfrm>
            <a:off x="5117640" y="3502152"/>
            <a:ext cx="640080" cy="201776"/>
          </a:xfrm>
        </p:spPr>
        <p:txBody>
          <a:bodyPr>
            <a:normAutofit fontScale="85000" lnSpcReduction="20000"/>
          </a:bodyPr>
          <a:lstStyle/>
          <a:p>
            <a:r>
              <a:rPr lang="en-US" dirty="0"/>
              <a:t>MAY</a:t>
            </a:r>
          </a:p>
        </p:txBody>
      </p:sp>
      <p:sp>
        <p:nvSpPr>
          <p:cNvPr id="13" name="Text Placeholder 12">
            <a:extLst>
              <a:ext uri="{FF2B5EF4-FFF2-40B4-BE49-F238E27FC236}">
                <a16:creationId xmlns:a16="http://schemas.microsoft.com/office/drawing/2014/main" id="{D1FD068B-6917-4C40-B40D-5F7B670EA7BE}"/>
              </a:ext>
            </a:extLst>
          </p:cNvPr>
          <p:cNvSpPr>
            <a:spLocks noGrp="1"/>
          </p:cNvSpPr>
          <p:nvPr>
            <p:ph type="body" sz="quarter" idx="40"/>
          </p:nvPr>
        </p:nvSpPr>
        <p:spPr>
          <a:xfrm>
            <a:off x="5905560" y="3502152"/>
            <a:ext cx="640080" cy="201776"/>
          </a:xfrm>
        </p:spPr>
        <p:txBody>
          <a:bodyPr>
            <a:normAutofit fontScale="85000" lnSpcReduction="20000"/>
          </a:bodyPr>
          <a:lstStyle/>
          <a:p>
            <a:r>
              <a:rPr lang="en-US" dirty="0"/>
              <a:t>JUN</a:t>
            </a:r>
          </a:p>
        </p:txBody>
      </p:sp>
      <p:sp>
        <p:nvSpPr>
          <p:cNvPr id="14" name="Text Placeholder 13">
            <a:extLst>
              <a:ext uri="{FF2B5EF4-FFF2-40B4-BE49-F238E27FC236}">
                <a16:creationId xmlns:a16="http://schemas.microsoft.com/office/drawing/2014/main" id="{EEAE71AD-30AF-4021-B577-B686EC6DA329}"/>
              </a:ext>
            </a:extLst>
          </p:cNvPr>
          <p:cNvSpPr>
            <a:spLocks noGrp="1"/>
          </p:cNvSpPr>
          <p:nvPr>
            <p:ph type="body" sz="quarter" idx="41"/>
          </p:nvPr>
        </p:nvSpPr>
        <p:spPr>
          <a:xfrm>
            <a:off x="6693480" y="3502152"/>
            <a:ext cx="640080" cy="201776"/>
          </a:xfrm>
        </p:spPr>
        <p:txBody>
          <a:bodyPr>
            <a:normAutofit fontScale="85000" lnSpcReduction="20000"/>
          </a:bodyPr>
          <a:lstStyle/>
          <a:p>
            <a:r>
              <a:rPr lang="en-US" dirty="0"/>
              <a:t>JUL</a:t>
            </a:r>
          </a:p>
        </p:txBody>
      </p:sp>
      <p:sp>
        <p:nvSpPr>
          <p:cNvPr id="16" name="Text Placeholder 15">
            <a:extLst>
              <a:ext uri="{FF2B5EF4-FFF2-40B4-BE49-F238E27FC236}">
                <a16:creationId xmlns:a16="http://schemas.microsoft.com/office/drawing/2014/main" id="{D8E5FFBE-125E-43C8-A66E-DE8D2FE7AF38}"/>
              </a:ext>
            </a:extLst>
          </p:cNvPr>
          <p:cNvSpPr>
            <a:spLocks noGrp="1"/>
          </p:cNvSpPr>
          <p:nvPr>
            <p:ph type="body" sz="quarter" idx="43"/>
          </p:nvPr>
        </p:nvSpPr>
        <p:spPr>
          <a:xfrm>
            <a:off x="7481400" y="3502152"/>
            <a:ext cx="640080" cy="201776"/>
          </a:xfrm>
        </p:spPr>
        <p:txBody>
          <a:bodyPr>
            <a:normAutofit fontScale="85000" lnSpcReduction="20000"/>
          </a:bodyPr>
          <a:lstStyle/>
          <a:p>
            <a:r>
              <a:rPr lang="en-US" dirty="0"/>
              <a:t>AUG</a:t>
            </a:r>
          </a:p>
        </p:txBody>
      </p:sp>
      <p:sp>
        <p:nvSpPr>
          <p:cNvPr id="17" name="Text Placeholder 16">
            <a:extLst>
              <a:ext uri="{FF2B5EF4-FFF2-40B4-BE49-F238E27FC236}">
                <a16:creationId xmlns:a16="http://schemas.microsoft.com/office/drawing/2014/main" id="{7209F81D-5EC6-4D97-B0C2-AC00081AB1A7}"/>
              </a:ext>
            </a:extLst>
          </p:cNvPr>
          <p:cNvSpPr>
            <a:spLocks noGrp="1"/>
          </p:cNvSpPr>
          <p:nvPr>
            <p:ph type="body" sz="quarter" idx="44"/>
          </p:nvPr>
        </p:nvSpPr>
        <p:spPr>
          <a:xfrm>
            <a:off x="8269320" y="3502152"/>
            <a:ext cx="640080" cy="201776"/>
          </a:xfrm>
        </p:spPr>
        <p:txBody>
          <a:bodyPr>
            <a:normAutofit fontScale="85000" lnSpcReduction="20000"/>
          </a:bodyPr>
          <a:lstStyle/>
          <a:p>
            <a:r>
              <a:rPr lang="en-US" dirty="0"/>
              <a:t>SEP</a:t>
            </a:r>
          </a:p>
        </p:txBody>
      </p:sp>
      <p:sp>
        <p:nvSpPr>
          <p:cNvPr id="15" name="Text Placeholder 14">
            <a:extLst>
              <a:ext uri="{FF2B5EF4-FFF2-40B4-BE49-F238E27FC236}">
                <a16:creationId xmlns:a16="http://schemas.microsoft.com/office/drawing/2014/main" id="{4A477EE3-A17C-4158-91E8-03A401BE96CB}"/>
              </a:ext>
            </a:extLst>
          </p:cNvPr>
          <p:cNvSpPr>
            <a:spLocks noGrp="1"/>
          </p:cNvSpPr>
          <p:nvPr>
            <p:ph type="body" sz="quarter" idx="42"/>
          </p:nvPr>
        </p:nvSpPr>
        <p:spPr>
          <a:xfrm>
            <a:off x="9057240" y="3502152"/>
            <a:ext cx="640080" cy="201776"/>
          </a:xfrm>
        </p:spPr>
        <p:txBody>
          <a:bodyPr>
            <a:normAutofit fontScale="85000" lnSpcReduction="20000"/>
          </a:bodyPr>
          <a:lstStyle/>
          <a:p>
            <a:r>
              <a:rPr lang="en-US" dirty="0"/>
              <a:t>OCT</a:t>
            </a:r>
          </a:p>
        </p:txBody>
      </p:sp>
      <p:sp>
        <p:nvSpPr>
          <p:cNvPr id="18" name="Text Placeholder 17">
            <a:extLst>
              <a:ext uri="{FF2B5EF4-FFF2-40B4-BE49-F238E27FC236}">
                <a16:creationId xmlns:a16="http://schemas.microsoft.com/office/drawing/2014/main" id="{C477818B-3CAB-4A39-939D-99E98D2EE682}"/>
              </a:ext>
            </a:extLst>
          </p:cNvPr>
          <p:cNvSpPr>
            <a:spLocks noGrp="1"/>
          </p:cNvSpPr>
          <p:nvPr>
            <p:ph type="body" sz="quarter" idx="45"/>
          </p:nvPr>
        </p:nvSpPr>
        <p:spPr>
          <a:xfrm>
            <a:off x="9845160" y="3502152"/>
            <a:ext cx="640080" cy="201776"/>
          </a:xfrm>
        </p:spPr>
        <p:txBody>
          <a:bodyPr>
            <a:normAutofit fontScale="85000" lnSpcReduction="20000"/>
          </a:bodyPr>
          <a:lstStyle/>
          <a:p>
            <a:r>
              <a:rPr lang="en-US" dirty="0"/>
              <a:t>NOV</a:t>
            </a:r>
          </a:p>
        </p:txBody>
      </p:sp>
      <p:sp>
        <p:nvSpPr>
          <p:cNvPr id="19" name="Text Placeholder 18">
            <a:extLst>
              <a:ext uri="{FF2B5EF4-FFF2-40B4-BE49-F238E27FC236}">
                <a16:creationId xmlns:a16="http://schemas.microsoft.com/office/drawing/2014/main" id="{A7907FC8-DAAF-4896-A2B1-C173BF2FAE69}"/>
              </a:ext>
            </a:extLst>
          </p:cNvPr>
          <p:cNvSpPr>
            <a:spLocks noGrp="1"/>
          </p:cNvSpPr>
          <p:nvPr>
            <p:ph type="body" sz="quarter" idx="46"/>
          </p:nvPr>
        </p:nvSpPr>
        <p:spPr>
          <a:xfrm>
            <a:off x="10633085" y="3502152"/>
            <a:ext cx="640080" cy="201776"/>
          </a:xfrm>
        </p:spPr>
        <p:txBody>
          <a:bodyPr>
            <a:normAutofit fontScale="85000" lnSpcReduction="20000"/>
          </a:bodyPr>
          <a:lstStyle/>
          <a:p>
            <a:r>
              <a:rPr lang="en-US" dirty="0"/>
              <a:t>DEC</a:t>
            </a:r>
          </a:p>
        </p:txBody>
      </p:sp>
      <p:sp>
        <p:nvSpPr>
          <p:cNvPr id="11" name="Year">
            <a:extLst>
              <a:ext uri="{FF2B5EF4-FFF2-40B4-BE49-F238E27FC236}">
                <a16:creationId xmlns:a16="http://schemas.microsoft.com/office/drawing/2014/main" id="{44D29552-2F85-4F4F-9B7F-B79798681FB6}"/>
              </a:ext>
            </a:extLst>
          </p:cNvPr>
          <p:cNvSpPr>
            <a:spLocks noGrp="1"/>
          </p:cNvSpPr>
          <p:nvPr>
            <p:ph type="body" sz="quarter" idx="38"/>
          </p:nvPr>
        </p:nvSpPr>
        <p:spPr>
          <a:xfrm>
            <a:off x="914400" y="4292468"/>
            <a:ext cx="731520" cy="457200"/>
          </a:xfrm>
        </p:spPr>
        <p:txBody>
          <a:bodyPr>
            <a:normAutofit/>
          </a:bodyPr>
          <a:lstStyle/>
          <a:p>
            <a:r>
              <a:rPr lang="en-US" dirty="0"/>
              <a:t>20XX</a:t>
            </a:r>
          </a:p>
        </p:txBody>
      </p:sp>
      <p:sp>
        <p:nvSpPr>
          <p:cNvPr id="20" name="Text Placeholder 19">
            <a:extLst>
              <a:ext uri="{FF2B5EF4-FFF2-40B4-BE49-F238E27FC236}">
                <a16:creationId xmlns:a16="http://schemas.microsoft.com/office/drawing/2014/main" id="{FEC65619-A68A-4D21-9D17-40F8692EF196}"/>
              </a:ext>
            </a:extLst>
          </p:cNvPr>
          <p:cNvSpPr>
            <a:spLocks noGrp="1"/>
          </p:cNvSpPr>
          <p:nvPr>
            <p:ph type="body" sz="quarter" idx="47"/>
          </p:nvPr>
        </p:nvSpPr>
        <p:spPr>
          <a:xfrm>
            <a:off x="1969915" y="4425696"/>
            <a:ext cx="640080" cy="201776"/>
          </a:xfrm>
        </p:spPr>
        <p:txBody>
          <a:bodyPr>
            <a:normAutofit fontScale="85000" lnSpcReduction="20000"/>
          </a:bodyPr>
          <a:lstStyle/>
          <a:p>
            <a:r>
              <a:rPr lang="en-US" dirty="0"/>
              <a:t>JAN</a:t>
            </a:r>
          </a:p>
        </p:txBody>
      </p:sp>
      <p:sp>
        <p:nvSpPr>
          <p:cNvPr id="21" name="Text Placeholder 20">
            <a:extLst>
              <a:ext uri="{FF2B5EF4-FFF2-40B4-BE49-F238E27FC236}">
                <a16:creationId xmlns:a16="http://schemas.microsoft.com/office/drawing/2014/main" id="{D9C4CCA5-A2BE-4897-994D-9B1669D69FD3}"/>
              </a:ext>
            </a:extLst>
          </p:cNvPr>
          <p:cNvSpPr>
            <a:spLocks noGrp="1"/>
          </p:cNvSpPr>
          <p:nvPr>
            <p:ph type="body" sz="quarter" idx="48"/>
          </p:nvPr>
        </p:nvSpPr>
        <p:spPr>
          <a:xfrm>
            <a:off x="2757602" y="4425696"/>
            <a:ext cx="640080" cy="201776"/>
          </a:xfrm>
        </p:spPr>
        <p:txBody>
          <a:bodyPr>
            <a:normAutofit fontScale="85000" lnSpcReduction="20000"/>
          </a:bodyPr>
          <a:lstStyle/>
          <a:p>
            <a:r>
              <a:rPr lang="en-US" dirty="0"/>
              <a:t>FEB</a:t>
            </a:r>
          </a:p>
        </p:txBody>
      </p:sp>
      <p:sp>
        <p:nvSpPr>
          <p:cNvPr id="22" name="Text Placeholder 21">
            <a:extLst>
              <a:ext uri="{FF2B5EF4-FFF2-40B4-BE49-F238E27FC236}">
                <a16:creationId xmlns:a16="http://schemas.microsoft.com/office/drawing/2014/main" id="{0C5FD452-DC3E-4D62-B19B-0A79E604A8A8}"/>
              </a:ext>
            </a:extLst>
          </p:cNvPr>
          <p:cNvSpPr>
            <a:spLocks noGrp="1"/>
          </p:cNvSpPr>
          <p:nvPr>
            <p:ph type="body" sz="quarter" idx="49"/>
          </p:nvPr>
        </p:nvSpPr>
        <p:spPr>
          <a:xfrm>
            <a:off x="3545289" y="4425696"/>
            <a:ext cx="640080" cy="201776"/>
          </a:xfrm>
        </p:spPr>
        <p:txBody>
          <a:bodyPr>
            <a:normAutofit fontScale="85000" lnSpcReduction="20000"/>
          </a:bodyPr>
          <a:lstStyle/>
          <a:p>
            <a:r>
              <a:rPr lang="en-US" dirty="0"/>
              <a:t>MAR</a:t>
            </a:r>
          </a:p>
        </p:txBody>
      </p:sp>
      <p:sp>
        <p:nvSpPr>
          <p:cNvPr id="23" name="Text Placeholder 22">
            <a:extLst>
              <a:ext uri="{FF2B5EF4-FFF2-40B4-BE49-F238E27FC236}">
                <a16:creationId xmlns:a16="http://schemas.microsoft.com/office/drawing/2014/main" id="{96D290B2-F312-4D9A-96C7-D40523406AC5}"/>
              </a:ext>
            </a:extLst>
          </p:cNvPr>
          <p:cNvSpPr>
            <a:spLocks noGrp="1"/>
          </p:cNvSpPr>
          <p:nvPr>
            <p:ph type="body" sz="quarter" idx="50"/>
          </p:nvPr>
        </p:nvSpPr>
        <p:spPr>
          <a:xfrm>
            <a:off x="4332976" y="4425696"/>
            <a:ext cx="640080" cy="201776"/>
          </a:xfrm>
        </p:spPr>
        <p:txBody>
          <a:bodyPr>
            <a:normAutofit fontScale="85000" lnSpcReduction="20000"/>
          </a:bodyPr>
          <a:lstStyle/>
          <a:p>
            <a:r>
              <a:rPr lang="en-US" dirty="0"/>
              <a:t>APR</a:t>
            </a:r>
          </a:p>
        </p:txBody>
      </p:sp>
      <p:sp>
        <p:nvSpPr>
          <p:cNvPr id="24" name="Text Placeholder 23">
            <a:extLst>
              <a:ext uri="{FF2B5EF4-FFF2-40B4-BE49-F238E27FC236}">
                <a16:creationId xmlns:a16="http://schemas.microsoft.com/office/drawing/2014/main" id="{80E52477-0BA9-471B-B2C2-F1A03FCF188F}"/>
              </a:ext>
            </a:extLst>
          </p:cNvPr>
          <p:cNvSpPr>
            <a:spLocks noGrp="1"/>
          </p:cNvSpPr>
          <p:nvPr>
            <p:ph type="body" sz="quarter" idx="51"/>
          </p:nvPr>
        </p:nvSpPr>
        <p:spPr>
          <a:xfrm>
            <a:off x="5120663" y="4425696"/>
            <a:ext cx="640080" cy="201776"/>
          </a:xfrm>
        </p:spPr>
        <p:txBody>
          <a:bodyPr>
            <a:normAutofit fontScale="85000" lnSpcReduction="20000"/>
          </a:bodyPr>
          <a:lstStyle/>
          <a:p>
            <a:r>
              <a:rPr lang="en-US" dirty="0"/>
              <a:t>MAY</a:t>
            </a:r>
          </a:p>
        </p:txBody>
      </p:sp>
      <p:sp>
        <p:nvSpPr>
          <p:cNvPr id="25" name="Text Placeholder 24">
            <a:extLst>
              <a:ext uri="{FF2B5EF4-FFF2-40B4-BE49-F238E27FC236}">
                <a16:creationId xmlns:a16="http://schemas.microsoft.com/office/drawing/2014/main" id="{70D1D022-03FA-47E6-8430-252C6D5B4C4E}"/>
              </a:ext>
            </a:extLst>
          </p:cNvPr>
          <p:cNvSpPr>
            <a:spLocks noGrp="1"/>
          </p:cNvSpPr>
          <p:nvPr>
            <p:ph type="body" sz="quarter" idx="52"/>
          </p:nvPr>
        </p:nvSpPr>
        <p:spPr>
          <a:xfrm>
            <a:off x="5908350" y="4425696"/>
            <a:ext cx="640080" cy="201776"/>
          </a:xfrm>
        </p:spPr>
        <p:txBody>
          <a:bodyPr>
            <a:normAutofit fontScale="85000" lnSpcReduction="20000"/>
          </a:bodyPr>
          <a:lstStyle/>
          <a:p>
            <a:r>
              <a:rPr lang="en-US" dirty="0"/>
              <a:t>JUN</a:t>
            </a:r>
          </a:p>
        </p:txBody>
      </p:sp>
      <p:sp>
        <p:nvSpPr>
          <p:cNvPr id="26" name="Text Placeholder 25">
            <a:extLst>
              <a:ext uri="{FF2B5EF4-FFF2-40B4-BE49-F238E27FC236}">
                <a16:creationId xmlns:a16="http://schemas.microsoft.com/office/drawing/2014/main" id="{FA7483FC-7290-41B1-B371-ECA1174519DE}"/>
              </a:ext>
            </a:extLst>
          </p:cNvPr>
          <p:cNvSpPr>
            <a:spLocks noGrp="1"/>
          </p:cNvSpPr>
          <p:nvPr>
            <p:ph type="body" sz="quarter" idx="53"/>
          </p:nvPr>
        </p:nvSpPr>
        <p:spPr>
          <a:xfrm>
            <a:off x="6696037" y="4425696"/>
            <a:ext cx="640080" cy="201776"/>
          </a:xfrm>
        </p:spPr>
        <p:txBody>
          <a:bodyPr>
            <a:normAutofit fontScale="85000" lnSpcReduction="20000"/>
          </a:bodyPr>
          <a:lstStyle/>
          <a:p>
            <a:r>
              <a:rPr lang="en-US" dirty="0"/>
              <a:t>JUL</a:t>
            </a:r>
          </a:p>
        </p:txBody>
      </p:sp>
      <p:sp>
        <p:nvSpPr>
          <p:cNvPr id="28" name="Text Placeholder 27">
            <a:extLst>
              <a:ext uri="{FF2B5EF4-FFF2-40B4-BE49-F238E27FC236}">
                <a16:creationId xmlns:a16="http://schemas.microsoft.com/office/drawing/2014/main" id="{D149E385-DCE9-4DC9-8F0A-F8BAF02D9797}"/>
              </a:ext>
            </a:extLst>
          </p:cNvPr>
          <p:cNvSpPr>
            <a:spLocks noGrp="1"/>
          </p:cNvSpPr>
          <p:nvPr>
            <p:ph type="body" sz="quarter" idx="55"/>
          </p:nvPr>
        </p:nvSpPr>
        <p:spPr>
          <a:xfrm>
            <a:off x="7483724" y="4425696"/>
            <a:ext cx="640080" cy="201776"/>
          </a:xfrm>
        </p:spPr>
        <p:txBody>
          <a:bodyPr>
            <a:normAutofit fontScale="85000" lnSpcReduction="20000"/>
          </a:bodyPr>
          <a:lstStyle/>
          <a:p>
            <a:r>
              <a:rPr lang="en-US" dirty="0"/>
              <a:t>AUG</a:t>
            </a:r>
          </a:p>
        </p:txBody>
      </p:sp>
      <p:sp>
        <p:nvSpPr>
          <p:cNvPr id="29" name="Text Placeholder 28">
            <a:extLst>
              <a:ext uri="{FF2B5EF4-FFF2-40B4-BE49-F238E27FC236}">
                <a16:creationId xmlns:a16="http://schemas.microsoft.com/office/drawing/2014/main" id="{B7A506EE-32D5-4685-97A6-8FDFEF238C43}"/>
              </a:ext>
            </a:extLst>
          </p:cNvPr>
          <p:cNvSpPr>
            <a:spLocks noGrp="1"/>
          </p:cNvSpPr>
          <p:nvPr>
            <p:ph type="body" sz="quarter" idx="56"/>
          </p:nvPr>
        </p:nvSpPr>
        <p:spPr>
          <a:xfrm>
            <a:off x="8271411" y="4425696"/>
            <a:ext cx="640080" cy="201776"/>
          </a:xfrm>
        </p:spPr>
        <p:txBody>
          <a:bodyPr>
            <a:normAutofit fontScale="85000" lnSpcReduction="20000"/>
          </a:bodyPr>
          <a:lstStyle/>
          <a:p>
            <a:r>
              <a:rPr lang="en-US" dirty="0"/>
              <a:t>SEP</a:t>
            </a:r>
          </a:p>
        </p:txBody>
      </p:sp>
      <p:sp>
        <p:nvSpPr>
          <p:cNvPr id="27" name="Text Placeholder 26">
            <a:extLst>
              <a:ext uri="{FF2B5EF4-FFF2-40B4-BE49-F238E27FC236}">
                <a16:creationId xmlns:a16="http://schemas.microsoft.com/office/drawing/2014/main" id="{1787EDAC-5EAB-4A0D-9BD2-D6E9FD0B26A1}"/>
              </a:ext>
            </a:extLst>
          </p:cNvPr>
          <p:cNvSpPr>
            <a:spLocks noGrp="1"/>
          </p:cNvSpPr>
          <p:nvPr>
            <p:ph type="body" sz="quarter" idx="54"/>
          </p:nvPr>
        </p:nvSpPr>
        <p:spPr>
          <a:xfrm>
            <a:off x="9059098" y="4425696"/>
            <a:ext cx="640080" cy="201776"/>
          </a:xfrm>
        </p:spPr>
        <p:txBody>
          <a:bodyPr>
            <a:normAutofit fontScale="85000" lnSpcReduction="20000"/>
          </a:bodyPr>
          <a:lstStyle/>
          <a:p>
            <a:r>
              <a:rPr lang="en-US" dirty="0"/>
              <a:t>OCT</a:t>
            </a:r>
          </a:p>
        </p:txBody>
      </p:sp>
      <p:sp>
        <p:nvSpPr>
          <p:cNvPr id="30" name="Text Placeholder 29">
            <a:extLst>
              <a:ext uri="{FF2B5EF4-FFF2-40B4-BE49-F238E27FC236}">
                <a16:creationId xmlns:a16="http://schemas.microsoft.com/office/drawing/2014/main" id="{E80CB353-63CA-4305-9748-807B6905DBFF}"/>
              </a:ext>
            </a:extLst>
          </p:cNvPr>
          <p:cNvSpPr>
            <a:spLocks noGrp="1"/>
          </p:cNvSpPr>
          <p:nvPr>
            <p:ph type="body" sz="quarter" idx="57"/>
          </p:nvPr>
        </p:nvSpPr>
        <p:spPr>
          <a:xfrm>
            <a:off x="9846785" y="4425696"/>
            <a:ext cx="640080" cy="201776"/>
          </a:xfrm>
        </p:spPr>
        <p:txBody>
          <a:bodyPr>
            <a:normAutofit fontScale="85000" lnSpcReduction="20000"/>
          </a:bodyPr>
          <a:lstStyle/>
          <a:p>
            <a:r>
              <a:rPr lang="en-US" dirty="0"/>
              <a:t>NOV</a:t>
            </a:r>
          </a:p>
        </p:txBody>
      </p:sp>
      <p:sp>
        <p:nvSpPr>
          <p:cNvPr id="31" name="Text Placeholder 30">
            <a:extLst>
              <a:ext uri="{FF2B5EF4-FFF2-40B4-BE49-F238E27FC236}">
                <a16:creationId xmlns:a16="http://schemas.microsoft.com/office/drawing/2014/main" id="{1B52C010-5159-4F61-821F-E73647E7C066}"/>
              </a:ext>
            </a:extLst>
          </p:cNvPr>
          <p:cNvSpPr>
            <a:spLocks noGrp="1"/>
          </p:cNvSpPr>
          <p:nvPr>
            <p:ph type="body" sz="quarter" idx="58"/>
          </p:nvPr>
        </p:nvSpPr>
        <p:spPr>
          <a:xfrm>
            <a:off x="10634472" y="4425696"/>
            <a:ext cx="640080" cy="201776"/>
          </a:xfrm>
        </p:spPr>
        <p:txBody>
          <a:bodyPr>
            <a:normAutofit fontScale="85000" lnSpcReduction="20000"/>
          </a:bodyPr>
          <a:lstStyle/>
          <a:p>
            <a:r>
              <a:rPr lang="en-US" dirty="0"/>
              <a:t>DEC</a:t>
            </a:r>
          </a:p>
        </p:txBody>
      </p:sp>
      <p:cxnSp>
        <p:nvCxnSpPr>
          <p:cNvPr id="45" name="Straight Connector 44">
            <a:extLst>
              <a:ext uri="{FF2B5EF4-FFF2-40B4-BE49-F238E27FC236}">
                <a16:creationId xmlns:a16="http://schemas.microsoft.com/office/drawing/2014/main" id="{7AAE5EC1-092E-4A01-B866-C63F654AC331}"/>
              </a:ext>
              <a:ext uri="{C183D7F6-B498-43B3-948B-1728B52AA6E4}">
                <adec:decorative xmlns:adec="http://schemas.microsoft.com/office/drawing/2017/decorative" val="1"/>
              </a:ext>
            </a:extLst>
          </p:cNvPr>
          <p:cNvCxnSpPr>
            <a:cxnSpLocks/>
            <a:endCxn id="33" idx="0"/>
          </p:cNvCxnSpPr>
          <p:nvPr/>
        </p:nvCxnSpPr>
        <p:spPr>
          <a:xfrm>
            <a:off x="3073920" y="2904543"/>
            <a:ext cx="3722" cy="5334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44DC497-37D3-454C-98C5-A4A1043E55E5}"/>
              </a:ext>
              <a:ext uri="{C183D7F6-B498-43B3-948B-1728B52AA6E4}">
                <adec:decorative xmlns:adec="http://schemas.microsoft.com/office/drawing/2017/decorative" val="1"/>
              </a:ext>
            </a:extLst>
          </p:cNvPr>
          <p:cNvCxnSpPr>
            <a:cxnSpLocks/>
            <a:endCxn id="34" idx="0"/>
          </p:cNvCxnSpPr>
          <p:nvPr/>
        </p:nvCxnSpPr>
        <p:spPr>
          <a:xfrm>
            <a:off x="6218933" y="2901831"/>
            <a:ext cx="6667" cy="538024"/>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F3C6EDC-B2DD-42F0-911D-04963A0F20BE}"/>
              </a:ext>
              <a:ext uri="{C183D7F6-B498-43B3-948B-1728B52AA6E4}">
                <adec:decorative xmlns:adec="http://schemas.microsoft.com/office/drawing/2017/decorative" val="1"/>
              </a:ext>
            </a:extLst>
          </p:cNvPr>
          <p:cNvCxnSpPr>
            <a:cxnSpLocks/>
            <a:endCxn id="35" idx="0"/>
          </p:cNvCxnSpPr>
          <p:nvPr/>
        </p:nvCxnSpPr>
        <p:spPr>
          <a:xfrm>
            <a:off x="10150019" y="2905616"/>
            <a:ext cx="0" cy="532327"/>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3FBB4508-2CA6-4A49-9EAD-91DB1B20514A}"/>
              </a:ext>
              <a:ext uri="{C183D7F6-B498-43B3-948B-1728B52AA6E4}">
                <adec:decorative xmlns:adec="http://schemas.microsoft.com/office/drawing/2017/decorative" val="1"/>
              </a:ext>
            </a:extLst>
          </p:cNvPr>
          <p:cNvSpPr/>
          <p:nvPr/>
        </p:nvSpPr>
        <p:spPr>
          <a:xfrm>
            <a:off x="2814179"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88989049-2208-43EB-A323-1B5374E0A2D0}"/>
              </a:ext>
              <a:ext uri="{C183D7F6-B498-43B3-948B-1728B52AA6E4}">
                <adec:decorative xmlns:adec="http://schemas.microsoft.com/office/drawing/2017/decorative" val="1"/>
              </a:ext>
            </a:extLst>
          </p:cNvPr>
          <p:cNvSpPr/>
          <p:nvPr/>
        </p:nvSpPr>
        <p:spPr>
          <a:xfrm>
            <a:off x="5962137" y="3439855"/>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E3093EB5-1D82-4E0B-A4EF-8517FC047E4C}"/>
              </a:ext>
              <a:ext uri="{C183D7F6-B498-43B3-948B-1728B52AA6E4}">
                <adec:decorative xmlns:adec="http://schemas.microsoft.com/office/drawing/2017/decorative" val="1"/>
              </a:ext>
            </a:extLst>
          </p:cNvPr>
          <p:cNvSpPr/>
          <p:nvPr/>
        </p:nvSpPr>
        <p:spPr>
          <a:xfrm>
            <a:off x="9886556"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Text Placeholder 31">
            <a:extLst>
              <a:ext uri="{FF2B5EF4-FFF2-40B4-BE49-F238E27FC236}">
                <a16:creationId xmlns:a16="http://schemas.microsoft.com/office/drawing/2014/main" id="{6E8FAB27-F000-4DFF-8595-B8ADBB6058E9}"/>
              </a:ext>
            </a:extLst>
          </p:cNvPr>
          <p:cNvSpPr txBox="1">
            <a:spLocks/>
          </p:cNvSpPr>
          <p:nvPr/>
        </p:nvSpPr>
        <p:spPr>
          <a:xfrm>
            <a:off x="1259117" y="5206365"/>
            <a:ext cx="2057804" cy="56197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RUN FOCUS GROUPS</a:t>
            </a:r>
            <a:endParaRPr lang="en-US" sz="1100" dirty="0"/>
          </a:p>
        </p:txBody>
      </p:sp>
      <p:cxnSp>
        <p:nvCxnSpPr>
          <p:cNvPr id="57" name="Straight Connector 56">
            <a:extLst>
              <a:ext uri="{FF2B5EF4-FFF2-40B4-BE49-F238E27FC236}">
                <a16:creationId xmlns:a16="http://schemas.microsoft.com/office/drawing/2014/main" id="{0C8EDAF4-CF26-40C7-AACE-2482D9323350}"/>
              </a:ext>
              <a:ext uri="{C183D7F6-B498-43B3-948B-1728B52AA6E4}">
                <adec:decorative xmlns:adec="http://schemas.microsoft.com/office/drawing/2017/decorative" val="1"/>
              </a:ext>
            </a:extLst>
          </p:cNvPr>
          <p:cNvCxnSpPr>
            <a:cxnSpLocks/>
            <a:stCxn id="48" idx="2"/>
          </p:cNvCxnSpPr>
          <p:nvPr/>
        </p:nvCxnSpPr>
        <p:spPr>
          <a:xfrm>
            <a:off x="2286000" y="4638776"/>
            <a:ext cx="2019"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9" name="Text Placeholder 31">
            <a:extLst>
              <a:ext uri="{FF2B5EF4-FFF2-40B4-BE49-F238E27FC236}">
                <a16:creationId xmlns:a16="http://schemas.microsoft.com/office/drawing/2014/main" id="{234079D9-E00C-4C6B-9F2D-D0BCB9C9D7D8}"/>
              </a:ext>
            </a:extLst>
          </p:cNvPr>
          <p:cNvSpPr txBox="1">
            <a:spLocks/>
          </p:cNvSpPr>
          <p:nvPr/>
        </p:nvSpPr>
        <p:spPr>
          <a:xfrm>
            <a:off x="4406652"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TEST DESIGN</a:t>
            </a:r>
            <a:endParaRPr lang="en-US" sz="1100" dirty="0"/>
          </a:p>
        </p:txBody>
      </p:sp>
      <p:cxnSp>
        <p:nvCxnSpPr>
          <p:cNvPr id="61" name="Straight Connector 60">
            <a:extLst>
              <a:ext uri="{FF2B5EF4-FFF2-40B4-BE49-F238E27FC236}">
                <a16:creationId xmlns:a16="http://schemas.microsoft.com/office/drawing/2014/main" id="{F8C93671-1250-4705-A092-97036B901279}"/>
              </a:ext>
              <a:ext uri="{C183D7F6-B498-43B3-948B-1728B52AA6E4}">
                <adec:decorative xmlns:adec="http://schemas.microsoft.com/office/drawing/2017/decorative" val="1"/>
              </a:ext>
            </a:extLst>
          </p:cNvPr>
          <p:cNvCxnSpPr>
            <a:cxnSpLocks/>
            <a:stCxn id="51" idx="2"/>
          </p:cNvCxnSpPr>
          <p:nvPr/>
        </p:nvCxnSpPr>
        <p:spPr>
          <a:xfrm>
            <a:off x="5434293" y="4638776"/>
            <a:ext cx="1261"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 name="Text Placeholder 31">
            <a:extLst>
              <a:ext uri="{FF2B5EF4-FFF2-40B4-BE49-F238E27FC236}">
                <a16:creationId xmlns:a16="http://schemas.microsoft.com/office/drawing/2014/main" id="{7C5F4630-959D-43D6-A6F0-5D5F3A4117C1}"/>
              </a:ext>
            </a:extLst>
          </p:cNvPr>
          <p:cNvSpPr txBox="1">
            <a:spLocks/>
          </p:cNvSpPr>
          <p:nvPr/>
        </p:nvSpPr>
        <p:spPr>
          <a:xfrm>
            <a:off x="7581698"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LAUNCH DESIGN</a:t>
            </a:r>
            <a:endParaRPr lang="en-US" sz="1100" dirty="0"/>
          </a:p>
        </p:txBody>
      </p:sp>
      <p:cxnSp>
        <p:nvCxnSpPr>
          <p:cNvPr id="65" name="Straight Connector 64">
            <a:extLst>
              <a:ext uri="{FF2B5EF4-FFF2-40B4-BE49-F238E27FC236}">
                <a16:creationId xmlns:a16="http://schemas.microsoft.com/office/drawing/2014/main" id="{F6C72AC5-2842-4966-BBE7-6F407A9C359B}"/>
              </a:ext>
              <a:ext uri="{C183D7F6-B498-43B3-948B-1728B52AA6E4}">
                <adec:decorative xmlns:adec="http://schemas.microsoft.com/office/drawing/2017/decorative" val="1"/>
              </a:ext>
            </a:extLst>
          </p:cNvPr>
          <p:cNvCxnSpPr>
            <a:cxnSpLocks/>
            <a:stCxn id="58" idx="2"/>
          </p:cNvCxnSpPr>
          <p:nvPr/>
        </p:nvCxnSpPr>
        <p:spPr>
          <a:xfrm>
            <a:off x="8591938" y="4638776"/>
            <a:ext cx="0"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1DC26F87-2877-496A-B506-6A562ACD90AE}"/>
              </a:ext>
              <a:ext uri="{C183D7F6-B498-43B3-948B-1728B52AA6E4}">
                <adec:decorative xmlns:adec="http://schemas.microsoft.com/office/drawing/2017/decorative" val="1"/>
              </a:ext>
            </a:extLst>
          </p:cNvPr>
          <p:cNvSpPr/>
          <p:nvPr/>
        </p:nvSpPr>
        <p:spPr>
          <a:xfrm>
            <a:off x="2022537"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94959EA3-B71F-49E3-A68E-1329BE0461B0}"/>
              </a:ext>
              <a:ext uri="{C183D7F6-B498-43B3-948B-1728B52AA6E4}">
                <adec:decorative xmlns:adec="http://schemas.microsoft.com/office/drawing/2017/decorative" val="1"/>
              </a:ext>
            </a:extLst>
          </p:cNvPr>
          <p:cNvSpPr/>
          <p:nvPr/>
        </p:nvSpPr>
        <p:spPr>
          <a:xfrm>
            <a:off x="5170830"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082DCB52-65FA-4B5F-8785-060AF61C386B}"/>
              </a:ext>
              <a:ext uri="{C183D7F6-B498-43B3-948B-1728B52AA6E4}">
                <adec:decorative xmlns:adec="http://schemas.microsoft.com/office/drawing/2017/decorative" val="1"/>
              </a:ext>
            </a:extLst>
          </p:cNvPr>
          <p:cNvSpPr/>
          <p:nvPr/>
        </p:nvSpPr>
        <p:spPr>
          <a:xfrm>
            <a:off x="8328475"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Date Placeholder 65">
            <a:extLst>
              <a:ext uri="{FF2B5EF4-FFF2-40B4-BE49-F238E27FC236}">
                <a16:creationId xmlns:a16="http://schemas.microsoft.com/office/drawing/2014/main" id="{FF303B66-BE3D-4142-824A-9EE2B01725EA}"/>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BA35BD6B-402B-4987-9FCE-9A6924EE2F00}"/>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E259ECD5-0EAD-48D0-B30B-16305BC1062F}"/>
              </a:ext>
            </a:extLst>
          </p:cNvPr>
          <p:cNvSpPr>
            <a:spLocks noGrp="1"/>
          </p:cNvSpPr>
          <p:nvPr>
            <p:ph type="sldNum" sz="quarter" idx="12"/>
          </p:nvPr>
        </p:nvSpPr>
        <p:spPr>
          <a:xfrm>
            <a:off x="8610600" y="6356350"/>
            <a:ext cx="2743200" cy="365125"/>
          </a:xfrm>
        </p:spPr>
        <p:txBody>
          <a:bodyPr/>
          <a:lstStyle/>
          <a:p>
            <a:fld id="{19B51A1E-902D-48AF-9020-955120F399B6}" type="slidenum">
              <a:rPr lang="en-US" smtClean="0"/>
              <a:pPr/>
              <a:t>23</a:t>
            </a:fld>
            <a:endParaRPr lang="en-US" dirty="0"/>
          </a:p>
        </p:txBody>
      </p:sp>
    </p:spTree>
    <p:extLst>
      <p:ext uri="{BB962C8B-B14F-4D97-AF65-F5344CB8AC3E}">
        <p14:creationId xmlns:p14="http://schemas.microsoft.com/office/powerpoint/2010/main" val="3084972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1B29E87-9C2C-400B-834D-4E4BD6E944D0}"/>
              </a:ext>
            </a:extLst>
          </p:cNvPr>
          <p:cNvSpPr>
            <a:spLocks noGrp="1"/>
          </p:cNvSpPr>
          <p:nvPr>
            <p:ph type="title"/>
          </p:nvPr>
        </p:nvSpPr>
        <p:spPr>
          <a:xfrm>
            <a:off x="838200" y="365125"/>
            <a:ext cx="10515600" cy="1325563"/>
          </a:xfrm>
        </p:spPr>
        <p:txBody>
          <a:bodyPr anchor="ctr">
            <a:normAutofit/>
          </a:bodyPr>
          <a:lstStyle/>
          <a:p>
            <a:r>
              <a:rPr lang="en-US" dirty="0"/>
              <a:t>FINANCIALS</a:t>
            </a:r>
          </a:p>
        </p:txBody>
      </p:sp>
      <p:sp>
        <p:nvSpPr>
          <p:cNvPr id="2" name="Date Placeholder 1">
            <a:extLst>
              <a:ext uri="{FF2B5EF4-FFF2-40B4-BE49-F238E27FC236}">
                <a16:creationId xmlns:a16="http://schemas.microsoft.com/office/drawing/2014/main" id="{063B6BDC-0568-466F-91ED-52067B366C6A}"/>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67A559BE-816C-475D-9ADA-DDFDF14A41D4}"/>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A8597536-70D1-46C0-A2A2-51A6BB21DB20}"/>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24</a:t>
            </a:fld>
            <a:endParaRPr lang="en-US" dirty="0"/>
          </a:p>
        </p:txBody>
      </p:sp>
      <p:graphicFrame>
        <p:nvGraphicFramePr>
          <p:cNvPr id="17" name="Table 9">
            <a:extLst>
              <a:ext uri="{FF2B5EF4-FFF2-40B4-BE49-F238E27FC236}">
                <a16:creationId xmlns:a16="http://schemas.microsoft.com/office/drawing/2014/main" id="{D6E90A56-AF21-45DC-A08C-27875260C7CB}"/>
              </a:ext>
            </a:extLst>
          </p:cNvPr>
          <p:cNvGraphicFramePr>
            <a:graphicFrameLocks noGrp="1"/>
          </p:cNvGraphicFramePr>
          <p:nvPr>
            <p:ph sz="quarter" idx="16"/>
            <p:extLst>
              <p:ext uri="{D42A27DB-BD31-4B8C-83A1-F6EECF244321}">
                <p14:modId xmlns:p14="http://schemas.microsoft.com/office/powerpoint/2010/main" val="1922015435"/>
              </p:ext>
            </p:extLst>
          </p:nvPr>
        </p:nvGraphicFramePr>
        <p:xfrm>
          <a:off x="838200" y="1825625"/>
          <a:ext cx="10515596" cy="3701178"/>
        </p:xfrm>
        <a:graphic>
          <a:graphicData uri="http://schemas.openxmlformats.org/drawingml/2006/table">
            <a:tbl>
              <a:tblPr firstRow="1" bandRow="1">
                <a:tableStyleId>{5C22544A-7EE6-4342-B048-85BDC9FD1C3A}</a:tableStyleId>
              </a:tblPr>
              <a:tblGrid>
                <a:gridCol w="3235076">
                  <a:extLst>
                    <a:ext uri="{9D8B030D-6E8A-4147-A177-3AD203B41FA5}">
                      <a16:colId xmlns:a16="http://schemas.microsoft.com/office/drawing/2014/main" val="3446012419"/>
                    </a:ext>
                  </a:extLst>
                </a:gridCol>
                <a:gridCol w="1717424">
                  <a:extLst>
                    <a:ext uri="{9D8B030D-6E8A-4147-A177-3AD203B41FA5}">
                      <a16:colId xmlns:a16="http://schemas.microsoft.com/office/drawing/2014/main" val="4052646397"/>
                    </a:ext>
                  </a:extLst>
                </a:gridCol>
                <a:gridCol w="2118664">
                  <a:extLst>
                    <a:ext uri="{9D8B030D-6E8A-4147-A177-3AD203B41FA5}">
                      <a16:colId xmlns:a16="http://schemas.microsoft.com/office/drawing/2014/main" val="1935352797"/>
                    </a:ext>
                  </a:extLst>
                </a:gridCol>
                <a:gridCol w="2277791">
                  <a:extLst>
                    <a:ext uri="{9D8B030D-6E8A-4147-A177-3AD203B41FA5}">
                      <a16:colId xmlns:a16="http://schemas.microsoft.com/office/drawing/2014/main" val="1218263486"/>
                    </a:ext>
                  </a:extLst>
                </a:gridCol>
                <a:gridCol w="1166641">
                  <a:extLst>
                    <a:ext uri="{9D8B030D-6E8A-4147-A177-3AD203B41FA5}">
                      <a16:colId xmlns:a16="http://schemas.microsoft.com/office/drawing/2014/main" val="3235153012"/>
                    </a:ext>
                  </a:extLst>
                </a:gridCol>
              </a:tblGrid>
              <a:tr h="284706">
                <a:tc>
                  <a:txBody>
                    <a:bodyPr/>
                    <a:lstStyle/>
                    <a:p>
                      <a:pPr algn="l" fontAlgn="b"/>
                      <a:endParaRPr lang="en-US" sz="1200" b="0" i="0" u="none" strike="noStrike" dirty="0">
                        <a:solidFill>
                          <a:schemeClr val="bg1"/>
                        </a:solidFill>
                        <a:effectLst/>
                        <a:latin typeface="+mn-lt"/>
                      </a:endParaRP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fontAlgn="b"/>
                      <a:r>
                        <a:rPr lang="en-US" sz="1200" b="1" u="none" strike="noStrike" dirty="0">
                          <a:solidFill>
                            <a:schemeClr val="tx1">
                              <a:lumMod val="75000"/>
                              <a:lumOff val="25000"/>
                            </a:schemeClr>
                          </a:solidFill>
                          <a:effectLst/>
                        </a:rPr>
                        <a:t>Year 1</a:t>
                      </a:r>
                      <a:endParaRPr lang="en-US" sz="1200" b="1"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fontAlgn="b"/>
                      <a:r>
                        <a:rPr lang="en-US" sz="1200" b="1" u="none" strike="noStrike" dirty="0">
                          <a:solidFill>
                            <a:schemeClr val="tx1">
                              <a:lumMod val="75000"/>
                              <a:lumOff val="25000"/>
                            </a:schemeClr>
                          </a:solidFill>
                          <a:effectLst/>
                        </a:rPr>
                        <a:t>Year 2</a:t>
                      </a:r>
                      <a:endParaRPr lang="en-US" sz="1200" b="1"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fontAlgn="b"/>
                      <a:r>
                        <a:rPr lang="en-US" sz="1200" b="1" u="none" strike="noStrike" dirty="0">
                          <a:solidFill>
                            <a:schemeClr val="tx1">
                              <a:lumMod val="75000"/>
                              <a:lumOff val="25000"/>
                            </a:schemeClr>
                          </a:solidFill>
                          <a:effectLst/>
                        </a:rPr>
                        <a:t>Year 3</a:t>
                      </a:r>
                      <a:endParaRPr lang="en-US" sz="1200" b="1"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l" fontAlgn="b"/>
                      <a:endParaRPr lang="en-US" sz="1200" b="0"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4140773105"/>
                  </a:ext>
                </a:extLst>
              </a:tr>
              <a:tr h="284706">
                <a:tc>
                  <a:txBody>
                    <a:bodyPr/>
                    <a:lstStyle/>
                    <a:p>
                      <a:pPr algn="l" fontAlgn="b"/>
                      <a:r>
                        <a:rPr lang="en-US" sz="1200" b="0" i="0" u="none" strike="noStrike" dirty="0">
                          <a:solidFill>
                            <a:schemeClr val="tx1"/>
                          </a:solidFill>
                          <a:effectLst/>
                          <a:latin typeface="+mn-lt"/>
                        </a:rPr>
                        <a:t>INCOME</a:t>
                      </a:r>
                    </a:p>
                  </a:txBody>
                  <a:tcPr marL="24019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2911372"/>
                  </a:ext>
                </a:extLst>
              </a:tr>
              <a:tr h="284706">
                <a:tc>
                  <a:txBody>
                    <a:bodyPr/>
                    <a:lstStyle/>
                    <a:p>
                      <a:pPr lvl="1" algn="l" fontAlgn="b"/>
                      <a:r>
                        <a:rPr lang="en-US" sz="1200" b="0" u="none" strike="noStrike" dirty="0">
                          <a:solidFill>
                            <a:schemeClr val="tx1"/>
                          </a:solidFill>
                          <a:effectLst/>
                        </a:rPr>
                        <a:t>Users</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1,600,000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43393929"/>
                  </a:ext>
                </a:extLst>
              </a:tr>
              <a:tr h="284706">
                <a:tc>
                  <a:txBody>
                    <a:bodyPr/>
                    <a:lstStyle/>
                    <a:p>
                      <a:pPr lvl="1" algn="l" fontAlgn="b"/>
                      <a:r>
                        <a:rPr lang="en-US" sz="1200" b="0" u="none" strike="noStrike" dirty="0">
                          <a:solidFill>
                            <a:schemeClr val="tx1"/>
                          </a:solidFill>
                          <a:effectLst/>
                        </a:rPr>
                        <a:t>Sales</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16,000,000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5711469"/>
                  </a:ext>
                </a:extLst>
              </a:tr>
              <a:tr h="284706">
                <a:tc>
                  <a:txBody>
                    <a:bodyPr/>
                    <a:lstStyle/>
                    <a:p>
                      <a:pPr lvl="1" algn="l" fontAlgn="b"/>
                      <a:r>
                        <a:rPr lang="en-US" sz="1200" b="0" u="none" strike="noStrike" dirty="0">
                          <a:solidFill>
                            <a:schemeClr val="tx1"/>
                          </a:solidFill>
                          <a:effectLst/>
                        </a:rPr>
                        <a:t>Average price per sale</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75</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80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90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8944196"/>
                  </a:ext>
                </a:extLst>
              </a:tr>
              <a:tr h="284706">
                <a:tc>
                  <a:txBody>
                    <a:bodyPr/>
                    <a:lstStyle/>
                    <a:p>
                      <a:pPr lvl="1" algn="l" fontAlgn="b"/>
                      <a:r>
                        <a:rPr lang="en-US" sz="1200" b="0" u="none" strike="noStrike" dirty="0">
                          <a:solidFill>
                            <a:schemeClr val="tx1"/>
                          </a:solidFill>
                          <a:effectLst/>
                        </a:rPr>
                        <a:t>Revenue @ 15%</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5,625,000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48,000,000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216,000,000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1606819"/>
                  </a:ext>
                </a:extLst>
              </a:tr>
              <a:tr h="284706">
                <a:tc>
                  <a:txBody>
                    <a:bodyPr/>
                    <a:lstStyle/>
                    <a:p>
                      <a:pPr algn="l" fontAlgn="b"/>
                      <a:r>
                        <a:rPr lang="en-US" sz="1200" b="1" u="none" strike="noStrike" dirty="0">
                          <a:solidFill>
                            <a:schemeClr val="tx1"/>
                          </a:solidFill>
                          <a:effectLst/>
                        </a:rPr>
                        <a:t>GROSS PROFIT</a:t>
                      </a:r>
                      <a:endParaRPr lang="en-US" sz="1200" b="1"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5,625,000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48,000,000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216,000,000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65120011"/>
                  </a:ext>
                </a:extLst>
              </a:tr>
              <a:tr h="284706">
                <a:tc>
                  <a:txBody>
                    <a:bodyPr/>
                    <a:lstStyle/>
                    <a:p>
                      <a:pPr algn="l" fontAlgn="b"/>
                      <a:r>
                        <a:rPr lang="en-US" sz="1200" b="0" u="none" strike="noStrike" dirty="0">
                          <a:solidFill>
                            <a:schemeClr val="tx1"/>
                          </a:solidFill>
                          <a:effectLst/>
                        </a:rPr>
                        <a:t>Expenses</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1422160"/>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Sales &amp; marketing</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5,062,500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38,400,000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151,200,000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70%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62407092"/>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Customer service</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1,687,500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9,600,000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21,600,000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10%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06368409"/>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Product development</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562,500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10,800,000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5%</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79688327"/>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Research</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281,250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4,320,000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2%</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3433075"/>
                  </a:ext>
                </a:extLst>
              </a:tr>
              <a:tr h="284706">
                <a:tc>
                  <a:txBody>
                    <a:bodyPr/>
                    <a:lstStyle/>
                    <a:p>
                      <a:pPr algn="l" fontAlgn="b"/>
                      <a:r>
                        <a:rPr lang="en-US" sz="1200" b="1" u="none" strike="noStrike" dirty="0">
                          <a:solidFill>
                            <a:schemeClr val="tx1"/>
                          </a:solidFill>
                          <a:effectLst/>
                        </a:rPr>
                        <a:t>TOTAL EXPENSES</a:t>
                      </a:r>
                      <a:endParaRPr lang="en-US" sz="1200" b="1"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7,593,750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52,800,000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187,920,000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301145645"/>
                  </a:ext>
                </a:extLst>
              </a:tr>
            </a:tbl>
          </a:graphicData>
        </a:graphic>
      </p:graphicFrame>
    </p:spTree>
    <p:extLst>
      <p:ext uri="{BB962C8B-B14F-4D97-AF65-F5344CB8AC3E}">
        <p14:creationId xmlns:p14="http://schemas.microsoft.com/office/powerpoint/2010/main" val="566997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885156" y="892177"/>
            <a:ext cx="8421688" cy="1325563"/>
          </a:xfrm>
        </p:spPr>
        <p:txBody>
          <a:bodyPr/>
          <a:lstStyle/>
          <a:p>
            <a:r>
              <a:rPr lang="en-US" dirty="0"/>
              <a:t>MEET THE TEAM</a:t>
            </a:r>
          </a:p>
        </p:txBody>
      </p:sp>
      <p:pic>
        <p:nvPicPr>
          <p:cNvPr id="26" name="Picture Placeholder 25" descr="Team member headshot">
            <a:extLst>
              <a:ext uri="{FF2B5EF4-FFF2-40B4-BE49-F238E27FC236}">
                <a16:creationId xmlns:a16="http://schemas.microsoft.com/office/drawing/2014/main" id="{E287A61C-B7FB-4B69-97E7-7B7AFC8A5D33}"/>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a:stretch/>
        </p:blipFill>
        <p:spPr>
          <a:xfrm>
            <a:off x="1487181" y="2886074"/>
            <a:ext cx="1845511" cy="1845511"/>
          </a:xfrm>
        </p:spPr>
      </p:pic>
      <p:pic>
        <p:nvPicPr>
          <p:cNvPr id="47" name="Picture Placeholder 46" descr="Team member headshot">
            <a:extLst>
              <a:ext uri="{FF2B5EF4-FFF2-40B4-BE49-F238E27FC236}">
                <a16:creationId xmlns:a16="http://schemas.microsoft.com/office/drawing/2014/main" id="{8AF5260A-2860-4F88-BA4D-70530D3E14AA}"/>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a:stretch/>
        </p:blipFill>
        <p:spPr>
          <a:xfrm>
            <a:off x="3836914" y="2886074"/>
            <a:ext cx="1845511" cy="1845511"/>
          </a:xfrm>
        </p:spPr>
      </p:pic>
      <p:pic>
        <p:nvPicPr>
          <p:cNvPr id="45" name="Picture Placeholder 44" descr="Team member headshot">
            <a:extLst>
              <a:ext uri="{FF2B5EF4-FFF2-40B4-BE49-F238E27FC236}">
                <a16:creationId xmlns:a16="http://schemas.microsoft.com/office/drawing/2014/main" id="{4442FA67-BF04-4E45-BFD9-78BF43789E09}"/>
              </a:ext>
            </a:extLst>
          </p:cNvPr>
          <p:cNvPicPr>
            <a:picLocks noGrp="1" noChangeAspect="1"/>
          </p:cNvPicPr>
          <p:nvPr>
            <p:ph type="pic" sz="quarter" idx="16"/>
          </p:nvPr>
        </p:nvPicPr>
        <p:blipFill rotWithShape="1">
          <a:blip r:embed="rId4">
            <a:extLst>
              <a:ext uri="{28A0092B-C50C-407E-A947-70E740481C1C}">
                <a14:useLocalDpi xmlns:a14="http://schemas.microsoft.com/office/drawing/2010/main" val="0"/>
              </a:ext>
            </a:extLst>
          </a:blip>
          <a:srcRect/>
          <a:stretch/>
        </p:blipFill>
        <p:spPr>
          <a:xfrm>
            <a:off x="6327578" y="2886074"/>
            <a:ext cx="1845511" cy="1845511"/>
          </a:xfrm>
        </p:spPr>
      </p:pic>
      <p:pic>
        <p:nvPicPr>
          <p:cNvPr id="43" name="Picture Placeholder 42" descr="Team member headshot">
            <a:extLst>
              <a:ext uri="{FF2B5EF4-FFF2-40B4-BE49-F238E27FC236}">
                <a16:creationId xmlns:a16="http://schemas.microsoft.com/office/drawing/2014/main" id="{F328CD15-EA0E-49AD-A3C6-5798A372AA53}"/>
              </a:ext>
            </a:extLst>
          </p:cNvPr>
          <p:cNvPicPr>
            <a:picLocks noGrp="1" noChangeAspect="1"/>
          </p:cNvPicPr>
          <p:nvPr>
            <p:ph type="pic" sz="quarter" idx="17"/>
          </p:nvPr>
        </p:nvPicPr>
        <p:blipFill rotWithShape="1">
          <a:blip r:embed="rId5">
            <a:extLst>
              <a:ext uri="{28A0092B-C50C-407E-A947-70E740481C1C}">
                <a14:useLocalDpi xmlns:a14="http://schemas.microsoft.com/office/drawing/2010/main" val="0"/>
              </a:ext>
            </a:extLst>
          </a:blip>
          <a:srcRect/>
          <a:stretch/>
        </p:blipFill>
        <p:spPr>
          <a:xfrm>
            <a:off x="8747458" y="2886074"/>
            <a:ext cx="1845511" cy="1845511"/>
          </a:xfrm>
        </p:spPr>
      </p:pic>
      <p:sp>
        <p:nvSpPr>
          <p:cNvPr id="24" name="Text Placeholder 23">
            <a:extLst>
              <a:ext uri="{FF2B5EF4-FFF2-40B4-BE49-F238E27FC236}">
                <a16:creationId xmlns:a16="http://schemas.microsoft.com/office/drawing/2014/main" id="{7BAD1FFF-8B97-4CD1-85E7-B7738EAD28CD}"/>
              </a:ext>
            </a:extLst>
          </p:cNvPr>
          <p:cNvSpPr>
            <a:spLocks noGrp="1"/>
          </p:cNvSpPr>
          <p:nvPr>
            <p:ph type="body" idx="1"/>
          </p:nvPr>
        </p:nvSpPr>
        <p:spPr>
          <a:xfrm>
            <a:off x="1343248" y="5084524"/>
            <a:ext cx="2123743" cy="343061"/>
          </a:xfrm>
        </p:spPr>
        <p:txBody>
          <a:bodyPr/>
          <a:lstStyle/>
          <a:p>
            <a:r>
              <a:rPr lang="en-US" dirty="0"/>
              <a:t>TAKUMA HAYASHI​</a:t>
            </a:r>
          </a:p>
        </p:txBody>
      </p:sp>
      <p:sp>
        <p:nvSpPr>
          <p:cNvPr id="33" name="Text Placeholder 32">
            <a:extLst>
              <a:ext uri="{FF2B5EF4-FFF2-40B4-BE49-F238E27FC236}">
                <a16:creationId xmlns:a16="http://schemas.microsoft.com/office/drawing/2014/main" id="{10C8C8C1-99D8-4034-A628-DECEB703BA1D}"/>
              </a:ext>
            </a:extLst>
          </p:cNvPr>
          <p:cNvSpPr>
            <a:spLocks noGrp="1"/>
          </p:cNvSpPr>
          <p:nvPr>
            <p:ph type="body" idx="18"/>
          </p:nvPr>
        </p:nvSpPr>
        <p:spPr>
          <a:xfrm>
            <a:off x="3692980" y="5099206"/>
            <a:ext cx="2135755" cy="343061"/>
          </a:xfrm>
        </p:spPr>
        <p:txBody>
          <a:bodyPr/>
          <a:lstStyle/>
          <a:p>
            <a:r>
              <a:rPr lang="en-US" dirty="0"/>
              <a:t>MIRJAM NILSSON​</a:t>
            </a:r>
          </a:p>
        </p:txBody>
      </p:sp>
      <p:sp>
        <p:nvSpPr>
          <p:cNvPr id="34" name="Text Placeholder 33">
            <a:extLst>
              <a:ext uri="{FF2B5EF4-FFF2-40B4-BE49-F238E27FC236}">
                <a16:creationId xmlns:a16="http://schemas.microsoft.com/office/drawing/2014/main" id="{08CA58D6-00FD-4D81-A0F6-215C4D558912}"/>
              </a:ext>
            </a:extLst>
          </p:cNvPr>
          <p:cNvSpPr>
            <a:spLocks noGrp="1"/>
          </p:cNvSpPr>
          <p:nvPr>
            <p:ph type="body" idx="19"/>
          </p:nvPr>
        </p:nvSpPr>
        <p:spPr>
          <a:xfrm>
            <a:off x="6183644" y="5099206"/>
            <a:ext cx="2123743" cy="343061"/>
          </a:xfrm>
        </p:spPr>
        <p:txBody>
          <a:bodyPr/>
          <a:lstStyle/>
          <a:p>
            <a:r>
              <a:rPr lang="en-US" dirty="0"/>
              <a:t>FLORA BERGGREN​</a:t>
            </a:r>
          </a:p>
        </p:txBody>
      </p:sp>
      <p:sp>
        <p:nvSpPr>
          <p:cNvPr id="35" name="Text Placeholder 34">
            <a:extLst>
              <a:ext uri="{FF2B5EF4-FFF2-40B4-BE49-F238E27FC236}">
                <a16:creationId xmlns:a16="http://schemas.microsoft.com/office/drawing/2014/main" id="{60D37431-6A3A-47F6-A367-B5ADCF66AE37}"/>
              </a:ext>
            </a:extLst>
          </p:cNvPr>
          <p:cNvSpPr>
            <a:spLocks noGrp="1"/>
          </p:cNvSpPr>
          <p:nvPr>
            <p:ph type="body" idx="20"/>
          </p:nvPr>
        </p:nvSpPr>
        <p:spPr>
          <a:xfrm>
            <a:off x="8603525" y="5084524"/>
            <a:ext cx="2123742" cy="343061"/>
          </a:xfrm>
        </p:spPr>
        <p:txBody>
          <a:bodyPr/>
          <a:lstStyle/>
          <a:p>
            <a:r>
              <a:rPr lang="en-US" dirty="0"/>
              <a:t>RAJESH SANTOSHI​</a:t>
            </a:r>
          </a:p>
        </p:txBody>
      </p:sp>
      <p:sp>
        <p:nvSpPr>
          <p:cNvPr id="36" name="Text Placeholder 35">
            <a:extLst>
              <a:ext uri="{FF2B5EF4-FFF2-40B4-BE49-F238E27FC236}">
                <a16:creationId xmlns:a16="http://schemas.microsoft.com/office/drawing/2014/main" id="{B76FA389-A54D-4E4B-81DA-DBA175D78FEC}"/>
              </a:ext>
            </a:extLst>
          </p:cNvPr>
          <p:cNvSpPr>
            <a:spLocks noGrp="1"/>
          </p:cNvSpPr>
          <p:nvPr>
            <p:ph type="body" idx="21"/>
          </p:nvPr>
        </p:nvSpPr>
        <p:spPr>
          <a:xfrm>
            <a:off x="1487181" y="5464114"/>
            <a:ext cx="1845511" cy="343061"/>
          </a:xfrm>
        </p:spPr>
        <p:txBody>
          <a:bodyPr/>
          <a:lstStyle/>
          <a:p>
            <a:r>
              <a:rPr lang="en-US" dirty="0"/>
              <a:t>President</a:t>
            </a:r>
          </a:p>
        </p:txBody>
      </p:sp>
      <p:sp>
        <p:nvSpPr>
          <p:cNvPr id="37" name="Text Placeholder 36">
            <a:extLst>
              <a:ext uri="{FF2B5EF4-FFF2-40B4-BE49-F238E27FC236}">
                <a16:creationId xmlns:a16="http://schemas.microsoft.com/office/drawing/2014/main" id="{65786675-BFC6-4743-BFD3-D64691F771D8}"/>
              </a:ext>
            </a:extLst>
          </p:cNvPr>
          <p:cNvSpPr>
            <a:spLocks noGrp="1"/>
          </p:cNvSpPr>
          <p:nvPr>
            <p:ph type="body" idx="22"/>
          </p:nvPr>
        </p:nvSpPr>
        <p:spPr>
          <a:xfrm>
            <a:off x="3836913" y="5478796"/>
            <a:ext cx="1855949" cy="343061"/>
          </a:xfrm>
        </p:spPr>
        <p:txBody>
          <a:bodyPr/>
          <a:lstStyle/>
          <a:p>
            <a:r>
              <a:rPr lang="en-US" dirty="0"/>
              <a:t>Chief Executive Officer</a:t>
            </a:r>
          </a:p>
        </p:txBody>
      </p:sp>
      <p:sp>
        <p:nvSpPr>
          <p:cNvPr id="38" name="Text Placeholder 37">
            <a:extLst>
              <a:ext uri="{FF2B5EF4-FFF2-40B4-BE49-F238E27FC236}">
                <a16:creationId xmlns:a16="http://schemas.microsoft.com/office/drawing/2014/main" id="{97062F49-F468-4EA6-B6BF-94BFF89FDCB7}"/>
              </a:ext>
            </a:extLst>
          </p:cNvPr>
          <p:cNvSpPr>
            <a:spLocks noGrp="1"/>
          </p:cNvSpPr>
          <p:nvPr>
            <p:ph type="body" idx="23"/>
          </p:nvPr>
        </p:nvSpPr>
        <p:spPr>
          <a:xfrm>
            <a:off x="6327577" y="5478796"/>
            <a:ext cx="1845511" cy="343061"/>
          </a:xfrm>
        </p:spPr>
        <p:txBody>
          <a:bodyPr/>
          <a:lstStyle/>
          <a:p>
            <a:r>
              <a:rPr lang="en-US" dirty="0"/>
              <a:t>Chief Operations Officer</a:t>
            </a:r>
          </a:p>
          <a:p>
            <a:endParaRPr lang="en-US" dirty="0"/>
          </a:p>
        </p:txBody>
      </p:sp>
      <p:sp>
        <p:nvSpPr>
          <p:cNvPr id="39" name="Text Placeholder 38">
            <a:extLst>
              <a:ext uri="{FF2B5EF4-FFF2-40B4-BE49-F238E27FC236}">
                <a16:creationId xmlns:a16="http://schemas.microsoft.com/office/drawing/2014/main" id="{59D9F00A-8CF0-41E8-9BB6-3B8ECDA55D49}"/>
              </a:ext>
            </a:extLst>
          </p:cNvPr>
          <p:cNvSpPr>
            <a:spLocks noGrp="1"/>
          </p:cNvSpPr>
          <p:nvPr>
            <p:ph type="body" idx="24"/>
          </p:nvPr>
        </p:nvSpPr>
        <p:spPr>
          <a:xfrm>
            <a:off x="8747458" y="5464114"/>
            <a:ext cx="1845510" cy="343061"/>
          </a:xfrm>
        </p:spPr>
        <p:txBody>
          <a:bodyPr/>
          <a:lstStyle/>
          <a:p>
            <a:r>
              <a:rPr lang="en-US" dirty="0"/>
              <a:t>VP Marketing</a:t>
            </a:r>
          </a:p>
          <a:p>
            <a:endParaRPr lang="en-US" dirty="0"/>
          </a:p>
        </p:txBody>
      </p:sp>
      <p:sp>
        <p:nvSpPr>
          <p:cNvPr id="3" name="Date Placeholder 2">
            <a:extLst>
              <a:ext uri="{FF2B5EF4-FFF2-40B4-BE49-F238E27FC236}">
                <a16:creationId xmlns:a16="http://schemas.microsoft.com/office/drawing/2014/main" id="{02F9CC1F-102C-49CC-B646-8E6826368A81}"/>
              </a:ext>
            </a:extLst>
          </p:cNvPr>
          <p:cNvSpPr>
            <a:spLocks noGrp="1"/>
          </p:cNvSpPr>
          <p:nvPr>
            <p:ph type="dt" sz="half" idx="10"/>
          </p:nvPr>
        </p:nvSpPr>
        <p:spPr>
          <a:xfrm>
            <a:off x="838200" y="6356350"/>
            <a:ext cx="2743200" cy="365125"/>
          </a:xfrm>
        </p:spPr>
        <p:txBody>
          <a:bodyPr/>
          <a:lstStyle/>
          <a:p>
            <a:r>
              <a:rPr lang="en-US" dirty="0"/>
              <a:t>20XX</a:t>
            </a:r>
          </a:p>
        </p:txBody>
      </p:sp>
      <p:sp>
        <p:nvSpPr>
          <p:cNvPr id="4" name="Footer Placeholder 3">
            <a:extLst>
              <a:ext uri="{FF2B5EF4-FFF2-40B4-BE49-F238E27FC236}">
                <a16:creationId xmlns:a16="http://schemas.microsoft.com/office/drawing/2014/main" id="{33808A03-6EC3-48BE-9D18-5A746D09243E}"/>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5" name="Slide Number Placeholder 4">
            <a:extLst>
              <a:ext uri="{FF2B5EF4-FFF2-40B4-BE49-F238E27FC236}">
                <a16:creationId xmlns:a16="http://schemas.microsoft.com/office/drawing/2014/main" id="{46868410-BE8A-4C98-9C72-20D0A2A6A8B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25</a:t>
            </a:fld>
            <a:endParaRPr lang="en-US" dirty="0"/>
          </a:p>
        </p:txBody>
      </p:sp>
    </p:spTree>
    <p:extLst>
      <p:ext uri="{BB962C8B-B14F-4D97-AF65-F5344CB8AC3E}">
        <p14:creationId xmlns:p14="http://schemas.microsoft.com/office/powerpoint/2010/main" val="34774530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885156" y="892177"/>
            <a:ext cx="8421688" cy="1325563"/>
          </a:xfrm>
        </p:spPr>
        <p:txBody>
          <a:bodyPr/>
          <a:lstStyle/>
          <a:p>
            <a:r>
              <a:rPr lang="en-US" dirty="0"/>
              <a:t>MEET THE TEAM  </a:t>
            </a:r>
          </a:p>
        </p:txBody>
      </p:sp>
      <p:pic>
        <p:nvPicPr>
          <p:cNvPr id="38" name="Picture Placeholder 37" descr="Team member headshot">
            <a:extLst>
              <a:ext uri="{FF2B5EF4-FFF2-40B4-BE49-F238E27FC236}">
                <a16:creationId xmlns:a16="http://schemas.microsoft.com/office/drawing/2014/main" id="{6E64DC71-C9CE-47FF-A3B6-597A9B09EC98}"/>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a:stretch/>
        </p:blipFill>
        <p:spPr>
          <a:xfrm>
            <a:off x="1877176" y="2428875"/>
            <a:ext cx="1066800" cy="1066800"/>
          </a:xfrm>
        </p:spPr>
      </p:pic>
      <p:pic>
        <p:nvPicPr>
          <p:cNvPr id="42" name="Picture Placeholder 41" descr="Team member headshot">
            <a:extLst>
              <a:ext uri="{FF2B5EF4-FFF2-40B4-BE49-F238E27FC236}">
                <a16:creationId xmlns:a16="http://schemas.microsoft.com/office/drawing/2014/main" id="{03BE9C30-CAE7-4AE5-8722-B20E200AC048}"/>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a:stretch/>
        </p:blipFill>
        <p:spPr>
          <a:xfrm>
            <a:off x="4226270" y="2428875"/>
            <a:ext cx="1066800" cy="1066800"/>
          </a:xfrm>
        </p:spPr>
      </p:pic>
      <p:pic>
        <p:nvPicPr>
          <p:cNvPr id="46" name="Picture Placeholder 45" descr="Team member headshot">
            <a:extLst>
              <a:ext uri="{FF2B5EF4-FFF2-40B4-BE49-F238E27FC236}">
                <a16:creationId xmlns:a16="http://schemas.microsoft.com/office/drawing/2014/main" id="{F8B9EE09-9F4E-47F5-82E5-A135C37A6E26}"/>
              </a:ext>
            </a:extLst>
          </p:cNvPr>
          <p:cNvPicPr>
            <a:picLocks noGrp="1" noChangeAspect="1"/>
          </p:cNvPicPr>
          <p:nvPr>
            <p:ph type="pic" sz="quarter" idx="16"/>
          </p:nvPr>
        </p:nvPicPr>
        <p:blipFill rotWithShape="1">
          <a:blip r:embed="rId4">
            <a:extLst>
              <a:ext uri="{28A0092B-C50C-407E-A947-70E740481C1C}">
                <a14:useLocalDpi xmlns:a14="http://schemas.microsoft.com/office/drawing/2010/main" val="0"/>
              </a:ext>
            </a:extLst>
          </a:blip>
          <a:srcRect/>
          <a:stretch/>
        </p:blipFill>
        <p:spPr>
          <a:xfrm>
            <a:off x="6716934" y="2428875"/>
            <a:ext cx="1066800" cy="1066800"/>
          </a:xfrm>
        </p:spPr>
      </p:pic>
      <p:pic>
        <p:nvPicPr>
          <p:cNvPr id="54" name="Picture Placeholder 53" descr="Team member headshot">
            <a:extLst>
              <a:ext uri="{FF2B5EF4-FFF2-40B4-BE49-F238E27FC236}">
                <a16:creationId xmlns:a16="http://schemas.microsoft.com/office/drawing/2014/main" id="{B789A13E-52C8-4E94-89B2-D51A0739F00A}"/>
              </a:ext>
            </a:extLst>
          </p:cNvPr>
          <p:cNvPicPr>
            <a:picLocks noGrp="1" noChangeAspect="1"/>
          </p:cNvPicPr>
          <p:nvPr>
            <p:ph type="pic" sz="quarter" idx="17"/>
          </p:nvPr>
        </p:nvPicPr>
        <p:blipFill rotWithShape="1">
          <a:blip r:embed="rId5">
            <a:extLst>
              <a:ext uri="{28A0092B-C50C-407E-A947-70E740481C1C}">
                <a14:useLocalDpi xmlns:a14="http://schemas.microsoft.com/office/drawing/2010/main" val="0"/>
              </a:ext>
            </a:extLst>
          </a:blip>
          <a:srcRect/>
          <a:stretch/>
        </p:blipFill>
        <p:spPr>
          <a:xfrm>
            <a:off x="9136814" y="2428875"/>
            <a:ext cx="1066800" cy="1066800"/>
          </a:xfrm>
        </p:spPr>
      </p:pic>
      <p:sp>
        <p:nvSpPr>
          <p:cNvPr id="36" name="Text Placeholder 35">
            <a:extLst>
              <a:ext uri="{FF2B5EF4-FFF2-40B4-BE49-F238E27FC236}">
                <a16:creationId xmlns:a16="http://schemas.microsoft.com/office/drawing/2014/main" id="{23BA8AAF-B08B-441B-AAF3-590A568329BF}"/>
              </a:ext>
            </a:extLst>
          </p:cNvPr>
          <p:cNvSpPr>
            <a:spLocks noGrp="1"/>
          </p:cNvSpPr>
          <p:nvPr>
            <p:ph type="body" idx="1"/>
          </p:nvPr>
        </p:nvSpPr>
        <p:spPr>
          <a:xfrm>
            <a:off x="1500168" y="3654378"/>
            <a:ext cx="1828800" cy="343061"/>
          </a:xfrm>
        </p:spPr>
        <p:txBody>
          <a:bodyPr/>
          <a:lstStyle/>
          <a:p>
            <a:r>
              <a:rPr lang="en-US" dirty="0"/>
              <a:t>TAKUMA HAYASHI</a:t>
            </a:r>
          </a:p>
          <a:p>
            <a:endParaRPr lang="en-US" dirty="0"/>
          </a:p>
        </p:txBody>
      </p:sp>
      <p:sp>
        <p:nvSpPr>
          <p:cNvPr id="52" name="Text Placeholder 51">
            <a:extLst>
              <a:ext uri="{FF2B5EF4-FFF2-40B4-BE49-F238E27FC236}">
                <a16:creationId xmlns:a16="http://schemas.microsoft.com/office/drawing/2014/main" id="{E07741A2-243F-4086-945C-BCA1F24E6DB5}"/>
              </a:ext>
            </a:extLst>
          </p:cNvPr>
          <p:cNvSpPr>
            <a:spLocks noGrp="1"/>
          </p:cNvSpPr>
          <p:nvPr>
            <p:ph type="body" idx="21"/>
          </p:nvPr>
        </p:nvSpPr>
        <p:spPr>
          <a:xfrm>
            <a:off x="1390120" y="3782039"/>
            <a:ext cx="2057400" cy="343061"/>
          </a:xfrm>
        </p:spPr>
        <p:txBody>
          <a:bodyPr/>
          <a:lstStyle/>
          <a:p>
            <a:r>
              <a:rPr lang="en-US" dirty="0"/>
              <a:t>President</a:t>
            </a:r>
          </a:p>
        </p:txBody>
      </p:sp>
      <p:sp>
        <p:nvSpPr>
          <p:cNvPr id="49" name="Text Placeholder 48">
            <a:extLst>
              <a:ext uri="{FF2B5EF4-FFF2-40B4-BE49-F238E27FC236}">
                <a16:creationId xmlns:a16="http://schemas.microsoft.com/office/drawing/2014/main" id="{27CB5CB7-B854-4F48-954C-5CF86CC9146D}"/>
              </a:ext>
            </a:extLst>
          </p:cNvPr>
          <p:cNvSpPr>
            <a:spLocks noGrp="1"/>
          </p:cNvSpPr>
          <p:nvPr>
            <p:ph type="body" idx="18"/>
          </p:nvPr>
        </p:nvSpPr>
        <p:spPr>
          <a:xfrm>
            <a:off x="3849262" y="3669060"/>
            <a:ext cx="1828800" cy="343061"/>
          </a:xfrm>
        </p:spPr>
        <p:txBody>
          <a:bodyPr/>
          <a:lstStyle/>
          <a:p>
            <a:r>
              <a:rPr lang="en-US" dirty="0"/>
              <a:t>MIRJAM NILSSON​</a:t>
            </a:r>
          </a:p>
        </p:txBody>
      </p:sp>
      <p:sp>
        <p:nvSpPr>
          <p:cNvPr id="61" name="Text Placeholder 60">
            <a:extLst>
              <a:ext uri="{FF2B5EF4-FFF2-40B4-BE49-F238E27FC236}">
                <a16:creationId xmlns:a16="http://schemas.microsoft.com/office/drawing/2014/main" id="{F1C860E6-FF87-419F-8B26-B8EA4D5F3D3D}"/>
              </a:ext>
            </a:extLst>
          </p:cNvPr>
          <p:cNvSpPr>
            <a:spLocks noGrp="1"/>
          </p:cNvSpPr>
          <p:nvPr>
            <p:ph type="body" idx="22"/>
          </p:nvPr>
        </p:nvSpPr>
        <p:spPr>
          <a:xfrm>
            <a:off x="3739214" y="3796721"/>
            <a:ext cx="2057400" cy="343061"/>
          </a:xfrm>
        </p:spPr>
        <p:txBody>
          <a:bodyPr/>
          <a:lstStyle/>
          <a:p>
            <a:r>
              <a:rPr lang="en-US" dirty="0"/>
              <a:t>Chief Executive Officer</a:t>
            </a:r>
          </a:p>
        </p:txBody>
      </p:sp>
      <p:sp>
        <p:nvSpPr>
          <p:cNvPr id="50" name="Text Placeholder 49">
            <a:extLst>
              <a:ext uri="{FF2B5EF4-FFF2-40B4-BE49-F238E27FC236}">
                <a16:creationId xmlns:a16="http://schemas.microsoft.com/office/drawing/2014/main" id="{540F887C-E8EB-4467-90FE-023D47FFB454}"/>
              </a:ext>
            </a:extLst>
          </p:cNvPr>
          <p:cNvSpPr>
            <a:spLocks noGrp="1"/>
          </p:cNvSpPr>
          <p:nvPr>
            <p:ph type="body" idx="19"/>
          </p:nvPr>
        </p:nvSpPr>
        <p:spPr>
          <a:xfrm>
            <a:off x="6339926" y="3669060"/>
            <a:ext cx="1828800" cy="343061"/>
          </a:xfrm>
        </p:spPr>
        <p:txBody>
          <a:bodyPr/>
          <a:lstStyle/>
          <a:p>
            <a:r>
              <a:rPr lang="en-US" dirty="0"/>
              <a:t>FLORA BERGGREN​</a:t>
            </a:r>
          </a:p>
          <a:p>
            <a:endParaRPr lang="en-US" dirty="0"/>
          </a:p>
        </p:txBody>
      </p:sp>
      <p:sp>
        <p:nvSpPr>
          <p:cNvPr id="62" name="Text Placeholder 61">
            <a:extLst>
              <a:ext uri="{FF2B5EF4-FFF2-40B4-BE49-F238E27FC236}">
                <a16:creationId xmlns:a16="http://schemas.microsoft.com/office/drawing/2014/main" id="{F1AF6C54-9939-432B-BBC2-5E0C0F8B2D8C}"/>
              </a:ext>
            </a:extLst>
          </p:cNvPr>
          <p:cNvSpPr>
            <a:spLocks noGrp="1"/>
          </p:cNvSpPr>
          <p:nvPr>
            <p:ph type="body" idx="23"/>
          </p:nvPr>
        </p:nvSpPr>
        <p:spPr>
          <a:xfrm>
            <a:off x="6217963" y="3796721"/>
            <a:ext cx="2057400" cy="343061"/>
          </a:xfrm>
        </p:spPr>
        <p:txBody>
          <a:bodyPr/>
          <a:lstStyle/>
          <a:p>
            <a:r>
              <a:rPr lang="en-US" dirty="0"/>
              <a:t>Chief Operations Officer</a:t>
            </a:r>
          </a:p>
        </p:txBody>
      </p:sp>
      <p:sp>
        <p:nvSpPr>
          <p:cNvPr id="51" name="Text Placeholder 50">
            <a:extLst>
              <a:ext uri="{FF2B5EF4-FFF2-40B4-BE49-F238E27FC236}">
                <a16:creationId xmlns:a16="http://schemas.microsoft.com/office/drawing/2014/main" id="{C1C77C5B-2A5F-4999-A5BF-F60EA88DE493}"/>
              </a:ext>
            </a:extLst>
          </p:cNvPr>
          <p:cNvSpPr>
            <a:spLocks noGrp="1"/>
          </p:cNvSpPr>
          <p:nvPr>
            <p:ph type="body" idx="20"/>
          </p:nvPr>
        </p:nvSpPr>
        <p:spPr>
          <a:xfrm>
            <a:off x="8759806" y="3654378"/>
            <a:ext cx="1828800" cy="343061"/>
          </a:xfrm>
        </p:spPr>
        <p:txBody>
          <a:bodyPr/>
          <a:lstStyle/>
          <a:p>
            <a:r>
              <a:rPr lang="en-US" dirty="0"/>
              <a:t>RAJESH SANTOSHI</a:t>
            </a:r>
          </a:p>
        </p:txBody>
      </p:sp>
      <p:sp>
        <p:nvSpPr>
          <p:cNvPr id="63" name="Text Placeholder 62">
            <a:extLst>
              <a:ext uri="{FF2B5EF4-FFF2-40B4-BE49-F238E27FC236}">
                <a16:creationId xmlns:a16="http://schemas.microsoft.com/office/drawing/2014/main" id="{41797063-0A46-4FCE-86CB-FC66F997C5F4}"/>
              </a:ext>
            </a:extLst>
          </p:cNvPr>
          <p:cNvSpPr>
            <a:spLocks noGrp="1"/>
          </p:cNvSpPr>
          <p:nvPr>
            <p:ph type="body" idx="24"/>
          </p:nvPr>
        </p:nvSpPr>
        <p:spPr>
          <a:xfrm>
            <a:off x="8634432" y="3782039"/>
            <a:ext cx="2057400" cy="343061"/>
          </a:xfrm>
        </p:spPr>
        <p:txBody>
          <a:bodyPr/>
          <a:lstStyle/>
          <a:p>
            <a:r>
              <a:rPr lang="en-US" dirty="0"/>
              <a:t>VP Marketing</a:t>
            </a:r>
          </a:p>
        </p:txBody>
      </p:sp>
      <p:pic>
        <p:nvPicPr>
          <p:cNvPr id="58" name="Picture Placeholder 57" descr="Team member headshot">
            <a:extLst>
              <a:ext uri="{FF2B5EF4-FFF2-40B4-BE49-F238E27FC236}">
                <a16:creationId xmlns:a16="http://schemas.microsoft.com/office/drawing/2014/main" id="{67F12A1B-1645-4C97-AE80-CC96C4998E2E}"/>
              </a:ext>
            </a:extLst>
          </p:cNvPr>
          <p:cNvPicPr>
            <a:picLocks noGrp="1" noChangeAspect="1"/>
          </p:cNvPicPr>
          <p:nvPr>
            <p:ph type="pic" sz="quarter" idx="26"/>
          </p:nvPr>
        </p:nvPicPr>
        <p:blipFill rotWithShape="1">
          <a:blip r:embed="rId6">
            <a:extLst>
              <a:ext uri="{28A0092B-C50C-407E-A947-70E740481C1C}">
                <a14:useLocalDpi xmlns:a14="http://schemas.microsoft.com/office/drawing/2010/main" val="0"/>
              </a:ext>
            </a:extLst>
          </a:blip>
          <a:srcRect/>
          <a:stretch/>
        </p:blipFill>
        <p:spPr>
          <a:xfrm>
            <a:off x="1877176" y="4287711"/>
            <a:ext cx="1066800" cy="1066800"/>
          </a:xfrm>
        </p:spPr>
      </p:pic>
      <p:pic>
        <p:nvPicPr>
          <p:cNvPr id="66" name="Picture Placeholder 65" descr="Team member headshot">
            <a:extLst>
              <a:ext uri="{FF2B5EF4-FFF2-40B4-BE49-F238E27FC236}">
                <a16:creationId xmlns:a16="http://schemas.microsoft.com/office/drawing/2014/main" id="{448282B4-E477-4ECE-BC09-7EA9451D9AEE}"/>
              </a:ext>
            </a:extLst>
          </p:cNvPr>
          <p:cNvPicPr>
            <a:picLocks noGrp="1" noChangeAspect="1"/>
          </p:cNvPicPr>
          <p:nvPr>
            <p:ph type="pic" sz="quarter" idx="27"/>
          </p:nvPr>
        </p:nvPicPr>
        <p:blipFill rotWithShape="1">
          <a:blip r:embed="rId7">
            <a:extLst>
              <a:ext uri="{28A0092B-C50C-407E-A947-70E740481C1C}">
                <a14:useLocalDpi xmlns:a14="http://schemas.microsoft.com/office/drawing/2010/main" val="0"/>
              </a:ext>
            </a:extLst>
          </a:blip>
          <a:srcRect/>
          <a:stretch/>
        </p:blipFill>
        <p:spPr>
          <a:xfrm>
            <a:off x="4226270" y="4287711"/>
            <a:ext cx="1066800" cy="1066800"/>
          </a:xfrm>
        </p:spPr>
      </p:pic>
      <p:pic>
        <p:nvPicPr>
          <p:cNvPr id="78" name="Picture Placeholder 77" descr="Team member headshot">
            <a:extLst>
              <a:ext uri="{FF2B5EF4-FFF2-40B4-BE49-F238E27FC236}">
                <a16:creationId xmlns:a16="http://schemas.microsoft.com/office/drawing/2014/main" id="{15824874-C00E-4835-97F0-43C416DDCACC}"/>
              </a:ext>
            </a:extLst>
          </p:cNvPr>
          <p:cNvPicPr>
            <a:picLocks noGrp="1" noChangeAspect="1"/>
          </p:cNvPicPr>
          <p:nvPr>
            <p:ph type="pic" sz="quarter" idx="28"/>
          </p:nvPr>
        </p:nvPicPr>
        <p:blipFill rotWithShape="1">
          <a:blip r:embed="rId8">
            <a:extLst>
              <a:ext uri="{28A0092B-C50C-407E-A947-70E740481C1C}">
                <a14:useLocalDpi xmlns:a14="http://schemas.microsoft.com/office/drawing/2010/main" val="0"/>
              </a:ext>
            </a:extLst>
          </a:blip>
          <a:srcRect/>
          <a:stretch/>
        </p:blipFill>
        <p:spPr>
          <a:xfrm>
            <a:off x="6716934" y="4287711"/>
            <a:ext cx="1066800" cy="1066800"/>
          </a:xfrm>
        </p:spPr>
      </p:pic>
      <p:pic>
        <p:nvPicPr>
          <p:cNvPr id="83" name="Picture Placeholder 82" descr="Team member headshot">
            <a:extLst>
              <a:ext uri="{FF2B5EF4-FFF2-40B4-BE49-F238E27FC236}">
                <a16:creationId xmlns:a16="http://schemas.microsoft.com/office/drawing/2014/main" id="{96405252-7726-442E-9D15-755840A5AF27}"/>
              </a:ext>
            </a:extLst>
          </p:cNvPr>
          <p:cNvPicPr>
            <a:picLocks noGrp="1" noChangeAspect="1"/>
          </p:cNvPicPr>
          <p:nvPr>
            <p:ph type="pic" sz="quarter" idx="29"/>
          </p:nvPr>
        </p:nvPicPr>
        <p:blipFill rotWithShape="1">
          <a:blip r:embed="rId9">
            <a:extLst>
              <a:ext uri="{28A0092B-C50C-407E-A947-70E740481C1C}">
                <a14:useLocalDpi xmlns:a14="http://schemas.microsoft.com/office/drawing/2010/main" val="0"/>
              </a:ext>
            </a:extLst>
          </a:blip>
          <a:srcRect/>
          <a:stretch/>
        </p:blipFill>
        <p:spPr>
          <a:xfrm>
            <a:off x="9136814" y="4287711"/>
            <a:ext cx="1066800" cy="1066800"/>
          </a:xfrm>
        </p:spPr>
      </p:pic>
      <p:sp>
        <p:nvSpPr>
          <p:cNvPr id="64" name="Text Placeholder 63">
            <a:extLst>
              <a:ext uri="{FF2B5EF4-FFF2-40B4-BE49-F238E27FC236}">
                <a16:creationId xmlns:a16="http://schemas.microsoft.com/office/drawing/2014/main" id="{3ECD1D6F-7DAE-4DCC-BBB4-CD519379CDF6}"/>
              </a:ext>
            </a:extLst>
          </p:cNvPr>
          <p:cNvSpPr>
            <a:spLocks noGrp="1"/>
          </p:cNvSpPr>
          <p:nvPr>
            <p:ph type="body" idx="25"/>
          </p:nvPr>
        </p:nvSpPr>
        <p:spPr>
          <a:xfrm>
            <a:off x="1500168" y="5513214"/>
            <a:ext cx="1828800" cy="343061"/>
          </a:xfrm>
        </p:spPr>
        <p:txBody>
          <a:bodyPr/>
          <a:lstStyle/>
          <a:p>
            <a:r>
              <a:rPr lang="en-US" dirty="0"/>
              <a:t>GRAHAM BARNES</a:t>
            </a:r>
          </a:p>
          <a:p>
            <a:endParaRPr lang="en-US" dirty="0"/>
          </a:p>
        </p:txBody>
      </p:sp>
      <p:sp>
        <p:nvSpPr>
          <p:cNvPr id="72" name="Text Placeholder 71">
            <a:extLst>
              <a:ext uri="{FF2B5EF4-FFF2-40B4-BE49-F238E27FC236}">
                <a16:creationId xmlns:a16="http://schemas.microsoft.com/office/drawing/2014/main" id="{0420E7B5-7D79-437C-BC6E-11C9C9C73D12}"/>
              </a:ext>
            </a:extLst>
          </p:cNvPr>
          <p:cNvSpPr>
            <a:spLocks noGrp="1"/>
          </p:cNvSpPr>
          <p:nvPr>
            <p:ph type="body" idx="33"/>
          </p:nvPr>
        </p:nvSpPr>
        <p:spPr>
          <a:xfrm>
            <a:off x="1390120" y="5640875"/>
            <a:ext cx="2057400" cy="343061"/>
          </a:xfrm>
        </p:spPr>
        <p:txBody>
          <a:bodyPr/>
          <a:lstStyle/>
          <a:p>
            <a:r>
              <a:rPr lang="en-US" dirty="0"/>
              <a:t>VP Product</a:t>
            </a:r>
          </a:p>
        </p:txBody>
      </p:sp>
      <p:sp>
        <p:nvSpPr>
          <p:cNvPr id="69" name="Text Placeholder 68">
            <a:extLst>
              <a:ext uri="{FF2B5EF4-FFF2-40B4-BE49-F238E27FC236}">
                <a16:creationId xmlns:a16="http://schemas.microsoft.com/office/drawing/2014/main" id="{A5A9CD8D-31A9-4139-87B2-349EA8E14781}"/>
              </a:ext>
            </a:extLst>
          </p:cNvPr>
          <p:cNvSpPr>
            <a:spLocks noGrp="1"/>
          </p:cNvSpPr>
          <p:nvPr>
            <p:ph type="body" idx="30"/>
          </p:nvPr>
        </p:nvSpPr>
        <p:spPr>
          <a:xfrm>
            <a:off x="3849262" y="5527896"/>
            <a:ext cx="1828800" cy="343061"/>
          </a:xfrm>
        </p:spPr>
        <p:txBody>
          <a:bodyPr/>
          <a:lstStyle/>
          <a:p>
            <a:r>
              <a:rPr lang="en-US" dirty="0"/>
              <a:t>ROWAN MURPHY</a:t>
            </a:r>
          </a:p>
          <a:p>
            <a:endParaRPr lang="en-US" dirty="0"/>
          </a:p>
        </p:txBody>
      </p:sp>
      <p:sp>
        <p:nvSpPr>
          <p:cNvPr id="73" name="Text Placeholder 72">
            <a:extLst>
              <a:ext uri="{FF2B5EF4-FFF2-40B4-BE49-F238E27FC236}">
                <a16:creationId xmlns:a16="http://schemas.microsoft.com/office/drawing/2014/main" id="{E1FCDD58-01CD-47CF-AB15-A511E9D3612F}"/>
              </a:ext>
            </a:extLst>
          </p:cNvPr>
          <p:cNvSpPr>
            <a:spLocks noGrp="1"/>
          </p:cNvSpPr>
          <p:nvPr>
            <p:ph type="body" idx="34"/>
          </p:nvPr>
        </p:nvSpPr>
        <p:spPr>
          <a:xfrm>
            <a:off x="3739214" y="5655557"/>
            <a:ext cx="2057400" cy="343061"/>
          </a:xfrm>
        </p:spPr>
        <p:txBody>
          <a:bodyPr/>
          <a:lstStyle/>
          <a:p>
            <a:r>
              <a:rPr lang="en-US" dirty="0"/>
              <a:t>SEO Strategist</a:t>
            </a:r>
          </a:p>
        </p:txBody>
      </p:sp>
      <p:sp>
        <p:nvSpPr>
          <p:cNvPr id="70" name="Text Placeholder 69">
            <a:extLst>
              <a:ext uri="{FF2B5EF4-FFF2-40B4-BE49-F238E27FC236}">
                <a16:creationId xmlns:a16="http://schemas.microsoft.com/office/drawing/2014/main" id="{58753412-8033-48AD-80DF-945C72BC7335}"/>
              </a:ext>
            </a:extLst>
          </p:cNvPr>
          <p:cNvSpPr>
            <a:spLocks noGrp="1"/>
          </p:cNvSpPr>
          <p:nvPr>
            <p:ph type="body" idx="31"/>
          </p:nvPr>
        </p:nvSpPr>
        <p:spPr>
          <a:xfrm>
            <a:off x="6339926" y="5527896"/>
            <a:ext cx="1828800" cy="343061"/>
          </a:xfrm>
        </p:spPr>
        <p:txBody>
          <a:bodyPr/>
          <a:lstStyle/>
          <a:p>
            <a:r>
              <a:rPr lang="en-US" dirty="0"/>
              <a:t>ELIZABETH MOORE</a:t>
            </a:r>
          </a:p>
        </p:txBody>
      </p:sp>
      <p:sp>
        <p:nvSpPr>
          <p:cNvPr id="74" name="Text Placeholder 73">
            <a:extLst>
              <a:ext uri="{FF2B5EF4-FFF2-40B4-BE49-F238E27FC236}">
                <a16:creationId xmlns:a16="http://schemas.microsoft.com/office/drawing/2014/main" id="{2E2604A9-4BB8-4144-914B-DCF4F13DF3DB}"/>
              </a:ext>
            </a:extLst>
          </p:cNvPr>
          <p:cNvSpPr>
            <a:spLocks noGrp="1"/>
          </p:cNvSpPr>
          <p:nvPr>
            <p:ph type="body" idx="35"/>
          </p:nvPr>
        </p:nvSpPr>
        <p:spPr>
          <a:xfrm>
            <a:off x="6229878" y="5655557"/>
            <a:ext cx="2057400" cy="343061"/>
          </a:xfrm>
        </p:spPr>
        <p:txBody>
          <a:bodyPr/>
          <a:lstStyle/>
          <a:p>
            <a:r>
              <a:rPr lang="en-US" dirty="0"/>
              <a:t>Product Designer</a:t>
            </a:r>
          </a:p>
        </p:txBody>
      </p:sp>
      <p:sp>
        <p:nvSpPr>
          <p:cNvPr id="71" name="Text Placeholder 70">
            <a:extLst>
              <a:ext uri="{FF2B5EF4-FFF2-40B4-BE49-F238E27FC236}">
                <a16:creationId xmlns:a16="http://schemas.microsoft.com/office/drawing/2014/main" id="{A45FE9A3-15E0-49FA-B6E5-DB16CD0C2C8F}"/>
              </a:ext>
            </a:extLst>
          </p:cNvPr>
          <p:cNvSpPr>
            <a:spLocks noGrp="1"/>
          </p:cNvSpPr>
          <p:nvPr>
            <p:ph type="body" idx="32"/>
          </p:nvPr>
        </p:nvSpPr>
        <p:spPr>
          <a:xfrm>
            <a:off x="8759806" y="5513214"/>
            <a:ext cx="1828800" cy="343061"/>
          </a:xfrm>
        </p:spPr>
        <p:txBody>
          <a:bodyPr/>
          <a:lstStyle/>
          <a:p>
            <a:r>
              <a:rPr lang="en-US" dirty="0"/>
              <a:t>ROBIN KLINE</a:t>
            </a:r>
          </a:p>
        </p:txBody>
      </p:sp>
      <p:sp>
        <p:nvSpPr>
          <p:cNvPr id="75" name="Text Placeholder 74">
            <a:extLst>
              <a:ext uri="{FF2B5EF4-FFF2-40B4-BE49-F238E27FC236}">
                <a16:creationId xmlns:a16="http://schemas.microsoft.com/office/drawing/2014/main" id="{72076C4D-9688-4C1A-AB51-8F1051A803A9}"/>
              </a:ext>
            </a:extLst>
          </p:cNvPr>
          <p:cNvSpPr>
            <a:spLocks noGrp="1"/>
          </p:cNvSpPr>
          <p:nvPr>
            <p:ph type="body" idx="36"/>
          </p:nvPr>
        </p:nvSpPr>
        <p:spPr>
          <a:xfrm>
            <a:off x="8634432" y="5640875"/>
            <a:ext cx="2057400" cy="343061"/>
          </a:xfrm>
        </p:spPr>
        <p:txBody>
          <a:bodyPr/>
          <a:lstStyle/>
          <a:p>
            <a:r>
              <a:rPr lang="en-US" dirty="0"/>
              <a:t>Content Developer</a:t>
            </a:r>
          </a:p>
        </p:txBody>
      </p:sp>
      <p:sp>
        <p:nvSpPr>
          <p:cNvPr id="3" name="Date Placeholder 2">
            <a:extLst>
              <a:ext uri="{FF2B5EF4-FFF2-40B4-BE49-F238E27FC236}">
                <a16:creationId xmlns:a16="http://schemas.microsoft.com/office/drawing/2014/main" id="{1833164A-09D8-4E05-899E-C830A562A446}"/>
              </a:ext>
            </a:extLst>
          </p:cNvPr>
          <p:cNvSpPr>
            <a:spLocks noGrp="1"/>
          </p:cNvSpPr>
          <p:nvPr>
            <p:ph type="dt" sz="half" idx="10"/>
          </p:nvPr>
        </p:nvSpPr>
        <p:spPr>
          <a:xfrm>
            <a:off x="838200" y="6356350"/>
            <a:ext cx="2743200" cy="365125"/>
          </a:xfrm>
        </p:spPr>
        <p:txBody>
          <a:bodyPr/>
          <a:lstStyle/>
          <a:p>
            <a:r>
              <a:rPr lang="en-US" dirty="0"/>
              <a:t>20XX</a:t>
            </a:r>
          </a:p>
        </p:txBody>
      </p:sp>
      <p:sp>
        <p:nvSpPr>
          <p:cNvPr id="4" name="Footer Placeholder 3">
            <a:extLst>
              <a:ext uri="{FF2B5EF4-FFF2-40B4-BE49-F238E27FC236}">
                <a16:creationId xmlns:a16="http://schemas.microsoft.com/office/drawing/2014/main" id="{79EB4DEA-4DCD-421C-A905-7EFCAE898907}"/>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5" name="Slide Number Placeholder 4">
            <a:extLst>
              <a:ext uri="{FF2B5EF4-FFF2-40B4-BE49-F238E27FC236}">
                <a16:creationId xmlns:a16="http://schemas.microsoft.com/office/drawing/2014/main" id="{2E1923C7-5010-4C4F-A932-4BDA0B62A7C0}"/>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26</a:t>
            </a:fld>
            <a:endParaRPr lang="en-US" dirty="0"/>
          </a:p>
        </p:txBody>
      </p:sp>
    </p:spTree>
    <p:extLst>
      <p:ext uri="{BB962C8B-B14F-4D97-AF65-F5344CB8AC3E}">
        <p14:creationId xmlns:p14="http://schemas.microsoft.com/office/powerpoint/2010/main" val="33962667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F33B-5572-4A00-A55C-1E13A6B3A8F1}"/>
              </a:ext>
            </a:extLst>
          </p:cNvPr>
          <p:cNvSpPr>
            <a:spLocks noGrp="1"/>
          </p:cNvSpPr>
          <p:nvPr>
            <p:ph type="title"/>
          </p:nvPr>
        </p:nvSpPr>
        <p:spPr>
          <a:xfrm>
            <a:off x="1885156" y="892177"/>
            <a:ext cx="8421688" cy="1325563"/>
          </a:xfrm>
        </p:spPr>
        <p:txBody>
          <a:bodyPr/>
          <a:lstStyle/>
          <a:p>
            <a:r>
              <a:rPr lang="en-US" dirty="0"/>
              <a:t>FUNDING</a:t>
            </a:r>
          </a:p>
        </p:txBody>
      </p:sp>
      <p:graphicFrame>
        <p:nvGraphicFramePr>
          <p:cNvPr id="58" name="Content Placeholder 57" title="Funding Chart">
            <a:extLst>
              <a:ext uri="{FF2B5EF4-FFF2-40B4-BE49-F238E27FC236}">
                <a16:creationId xmlns:a16="http://schemas.microsoft.com/office/drawing/2014/main" id="{0231F8BC-AEBA-4843-9F73-E06265724EAB}"/>
              </a:ext>
            </a:extLst>
          </p:cNvPr>
          <p:cNvGraphicFramePr>
            <a:graphicFrameLocks noGrp="1"/>
          </p:cNvGraphicFramePr>
          <p:nvPr>
            <p:ph sz="quarter" idx="21"/>
            <p:extLst>
              <p:ext uri="{D42A27DB-BD31-4B8C-83A1-F6EECF244321}">
                <p14:modId xmlns:p14="http://schemas.microsoft.com/office/powerpoint/2010/main" val="3157508600"/>
              </p:ext>
            </p:extLst>
          </p:nvPr>
        </p:nvGraphicFramePr>
        <p:xfrm>
          <a:off x="1074738" y="2370138"/>
          <a:ext cx="1857375" cy="1665287"/>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 Placeholder 2">
            <a:extLst>
              <a:ext uri="{FF2B5EF4-FFF2-40B4-BE49-F238E27FC236}">
                <a16:creationId xmlns:a16="http://schemas.microsoft.com/office/drawing/2014/main" id="{82A4739B-8DE9-4523-8034-4E83861CCF73}"/>
              </a:ext>
            </a:extLst>
          </p:cNvPr>
          <p:cNvSpPr>
            <a:spLocks noGrp="1"/>
          </p:cNvSpPr>
          <p:nvPr>
            <p:ph type="body" idx="1"/>
          </p:nvPr>
        </p:nvSpPr>
        <p:spPr>
          <a:xfrm>
            <a:off x="838200" y="3788813"/>
            <a:ext cx="2330726" cy="804859"/>
          </a:xfrm>
        </p:spPr>
        <p:txBody>
          <a:bodyPr/>
          <a:lstStyle/>
          <a:p>
            <a:r>
              <a:rPr lang="en-US" dirty="0"/>
              <a:t>$14,000</a:t>
            </a:r>
          </a:p>
        </p:txBody>
      </p:sp>
      <p:sp>
        <p:nvSpPr>
          <p:cNvPr id="14" name="Text Placeholder 13">
            <a:extLst>
              <a:ext uri="{FF2B5EF4-FFF2-40B4-BE49-F238E27FC236}">
                <a16:creationId xmlns:a16="http://schemas.microsoft.com/office/drawing/2014/main" id="{C487CCC0-D329-4C1F-A1CD-04930A23C5C3}"/>
              </a:ext>
            </a:extLst>
          </p:cNvPr>
          <p:cNvSpPr>
            <a:spLocks noGrp="1"/>
          </p:cNvSpPr>
          <p:nvPr>
            <p:ph type="body" idx="17"/>
          </p:nvPr>
        </p:nvSpPr>
        <p:spPr>
          <a:xfrm>
            <a:off x="838200" y="4464810"/>
            <a:ext cx="2330726" cy="438505"/>
          </a:xfrm>
        </p:spPr>
        <p:txBody>
          <a:bodyPr/>
          <a:lstStyle/>
          <a:p>
            <a:r>
              <a:rPr lang="en-US" dirty="0"/>
              <a:t>ANGEL INVESTMENTS</a:t>
            </a:r>
          </a:p>
        </p:txBody>
      </p:sp>
      <p:sp>
        <p:nvSpPr>
          <p:cNvPr id="4" name="Content Placeholder 3">
            <a:extLst>
              <a:ext uri="{FF2B5EF4-FFF2-40B4-BE49-F238E27FC236}">
                <a16:creationId xmlns:a16="http://schemas.microsoft.com/office/drawing/2014/main" id="{21CF2BB3-1E12-4189-9F5F-EF136C62E39B}"/>
              </a:ext>
            </a:extLst>
          </p:cNvPr>
          <p:cNvSpPr>
            <a:spLocks noGrp="1"/>
          </p:cNvSpPr>
          <p:nvPr>
            <p:ph sz="half" idx="2"/>
          </p:nvPr>
        </p:nvSpPr>
        <p:spPr>
          <a:xfrm>
            <a:off x="838200" y="5120722"/>
            <a:ext cx="2330726" cy="853167"/>
          </a:xfrm>
        </p:spPr>
        <p:txBody>
          <a:bodyPr/>
          <a:lstStyle/>
          <a:p>
            <a:r>
              <a:rPr lang="en-US" dirty="0"/>
              <a:t>Amount obtained through other investors</a:t>
            </a:r>
          </a:p>
        </p:txBody>
      </p:sp>
      <p:graphicFrame>
        <p:nvGraphicFramePr>
          <p:cNvPr id="59" name="Content Placeholder 58" title="Funding Chart">
            <a:extLst>
              <a:ext uri="{FF2B5EF4-FFF2-40B4-BE49-F238E27FC236}">
                <a16:creationId xmlns:a16="http://schemas.microsoft.com/office/drawing/2014/main" id="{AD7D64AB-F97A-41F1-B2E8-66B1E245043A}"/>
              </a:ext>
            </a:extLst>
          </p:cNvPr>
          <p:cNvGraphicFramePr>
            <a:graphicFrameLocks noGrp="1"/>
          </p:cNvGraphicFramePr>
          <p:nvPr>
            <p:ph sz="quarter" idx="22"/>
            <p:extLst>
              <p:ext uri="{D42A27DB-BD31-4B8C-83A1-F6EECF244321}">
                <p14:modId xmlns:p14="http://schemas.microsoft.com/office/powerpoint/2010/main" val="3021991828"/>
              </p:ext>
            </p:extLst>
          </p:nvPr>
        </p:nvGraphicFramePr>
        <p:xfrm>
          <a:off x="3805238" y="2370138"/>
          <a:ext cx="1857375" cy="1665287"/>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Placeholder 4">
            <a:extLst>
              <a:ext uri="{FF2B5EF4-FFF2-40B4-BE49-F238E27FC236}">
                <a16:creationId xmlns:a16="http://schemas.microsoft.com/office/drawing/2014/main" id="{68145D0E-892D-492B-8AD6-551CF27DD5F7}"/>
              </a:ext>
            </a:extLst>
          </p:cNvPr>
          <p:cNvSpPr>
            <a:spLocks noGrp="1"/>
          </p:cNvSpPr>
          <p:nvPr>
            <p:ph type="body" sz="quarter" idx="3"/>
          </p:nvPr>
        </p:nvSpPr>
        <p:spPr>
          <a:xfrm>
            <a:off x="3562665" y="3788813"/>
            <a:ext cx="2342205" cy="804859"/>
          </a:xfrm>
        </p:spPr>
        <p:txBody>
          <a:bodyPr/>
          <a:lstStyle/>
          <a:p>
            <a:r>
              <a:rPr lang="en-US" dirty="0"/>
              <a:t>$12,000</a:t>
            </a:r>
          </a:p>
        </p:txBody>
      </p:sp>
      <p:sp>
        <p:nvSpPr>
          <p:cNvPr id="15" name="Text Placeholder 14">
            <a:extLst>
              <a:ext uri="{FF2B5EF4-FFF2-40B4-BE49-F238E27FC236}">
                <a16:creationId xmlns:a16="http://schemas.microsoft.com/office/drawing/2014/main" id="{34E62770-EE0A-4D83-B50E-CD868056030E}"/>
              </a:ext>
            </a:extLst>
          </p:cNvPr>
          <p:cNvSpPr>
            <a:spLocks noGrp="1"/>
          </p:cNvSpPr>
          <p:nvPr>
            <p:ph type="body" sz="quarter" idx="18"/>
          </p:nvPr>
        </p:nvSpPr>
        <p:spPr>
          <a:xfrm>
            <a:off x="3562665" y="4464810"/>
            <a:ext cx="2342205" cy="438505"/>
          </a:xfrm>
        </p:spPr>
        <p:txBody>
          <a:bodyPr/>
          <a:lstStyle/>
          <a:p>
            <a:r>
              <a:rPr lang="en-US" dirty="0"/>
              <a:t>PROPERTY</a:t>
            </a:r>
          </a:p>
        </p:txBody>
      </p:sp>
      <p:sp>
        <p:nvSpPr>
          <p:cNvPr id="6" name="Content Placeholder 5">
            <a:extLst>
              <a:ext uri="{FF2B5EF4-FFF2-40B4-BE49-F238E27FC236}">
                <a16:creationId xmlns:a16="http://schemas.microsoft.com/office/drawing/2014/main" id="{3ED3951E-8DE6-4BA9-B9BA-CFCDF432226C}"/>
              </a:ext>
            </a:extLst>
          </p:cNvPr>
          <p:cNvSpPr>
            <a:spLocks noGrp="1"/>
          </p:cNvSpPr>
          <p:nvPr>
            <p:ph sz="quarter" idx="4"/>
          </p:nvPr>
        </p:nvSpPr>
        <p:spPr>
          <a:xfrm>
            <a:off x="3562665" y="5120722"/>
            <a:ext cx="2342205" cy="853167"/>
          </a:xfrm>
        </p:spPr>
        <p:txBody>
          <a:bodyPr/>
          <a:lstStyle/>
          <a:p>
            <a:r>
              <a:rPr lang="en-US" dirty="0"/>
              <a:t>Revenue obtained from property rentals</a:t>
            </a:r>
          </a:p>
        </p:txBody>
      </p:sp>
      <p:graphicFrame>
        <p:nvGraphicFramePr>
          <p:cNvPr id="60" name="Content Placeholder 59" title="Funding Chart">
            <a:extLst>
              <a:ext uri="{FF2B5EF4-FFF2-40B4-BE49-F238E27FC236}">
                <a16:creationId xmlns:a16="http://schemas.microsoft.com/office/drawing/2014/main" id="{81BCDC44-04F0-4390-B965-A86C88176708}"/>
              </a:ext>
            </a:extLst>
          </p:cNvPr>
          <p:cNvGraphicFramePr>
            <a:graphicFrameLocks noGrp="1"/>
          </p:cNvGraphicFramePr>
          <p:nvPr>
            <p:ph sz="quarter" idx="23"/>
            <p:extLst>
              <p:ext uri="{D42A27DB-BD31-4B8C-83A1-F6EECF244321}">
                <p14:modId xmlns:p14="http://schemas.microsoft.com/office/powerpoint/2010/main" val="2350556506"/>
              </p:ext>
            </p:extLst>
          </p:nvPr>
        </p:nvGraphicFramePr>
        <p:xfrm>
          <a:off x="6529388" y="2370138"/>
          <a:ext cx="1857375" cy="1665287"/>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Placeholder 9">
            <a:extLst>
              <a:ext uri="{FF2B5EF4-FFF2-40B4-BE49-F238E27FC236}">
                <a16:creationId xmlns:a16="http://schemas.microsoft.com/office/drawing/2014/main" id="{C66E4F1A-AD73-4086-B578-235F0B9F1FC4}"/>
              </a:ext>
            </a:extLst>
          </p:cNvPr>
          <p:cNvSpPr>
            <a:spLocks noGrp="1"/>
          </p:cNvSpPr>
          <p:nvPr>
            <p:ph type="body" idx="13"/>
          </p:nvPr>
        </p:nvSpPr>
        <p:spPr>
          <a:xfrm>
            <a:off x="6298609" y="3788813"/>
            <a:ext cx="2330726" cy="804859"/>
          </a:xfrm>
        </p:spPr>
        <p:txBody>
          <a:bodyPr/>
          <a:lstStyle/>
          <a:p>
            <a:r>
              <a:rPr lang="en-US" dirty="0"/>
              <a:t>$82,000</a:t>
            </a:r>
          </a:p>
        </p:txBody>
      </p:sp>
      <p:sp>
        <p:nvSpPr>
          <p:cNvPr id="16" name="Text Placeholder 15">
            <a:extLst>
              <a:ext uri="{FF2B5EF4-FFF2-40B4-BE49-F238E27FC236}">
                <a16:creationId xmlns:a16="http://schemas.microsoft.com/office/drawing/2014/main" id="{AAB421C5-B6AC-48B8-8AEB-AB16AAE5010E}"/>
              </a:ext>
            </a:extLst>
          </p:cNvPr>
          <p:cNvSpPr>
            <a:spLocks noGrp="1"/>
          </p:cNvSpPr>
          <p:nvPr>
            <p:ph type="body" idx="19"/>
          </p:nvPr>
        </p:nvSpPr>
        <p:spPr>
          <a:xfrm>
            <a:off x="6298609" y="4464810"/>
            <a:ext cx="2330726" cy="438505"/>
          </a:xfrm>
        </p:spPr>
        <p:txBody>
          <a:bodyPr/>
          <a:lstStyle/>
          <a:p>
            <a:r>
              <a:rPr lang="en-US" dirty="0"/>
              <a:t>SHARES</a:t>
            </a:r>
          </a:p>
        </p:txBody>
      </p:sp>
      <p:sp>
        <p:nvSpPr>
          <p:cNvPr id="11" name="Content Placeholder 10">
            <a:extLst>
              <a:ext uri="{FF2B5EF4-FFF2-40B4-BE49-F238E27FC236}">
                <a16:creationId xmlns:a16="http://schemas.microsoft.com/office/drawing/2014/main" id="{345C82A0-3F56-47BD-9FB2-6B56DA715F93}"/>
              </a:ext>
            </a:extLst>
          </p:cNvPr>
          <p:cNvSpPr>
            <a:spLocks noGrp="1"/>
          </p:cNvSpPr>
          <p:nvPr>
            <p:ph sz="half" idx="14"/>
          </p:nvPr>
        </p:nvSpPr>
        <p:spPr>
          <a:xfrm>
            <a:off x="6298609" y="5120722"/>
            <a:ext cx="2330726" cy="853167"/>
          </a:xfrm>
        </p:spPr>
        <p:txBody>
          <a:bodyPr/>
          <a:lstStyle/>
          <a:p>
            <a:r>
              <a:rPr lang="en-US" dirty="0"/>
              <a:t>Number of shares converted into USD</a:t>
            </a:r>
          </a:p>
          <a:p>
            <a:endParaRPr lang="en-US" noProof="1"/>
          </a:p>
        </p:txBody>
      </p:sp>
      <p:graphicFrame>
        <p:nvGraphicFramePr>
          <p:cNvPr id="61" name="Content Placeholder 60" title="Funding Chart">
            <a:extLst>
              <a:ext uri="{FF2B5EF4-FFF2-40B4-BE49-F238E27FC236}">
                <a16:creationId xmlns:a16="http://schemas.microsoft.com/office/drawing/2014/main" id="{D78C801B-5A42-4B88-AF2C-A3C45CD69E2E}"/>
              </a:ext>
            </a:extLst>
          </p:cNvPr>
          <p:cNvGraphicFramePr>
            <a:graphicFrameLocks noGrp="1"/>
          </p:cNvGraphicFramePr>
          <p:nvPr>
            <p:ph sz="quarter" idx="24"/>
            <p:extLst>
              <p:ext uri="{D42A27DB-BD31-4B8C-83A1-F6EECF244321}">
                <p14:modId xmlns:p14="http://schemas.microsoft.com/office/powerpoint/2010/main" val="2617539870"/>
              </p:ext>
            </p:extLst>
          </p:nvPr>
        </p:nvGraphicFramePr>
        <p:xfrm>
          <a:off x="9259888" y="2370138"/>
          <a:ext cx="1857375" cy="1665287"/>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 Placeholder 11">
            <a:extLst>
              <a:ext uri="{FF2B5EF4-FFF2-40B4-BE49-F238E27FC236}">
                <a16:creationId xmlns:a16="http://schemas.microsoft.com/office/drawing/2014/main" id="{F70E657A-85D8-48A8-B017-274F0C32C5C9}"/>
              </a:ext>
            </a:extLst>
          </p:cNvPr>
          <p:cNvSpPr>
            <a:spLocks noGrp="1"/>
          </p:cNvSpPr>
          <p:nvPr>
            <p:ph type="body" idx="15"/>
          </p:nvPr>
        </p:nvSpPr>
        <p:spPr>
          <a:xfrm>
            <a:off x="9023074" y="3788457"/>
            <a:ext cx="2330726" cy="804859"/>
          </a:xfrm>
        </p:spPr>
        <p:txBody>
          <a:bodyPr/>
          <a:lstStyle/>
          <a:p>
            <a:r>
              <a:rPr lang="en-US" dirty="0"/>
              <a:t>$32,000</a:t>
            </a:r>
          </a:p>
        </p:txBody>
      </p:sp>
      <p:sp>
        <p:nvSpPr>
          <p:cNvPr id="17" name="Text Placeholder 16">
            <a:extLst>
              <a:ext uri="{FF2B5EF4-FFF2-40B4-BE49-F238E27FC236}">
                <a16:creationId xmlns:a16="http://schemas.microsoft.com/office/drawing/2014/main" id="{025753CB-8973-4FAE-BB5D-5CC96CE338D4}"/>
              </a:ext>
            </a:extLst>
          </p:cNvPr>
          <p:cNvSpPr>
            <a:spLocks noGrp="1"/>
          </p:cNvSpPr>
          <p:nvPr>
            <p:ph type="body" idx="20"/>
          </p:nvPr>
        </p:nvSpPr>
        <p:spPr>
          <a:xfrm>
            <a:off x="9023074" y="4464454"/>
            <a:ext cx="2330726" cy="438505"/>
          </a:xfrm>
        </p:spPr>
        <p:txBody>
          <a:bodyPr/>
          <a:lstStyle/>
          <a:p>
            <a:r>
              <a:rPr lang="en-US" dirty="0"/>
              <a:t>CASH</a:t>
            </a:r>
          </a:p>
        </p:txBody>
      </p:sp>
      <p:sp>
        <p:nvSpPr>
          <p:cNvPr id="13" name="Content Placeholder 12">
            <a:extLst>
              <a:ext uri="{FF2B5EF4-FFF2-40B4-BE49-F238E27FC236}">
                <a16:creationId xmlns:a16="http://schemas.microsoft.com/office/drawing/2014/main" id="{69F9DEC9-77BC-482D-ACFB-0F2B6DC65F9F}"/>
              </a:ext>
            </a:extLst>
          </p:cNvPr>
          <p:cNvSpPr>
            <a:spLocks noGrp="1"/>
          </p:cNvSpPr>
          <p:nvPr>
            <p:ph sz="half" idx="16"/>
          </p:nvPr>
        </p:nvSpPr>
        <p:spPr>
          <a:xfrm>
            <a:off x="9023074" y="5120366"/>
            <a:ext cx="2330726" cy="853167"/>
          </a:xfrm>
        </p:spPr>
        <p:txBody>
          <a:bodyPr/>
          <a:lstStyle/>
          <a:p>
            <a:r>
              <a:rPr lang="en-US" noProof="1"/>
              <a:t>Liquid cash we have on hand</a:t>
            </a:r>
          </a:p>
          <a:p>
            <a:endParaRPr lang="en-US" dirty="0"/>
          </a:p>
        </p:txBody>
      </p:sp>
      <p:sp>
        <p:nvSpPr>
          <p:cNvPr id="7" name="Date Placeholder 6">
            <a:extLst>
              <a:ext uri="{FF2B5EF4-FFF2-40B4-BE49-F238E27FC236}">
                <a16:creationId xmlns:a16="http://schemas.microsoft.com/office/drawing/2014/main" id="{A563C171-5812-4E79-804A-ED04E1BD313F}"/>
              </a:ext>
            </a:extLst>
          </p:cNvPr>
          <p:cNvSpPr>
            <a:spLocks noGrp="1"/>
          </p:cNvSpPr>
          <p:nvPr>
            <p:ph type="dt" sz="half" idx="10"/>
          </p:nvPr>
        </p:nvSpPr>
        <p:spPr>
          <a:xfrm>
            <a:off x="838200" y="6356350"/>
            <a:ext cx="2743200" cy="365125"/>
          </a:xfrm>
        </p:spPr>
        <p:txBody>
          <a:bodyPr/>
          <a:lstStyle/>
          <a:p>
            <a:r>
              <a:rPr lang="en-US" dirty="0"/>
              <a:t>20XX</a:t>
            </a:r>
          </a:p>
        </p:txBody>
      </p:sp>
      <p:sp>
        <p:nvSpPr>
          <p:cNvPr id="8" name="Footer Placeholder 7">
            <a:extLst>
              <a:ext uri="{FF2B5EF4-FFF2-40B4-BE49-F238E27FC236}">
                <a16:creationId xmlns:a16="http://schemas.microsoft.com/office/drawing/2014/main" id="{3AD8A4DC-ECAA-4D59-BE12-EBEDDE9E2A7D}"/>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9" name="Slide Number Placeholder 8">
            <a:extLst>
              <a:ext uri="{FF2B5EF4-FFF2-40B4-BE49-F238E27FC236}">
                <a16:creationId xmlns:a16="http://schemas.microsoft.com/office/drawing/2014/main" id="{9BFC0B64-8F13-426F-B6C5-9C9427ACAD7E}"/>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27</a:t>
            </a:fld>
            <a:endParaRPr lang="en-US" dirty="0"/>
          </a:p>
        </p:txBody>
      </p:sp>
    </p:spTree>
    <p:extLst>
      <p:ext uri="{BB962C8B-B14F-4D97-AF65-F5344CB8AC3E}">
        <p14:creationId xmlns:p14="http://schemas.microsoft.com/office/powerpoint/2010/main" val="1177824853"/>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light sales pitch</Template>
  <TotalTime>146</TotalTime>
  <Words>1155</Words>
  <Application>Microsoft Office PowerPoint</Application>
  <PresentationFormat>Widescreen</PresentationFormat>
  <Paragraphs>333</Paragraphs>
  <Slides>27</Slides>
  <Notes>4</Notes>
  <HiddenSlides>16</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Tenorite</vt:lpstr>
      <vt:lpstr>Monoline</vt:lpstr>
      <vt:lpstr>Brazilian E-Commerce Dataset - Olist</vt:lpstr>
      <vt:lpstr>PROBLEM STATEMENT</vt:lpstr>
      <vt:lpstr>KEY RECOMMENDATIONS</vt:lpstr>
      <vt:lpstr>Technical Overview</vt:lpstr>
      <vt:lpstr>A majority of items sold are fulfilled by External Sellers Instead of local sellers…</vt:lpstr>
      <vt:lpstr>Customer Review Scores can be significantly improved by reducing Actual Delivery Times…</vt:lpstr>
      <vt:lpstr>Delivery Time Improvements will be targeted at The top 3 products in sales Revenue for the Top 3 cities…</vt:lpstr>
      <vt:lpstr>SLIDES ON CUSTOMER SEGMENTATION HERE…</vt:lpstr>
      <vt:lpstr>SLIDES ON SELLER SCORE CARD HERE…</vt:lpstr>
      <vt:lpstr>WRAP UP AND RECAP</vt:lpstr>
      <vt:lpstr>THANK YOU</vt:lpstr>
      <vt:lpstr>ABOUT US</vt:lpstr>
      <vt:lpstr>SOLUTION</vt:lpstr>
      <vt:lpstr>VALIDATION TESTS FOR SELLER SCORECARD MODEL</vt:lpstr>
      <vt:lpstr>COMPANY OVERVIEW</vt:lpstr>
      <vt:lpstr>BUSINESS MODEL</vt:lpstr>
      <vt:lpstr>MARKET OVERVIEW</vt:lpstr>
      <vt:lpstr>Market comparison</vt:lpstr>
      <vt:lpstr>OUR COMPETITION</vt:lpstr>
      <vt:lpstr>Our competition  </vt:lpstr>
      <vt:lpstr>Growth strategy</vt:lpstr>
      <vt:lpstr>TRACTION</vt:lpstr>
      <vt:lpstr>TWO-YEAR ACTION PLAN</vt:lpstr>
      <vt:lpstr>FINANCIALS</vt:lpstr>
      <vt:lpstr>MEET THE TEAM</vt:lpstr>
      <vt:lpstr>MEET THE TEAM  </vt:lpstr>
      <vt:lpstr>FUNDING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Choo Weisen Christopher Ledes</dc:creator>
  <cp:lastModifiedBy>Choo Weisen Christopher Ledes</cp:lastModifiedBy>
  <cp:revision>4</cp:revision>
  <dcterms:created xsi:type="dcterms:W3CDTF">2026-06-10T07:21:31Z</dcterms:created>
  <dcterms:modified xsi:type="dcterms:W3CDTF">2026-06-10T09:48:01Z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